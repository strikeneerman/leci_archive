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349" r:id="rId3"/>
    <p:sldId id="350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5" r:id="rId18"/>
    <p:sldId id="366" r:id="rId19"/>
    <p:sldId id="393" r:id="rId20"/>
    <p:sldId id="367" r:id="rId21"/>
    <p:sldId id="368" r:id="rId22"/>
    <p:sldId id="369" r:id="rId23"/>
    <p:sldId id="370" r:id="rId24"/>
    <p:sldId id="371" r:id="rId25"/>
    <p:sldId id="372" r:id="rId26"/>
    <p:sldId id="373" r:id="rId27"/>
    <p:sldId id="374" r:id="rId28"/>
    <p:sldId id="375" r:id="rId29"/>
    <p:sldId id="410" r:id="rId30"/>
    <p:sldId id="411" r:id="rId31"/>
    <p:sldId id="378" r:id="rId32"/>
    <p:sldId id="379" r:id="rId33"/>
    <p:sldId id="380" r:id="rId34"/>
    <p:sldId id="412" r:id="rId35"/>
    <p:sldId id="413" r:id="rId36"/>
    <p:sldId id="383" r:id="rId37"/>
    <p:sldId id="384" r:id="rId38"/>
    <p:sldId id="385" r:id="rId39"/>
    <p:sldId id="386" r:id="rId40"/>
    <p:sldId id="387" r:id="rId41"/>
    <p:sldId id="388" r:id="rId42"/>
    <p:sldId id="389" r:id="rId43"/>
    <p:sldId id="390" r:id="rId44"/>
    <p:sldId id="391" r:id="rId45"/>
    <p:sldId id="392" r:id="rId46"/>
    <p:sldId id="414" r:id="rId47"/>
    <p:sldId id="415" r:id="rId48"/>
    <p:sldId id="394" r:id="rId49"/>
    <p:sldId id="395" r:id="rId50"/>
    <p:sldId id="418" r:id="rId51"/>
    <p:sldId id="419" r:id="rId52"/>
    <p:sldId id="397" r:id="rId53"/>
    <p:sldId id="416" r:id="rId54"/>
    <p:sldId id="398" r:id="rId55"/>
    <p:sldId id="400" r:id="rId56"/>
    <p:sldId id="401" r:id="rId57"/>
    <p:sldId id="402" r:id="rId58"/>
    <p:sldId id="403" r:id="rId59"/>
    <p:sldId id="404" r:id="rId60"/>
    <p:sldId id="405" r:id="rId61"/>
    <p:sldId id="409" r:id="rId6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660066"/>
    <a:srgbClr val="003366"/>
    <a:srgbClr val="A50021"/>
    <a:srgbClr val="006600"/>
    <a:srgbClr val="996600"/>
    <a:srgbClr val="0033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84" autoAdjust="0"/>
    <p:restoredTop sz="94532" autoAdjust="0"/>
  </p:normalViewPr>
  <p:slideViewPr>
    <p:cSldViewPr>
      <p:cViewPr varScale="1">
        <p:scale>
          <a:sx n="86" d="100"/>
          <a:sy n="86" d="100"/>
        </p:scale>
        <p:origin x="181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380"/>
    </p:cViewPr>
  </p:sorterViewPr>
  <p:notesViewPr>
    <p:cSldViewPr>
      <p:cViewPr varScale="1">
        <p:scale>
          <a:sx n="70" d="100"/>
          <a:sy n="70" d="100"/>
        </p:scale>
        <p:origin x="-329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ro rito" userId="37e373b9de21cee3" providerId="LiveId" clId="{4EA71DB9-0A0F-4E77-87D1-5F0840DADB01}"/>
    <pc:docChg chg="modSld">
      <pc:chgData name="leandro rito" userId="37e373b9de21cee3" providerId="LiveId" clId="{4EA71DB9-0A0F-4E77-87D1-5F0840DADB01}" dt="2018-11-09T00:05:23.563" v="2" actId="1037"/>
      <pc:docMkLst>
        <pc:docMk/>
      </pc:docMkLst>
      <pc:sldChg chg="modSp">
        <pc:chgData name="leandro rito" userId="37e373b9de21cee3" providerId="LiveId" clId="{4EA71DB9-0A0F-4E77-87D1-5F0840DADB01}" dt="2018-11-09T00:05:23.563" v="2" actId="1037"/>
        <pc:sldMkLst>
          <pc:docMk/>
          <pc:sldMk cId="1699684351" sldId="385"/>
        </pc:sldMkLst>
        <pc:graphicFrameChg chg="mod">
          <ac:chgData name="leandro rito" userId="37e373b9de21cee3" providerId="LiveId" clId="{4EA71DB9-0A0F-4E77-87D1-5F0840DADB01}" dt="2018-11-09T00:05:23.563" v="2" actId="1037"/>
          <ac:graphicFrameMkLst>
            <pc:docMk/>
            <pc:sldMk cId="1699684351" sldId="385"/>
            <ac:graphicFrameMk id="76821" creationId="{00000000-0000-0000-0000-000000000000}"/>
          </ac:graphicFrameMkLst>
        </pc:graphicFrame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4" Type="http://schemas.openxmlformats.org/officeDocument/2006/relationships/image" Target="../media/image4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33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9" Type="http://schemas.openxmlformats.org/officeDocument/2006/relationships/image" Target="../media/image5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3.wmf"/><Relationship Id="rId4" Type="http://schemas.openxmlformats.org/officeDocument/2006/relationships/image" Target="../media/image71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11" Type="http://schemas.openxmlformats.org/officeDocument/2006/relationships/image" Target="../media/image82.wmf"/><Relationship Id="rId5" Type="http://schemas.openxmlformats.org/officeDocument/2006/relationships/image" Target="../media/image76.wmf"/><Relationship Id="rId10" Type="http://schemas.openxmlformats.org/officeDocument/2006/relationships/image" Target="../media/image81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8.wmf"/><Relationship Id="rId12" Type="http://schemas.openxmlformats.org/officeDocument/2006/relationships/image" Target="../media/image93.wmf"/><Relationship Id="rId2" Type="http://schemas.openxmlformats.org/officeDocument/2006/relationships/image" Target="../media/image83.wmf"/><Relationship Id="rId1" Type="http://schemas.openxmlformats.org/officeDocument/2006/relationships/image" Target="../media/image72.wmf"/><Relationship Id="rId6" Type="http://schemas.openxmlformats.org/officeDocument/2006/relationships/image" Target="../media/image87.wmf"/><Relationship Id="rId11" Type="http://schemas.openxmlformats.org/officeDocument/2006/relationships/image" Target="../media/image92.wmf"/><Relationship Id="rId5" Type="http://schemas.openxmlformats.org/officeDocument/2006/relationships/image" Target="../media/image86.wmf"/><Relationship Id="rId10" Type="http://schemas.openxmlformats.org/officeDocument/2006/relationships/image" Target="../media/image91.wmf"/><Relationship Id="rId4" Type="http://schemas.openxmlformats.org/officeDocument/2006/relationships/image" Target="../media/image85.wmf"/><Relationship Id="rId9" Type="http://schemas.openxmlformats.org/officeDocument/2006/relationships/image" Target="../media/image90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image" Target="../media/image9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4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4" Type="http://schemas.openxmlformats.org/officeDocument/2006/relationships/image" Target="../media/image118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emf"/><Relationship Id="rId2" Type="http://schemas.openxmlformats.org/officeDocument/2006/relationships/image" Target="../media/image123.emf"/><Relationship Id="rId1" Type="http://schemas.openxmlformats.org/officeDocument/2006/relationships/image" Target="../media/image122.emf"/><Relationship Id="rId4" Type="http://schemas.openxmlformats.org/officeDocument/2006/relationships/image" Target="../media/image125.e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image" Target="../media/image127.wmf"/><Relationship Id="rId7" Type="http://schemas.openxmlformats.org/officeDocument/2006/relationships/image" Target="../media/image131.emf"/><Relationship Id="rId2" Type="http://schemas.openxmlformats.org/officeDocument/2006/relationships/image" Target="../media/image109.wmf"/><Relationship Id="rId1" Type="http://schemas.openxmlformats.org/officeDocument/2006/relationships/image" Target="../media/image126.emf"/><Relationship Id="rId6" Type="http://schemas.openxmlformats.org/officeDocument/2006/relationships/image" Target="../media/image130.emf"/><Relationship Id="rId5" Type="http://schemas.openxmlformats.org/officeDocument/2006/relationships/image" Target="../media/image129.emf"/><Relationship Id="rId4" Type="http://schemas.openxmlformats.org/officeDocument/2006/relationships/image" Target="../media/image128.wmf"/><Relationship Id="rId9" Type="http://schemas.openxmlformats.org/officeDocument/2006/relationships/image" Target="../media/image133.e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emf"/><Relationship Id="rId3" Type="http://schemas.openxmlformats.org/officeDocument/2006/relationships/image" Target="../media/image125.emf"/><Relationship Id="rId7" Type="http://schemas.openxmlformats.org/officeDocument/2006/relationships/image" Target="../media/image139.e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6" Type="http://schemas.openxmlformats.org/officeDocument/2006/relationships/image" Target="../media/image138.emf"/><Relationship Id="rId5" Type="http://schemas.openxmlformats.org/officeDocument/2006/relationships/image" Target="../media/image137.emf"/><Relationship Id="rId10" Type="http://schemas.openxmlformats.org/officeDocument/2006/relationships/image" Target="../media/image142.wmf"/><Relationship Id="rId4" Type="http://schemas.openxmlformats.org/officeDocument/2006/relationships/image" Target="../media/image136.wmf"/><Relationship Id="rId9" Type="http://schemas.openxmlformats.org/officeDocument/2006/relationships/image" Target="../media/image141.e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emf"/><Relationship Id="rId13" Type="http://schemas.openxmlformats.org/officeDocument/2006/relationships/image" Target="../media/image155.wmf"/><Relationship Id="rId3" Type="http://schemas.openxmlformats.org/officeDocument/2006/relationships/image" Target="../media/image145.wmf"/><Relationship Id="rId7" Type="http://schemas.openxmlformats.org/officeDocument/2006/relationships/image" Target="../media/image149.emf"/><Relationship Id="rId12" Type="http://schemas.openxmlformats.org/officeDocument/2006/relationships/image" Target="../media/image154.emf"/><Relationship Id="rId2" Type="http://schemas.openxmlformats.org/officeDocument/2006/relationships/image" Target="../media/image144.wmf"/><Relationship Id="rId1" Type="http://schemas.openxmlformats.org/officeDocument/2006/relationships/image" Target="../media/image143.emf"/><Relationship Id="rId6" Type="http://schemas.openxmlformats.org/officeDocument/2006/relationships/image" Target="../media/image148.emf"/><Relationship Id="rId11" Type="http://schemas.openxmlformats.org/officeDocument/2006/relationships/image" Target="../media/image153.emf"/><Relationship Id="rId5" Type="http://schemas.openxmlformats.org/officeDocument/2006/relationships/image" Target="../media/image147.emf"/><Relationship Id="rId10" Type="http://schemas.openxmlformats.org/officeDocument/2006/relationships/image" Target="../media/image152.emf"/><Relationship Id="rId4" Type="http://schemas.openxmlformats.org/officeDocument/2006/relationships/image" Target="../media/image146.emf"/><Relationship Id="rId9" Type="http://schemas.openxmlformats.org/officeDocument/2006/relationships/image" Target="../media/image151.e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image" Target="../media/image126.emf"/><Relationship Id="rId7" Type="http://schemas.openxmlformats.org/officeDocument/2006/relationships/image" Target="../media/image132.wmf"/><Relationship Id="rId2" Type="http://schemas.openxmlformats.org/officeDocument/2006/relationships/image" Target="../media/image156.wmf"/><Relationship Id="rId1" Type="http://schemas.openxmlformats.org/officeDocument/2006/relationships/image" Target="../media/image127.wmf"/><Relationship Id="rId6" Type="http://schemas.openxmlformats.org/officeDocument/2006/relationships/image" Target="../media/image158.emf"/><Relationship Id="rId5" Type="http://schemas.openxmlformats.org/officeDocument/2006/relationships/image" Target="../media/image157.emf"/><Relationship Id="rId4" Type="http://schemas.openxmlformats.org/officeDocument/2006/relationships/image" Target="../media/image129.e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emf"/><Relationship Id="rId3" Type="http://schemas.openxmlformats.org/officeDocument/2006/relationships/image" Target="../media/image125.emf"/><Relationship Id="rId7" Type="http://schemas.openxmlformats.org/officeDocument/2006/relationships/image" Target="../media/image162.emf"/><Relationship Id="rId2" Type="http://schemas.openxmlformats.org/officeDocument/2006/relationships/image" Target="../media/image159.wmf"/><Relationship Id="rId1" Type="http://schemas.openxmlformats.org/officeDocument/2006/relationships/image" Target="../media/image134.wmf"/><Relationship Id="rId6" Type="http://schemas.openxmlformats.org/officeDocument/2006/relationships/image" Target="../media/image161.emf"/><Relationship Id="rId5" Type="http://schemas.openxmlformats.org/officeDocument/2006/relationships/image" Target="../media/image137.emf"/><Relationship Id="rId4" Type="http://schemas.openxmlformats.org/officeDocument/2006/relationships/image" Target="../media/image160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wmf"/><Relationship Id="rId2" Type="http://schemas.openxmlformats.org/officeDocument/2006/relationships/image" Target="../media/image126.emf"/><Relationship Id="rId1" Type="http://schemas.openxmlformats.org/officeDocument/2006/relationships/image" Target="../media/image164.wmf"/><Relationship Id="rId6" Type="http://schemas.openxmlformats.org/officeDocument/2006/relationships/image" Target="../media/image168.emf"/><Relationship Id="rId5" Type="http://schemas.openxmlformats.org/officeDocument/2006/relationships/image" Target="../media/image167.emf"/><Relationship Id="rId4" Type="http://schemas.openxmlformats.org/officeDocument/2006/relationships/image" Target="../media/image166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emf"/><Relationship Id="rId2" Type="http://schemas.openxmlformats.org/officeDocument/2006/relationships/image" Target="../media/image102.wmf"/><Relationship Id="rId1" Type="http://schemas.openxmlformats.org/officeDocument/2006/relationships/image" Target="../media/image169.wmf"/><Relationship Id="rId4" Type="http://schemas.openxmlformats.org/officeDocument/2006/relationships/image" Target="../media/image171.e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wmf"/><Relationship Id="rId1" Type="http://schemas.openxmlformats.org/officeDocument/2006/relationships/image" Target="../media/image172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7.e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emf"/><Relationship Id="rId1" Type="http://schemas.openxmlformats.org/officeDocument/2006/relationships/image" Target="../media/image18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C72C9BD-CCDC-40CD-A721-AFCD7610676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100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BDA092-A202-45AF-810D-AE8525E629F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76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8498495-8A27-4561-80F5-82F0BD562B8B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32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94C5BD9-427D-4B0F-9DE4-2867468CF07D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3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B59E8A5-6380-4322-9DBC-E6BBA647D005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45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6E8294A-0E93-40C3-ACCD-97143A7C32AA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30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13C155E-9A15-4B76-8429-C62825C8EAD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00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9AF892F-566D-476B-81FA-52D09E2FAF88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34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44475A4-CD7D-4BC0-8F18-15B3CDF42521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39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46B700E-2124-40F5-8AB8-FDC484A10B30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82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85A98A6-5A72-4B3E-8C57-3EC8DC119EE8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66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0E7877A-E58B-4E85-928E-426F0EDC1A13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6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0FC92D7-8742-48F2-B0CC-F0AF08BB1D32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86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C18D4EE-A38D-4B0C-BCF0-404C06E8D5E2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42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6866959-43E9-4055-AE22-9B0DF2388CBF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553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AEEA1D3-014F-4EE9-8926-A5C7D32D5569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74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D0A8B34-8B97-42F3-BB0A-94DE1BE5911A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200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C5D7514-915A-4360-820A-B0C71EB52A72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40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C5D7514-915A-4360-820A-B0C71EB52A72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3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DD31FE1-2AF9-4119-A6B1-FAF3BE8E4B0A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055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5488506-8B66-4209-8580-285AA65AAE8A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2105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3963852-835E-4A2E-B09E-252975B7C8E7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165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594D93B-2911-4D4D-9993-DBB7AE6DCD3D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166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BCF8B03-06E0-439F-8662-E9D8CF75AD55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947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E7E2B0E-08EF-438E-AB83-5CE5717C328F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521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9FC199D-1FFB-42C0-8CB3-CE941B63F73B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9894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F8C5709-8B20-4E3D-82A3-ED6B6BED1E6A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147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5A2246C-CFF9-4E31-987B-51BEE4AD981B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754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FE0BED7-A9ED-4964-B280-07A8978C4C72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821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2BEA360-3F91-412E-B575-6869CD1F332A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919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2BEA360-3F91-412E-B575-6869CD1F332A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023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2033436-8665-48DE-AFCF-655C26345BA6}" type="slidenum">
              <a:rPr lang="en-US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514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2033436-8665-48DE-AFCF-655C26345BA6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074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36C52D0-5F2F-4D97-BA80-7350C0C57930}" type="slidenum">
              <a:rPr lang="en-US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320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CB3A831-903B-4E4B-99DB-4428E97D9FFF}" type="slidenum">
              <a:rPr lang="en-US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968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2BEA360-3F91-412E-B575-6869CD1F332A}" type="slidenum">
              <a:rPr lang="en-US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953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256D5A6-E0BC-4AC0-8752-011981794FD7}" type="slidenum">
              <a:rPr lang="en-US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195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628783C-6AAC-4463-A4D4-E2B060F736D0}" type="slidenum">
              <a:rPr lang="en-US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525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1E2C62B-7E79-4F48-94C2-636B543DC42E}" type="slidenum">
              <a:rPr lang="en-US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964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75C0E0A-AED1-49CD-96DD-44435C50ECC3}" type="slidenum">
              <a:rPr lang="en-US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253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F4F3444-96D8-47C4-8EAD-4139FCB9AA81}" type="slidenum">
              <a:rPr lang="en-US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602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B1B303D-0DAF-405F-AC7B-93F040AC0A8C}" type="slidenum">
              <a:rPr lang="en-US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966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2278A4E-6F30-4E01-8933-39EBF49DCAD9}" type="slidenum">
              <a:rPr lang="en-US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963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75C0E0A-AED1-49CD-96DD-44435C50ECC3}" type="slidenum">
              <a:rPr lang="en-US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689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1345408-6E20-4E91-8FA6-6226C065A783}" type="slidenum">
              <a:rPr lang="en-US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842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E17527B-7F03-4641-AE9C-BD54CA0D8D3E}" type="slidenum">
              <a:rPr lang="en-US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86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E17527B-7F03-4641-AE9C-BD54CA0D8D3E}" type="slidenum">
              <a:rPr lang="en-US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43700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FE08C8B-C891-49BE-BCF4-ED747F1098B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6362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0182656-FEC7-4B5F-92F4-31EB76819526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164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4732FD1-3698-4CCC-982A-56054A9F1923}" type="slidenum">
              <a:rPr lang="en-US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7218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4732FD1-3698-4CCC-982A-56054A9F1923}" type="slidenum">
              <a:rPr lang="en-US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9058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0B6CB85-BEE3-4924-9967-1255876C69BD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636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0B6CB85-BEE3-4924-9967-1255876C69BD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4025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0B6CB85-BEE3-4924-9967-1255876C69BD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8608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20E1637-4ACC-4233-9376-BB1F1DD58976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2912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503D6AD-AB66-4398-B215-573DC1FF694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3206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4068924-F5FF-4B14-948E-2D3AF534E3A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85154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6F06C2C-E83F-4841-9A9B-B6E9B9BC1C28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9110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5A923CA-69B9-41F0-A6B6-50BC68D85F3A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2633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BB11FEC-843E-4039-8274-2ADD8CEB9603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0479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2428F8-5CEB-4754-8D32-A9F3BE107D06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34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Digitais</a:t>
            </a:r>
            <a:r>
              <a:rPr lang="en-US" dirty="0"/>
              <a:t>, Iouliia Skliarova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5B113-8003-484C-9CB4-34534D4C03D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pic>
        <p:nvPicPr>
          <p:cNvPr id="6" name="Picture 19" descr="UA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3170" y="6165304"/>
            <a:ext cx="562862" cy="5760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A75572-6E57-4D22-BB50-584F13E3D4C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5AB37-B8D0-4712-BD5B-07CEA1AB3C5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5FC367-8932-41B6-8841-AA24EF8C9EE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95AD1-BDED-41CC-A23B-09540AA31E7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1E2892-AAC6-485A-9209-0739BB77278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6C871D-8856-4724-9795-3F6EEC33E09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pic>
        <p:nvPicPr>
          <p:cNvPr id="4" name="Picture 19" descr="UA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3170" y="6165304"/>
            <a:ext cx="562862" cy="5760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 userDrawn="1"/>
        </p:nvSpPr>
        <p:spPr>
          <a:xfrm>
            <a:off x="2915816" y="6372036"/>
            <a:ext cx="2440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Introdução aos</a:t>
            </a:r>
            <a:r>
              <a:rPr lang="pt-PT" sz="120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</a:t>
            </a:r>
            <a:r>
              <a:rPr lang="pt-PT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Sistemas</a:t>
            </a:r>
            <a:r>
              <a:rPr lang="pt-PT" dirty="0"/>
              <a:t> </a:t>
            </a:r>
            <a:r>
              <a:rPr lang="pt-PT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Digitais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D39E76-8863-4D3D-BBB0-80A2DA93759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64C0C8-542C-4205-9C79-600B188B30C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366C12-8904-440D-9B97-9DD9A23E73B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45B293-85F4-4DC4-A27E-2FADA22FDB9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35150" y="6462713"/>
            <a:ext cx="4608513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77050" y="6245225"/>
            <a:ext cx="10906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C1168DB-C190-429A-8369-E58CAE946A0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pic>
        <p:nvPicPr>
          <p:cNvPr id="9222" name="Picture 7" descr="UA Logo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23850" y="6165850"/>
            <a:ext cx="431800" cy="582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3" name="Picture 8" descr="IEETA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388350" y="6165850"/>
            <a:ext cx="403225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3" name="Line 9"/>
          <p:cNvSpPr>
            <a:spLocks noChangeShapeType="1"/>
          </p:cNvSpPr>
          <p:nvPr userDrawn="1"/>
        </p:nvSpPr>
        <p:spPr bwMode="auto">
          <a:xfrm>
            <a:off x="1763713" y="6381750"/>
            <a:ext cx="4752975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30.wmf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7.bin"/><Relationship Id="rId17" Type="http://schemas.openxmlformats.org/officeDocument/2006/relationships/image" Target="../media/image3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2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9.wmf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4.wmf"/><Relationship Id="rId12" Type="http://schemas.openxmlformats.org/officeDocument/2006/relationships/image" Target="../media/image3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3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oleObject" Target="../embeddings/oleObject44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45.wmf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.wmf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0.bin"/><Relationship Id="rId11" Type="http://schemas.openxmlformats.org/officeDocument/2006/relationships/oleObject" Target="../embeddings/oleObject43.bin"/><Relationship Id="rId5" Type="http://schemas.openxmlformats.org/officeDocument/2006/relationships/image" Target="../media/image44.wmf"/><Relationship Id="rId15" Type="http://schemas.openxmlformats.org/officeDocument/2006/relationships/oleObject" Target="../embeddings/oleObject45.bin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6.wmf"/><Relationship Id="rId14" Type="http://schemas.openxmlformats.org/officeDocument/2006/relationships/image" Target="../media/image48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53.wmf"/><Relationship Id="rId18" Type="http://schemas.openxmlformats.org/officeDocument/2006/relationships/oleObject" Target="../embeddings/oleObject53.bin"/><Relationship Id="rId3" Type="http://schemas.openxmlformats.org/officeDocument/2006/relationships/notesSlide" Target="../notesSlides/notesSlide20.xml"/><Relationship Id="rId21" Type="http://schemas.openxmlformats.org/officeDocument/2006/relationships/image" Target="../media/image57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50.bin"/><Relationship Id="rId17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2.bin"/><Relationship Id="rId20" Type="http://schemas.openxmlformats.org/officeDocument/2006/relationships/oleObject" Target="../embeddings/oleObject54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52.wmf"/><Relationship Id="rId5" Type="http://schemas.openxmlformats.org/officeDocument/2006/relationships/image" Target="../media/image33.wmf"/><Relationship Id="rId15" Type="http://schemas.openxmlformats.org/officeDocument/2006/relationships/image" Target="../media/image54.wmf"/><Relationship Id="rId10" Type="http://schemas.openxmlformats.org/officeDocument/2006/relationships/oleObject" Target="../embeddings/oleObject49.bin"/><Relationship Id="rId19" Type="http://schemas.openxmlformats.org/officeDocument/2006/relationships/image" Target="../media/image56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51.wmf"/><Relationship Id="rId14" Type="http://schemas.openxmlformats.org/officeDocument/2006/relationships/oleObject" Target="../embeddings/oleObject51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5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55.bin"/><Relationship Id="rId9" Type="http://schemas.openxmlformats.org/officeDocument/2006/relationships/image" Target="../media/image6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65.wmf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6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6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6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64.bin"/><Relationship Id="rId5" Type="http://schemas.openxmlformats.org/officeDocument/2006/relationships/image" Target="../media/image66.w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6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6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71.wmf"/><Relationship Id="rId5" Type="http://schemas.openxmlformats.org/officeDocument/2006/relationships/image" Target="../media/image63.wmf"/><Relationship Id="rId10" Type="http://schemas.openxmlformats.org/officeDocument/2006/relationships/oleObject" Target="../embeddings/oleObject69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70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76.wmf"/><Relationship Id="rId18" Type="http://schemas.openxmlformats.org/officeDocument/2006/relationships/oleObject" Target="../embeddings/oleObject77.bin"/><Relationship Id="rId3" Type="http://schemas.openxmlformats.org/officeDocument/2006/relationships/notesSlide" Target="../notesSlides/notesSlide25.xml"/><Relationship Id="rId21" Type="http://schemas.openxmlformats.org/officeDocument/2006/relationships/image" Target="../media/image80.wmf"/><Relationship Id="rId7" Type="http://schemas.openxmlformats.org/officeDocument/2006/relationships/image" Target="../media/image73.wmf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78.wmf"/><Relationship Id="rId25" Type="http://schemas.openxmlformats.org/officeDocument/2006/relationships/image" Target="../media/image8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6.bin"/><Relationship Id="rId20" Type="http://schemas.openxmlformats.org/officeDocument/2006/relationships/oleObject" Target="../embeddings/oleObject78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75.wmf"/><Relationship Id="rId24" Type="http://schemas.openxmlformats.org/officeDocument/2006/relationships/oleObject" Target="../embeddings/oleObject80.bin"/><Relationship Id="rId5" Type="http://schemas.openxmlformats.org/officeDocument/2006/relationships/image" Target="../media/image72.wmf"/><Relationship Id="rId15" Type="http://schemas.openxmlformats.org/officeDocument/2006/relationships/image" Target="../media/image77.wmf"/><Relationship Id="rId23" Type="http://schemas.openxmlformats.org/officeDocument/2006/relationships/image" Target="../media/image81.wmf"/><Relationship Id="rId10" Type="http://schemas.openxmlformats.org/officeDocument/2006/relationships/oleObject" Target="../embeddings/oleObject73.bin"/><Relationship Id="rId19" Type="http://schemas.openxmlformats.org/officeDocument/2006/relationships/image" Target="../media/image79.wmf"/><Relationship Id="rId4" Type="http://schemas.openxmlformats.org/officeDocument/2006/relationships/oleObject" Target="../embeddings/oleObject70.bin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75.bin"/><Relationship Id="rId22" Type="http://schemas.openxmlformats.org/officeDocument/2006/relationships/oleObject" Target="../embeddings/oleObject7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86.wmf"/><Relationship Id="rId18" Type="http://schemas.openxmlformats.org/officeDocument/2006/relationships/oleObject" Target="../embeddings/oleObject88.bin"/><Relationship Id="rId26" Type="http://schemas.openxmlformats.org/officeDocument/2006/relationships/oleObject" Target="../embeddings/oleObject92.bin"/><Relationship Id="rId3" Type="http://schemas.openxmlformats.org/officeDocument/2006/relationships/notesSlide" Target="../notesSlides/notesSlide26.xml"/><Relationship Id="rId21" Type="http://schemas.openxmlformats.org/officeDocument/2006/relationships/image" Target="../media/image90.wmf"/><Relationship Id="rId7" Type="http://schemas.openxmlformats.org/officeDocument/2006/relationships/image" Target="../media/image83.w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88.wmf"/><Relationship Id="rId25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85.wmf"/><Relationship Id="rId24" Type="http://schemas.openxmlformats.org/officeDocument/2006/relationships/oleObject" Target="../embeddings/oleObject91.bin"/><Relationship Id="rId5" Type="http://schemas.openxmlformats.org/officeDocument/2006/relationships/image" Target="../media/image72.wmf"/><Relationship Id="rId15" Type="http://schemas.openxmlformats.org/officeDocument/2006/relationships/image" Target="../media/image87.wmf"/><Relationship Id="rId23" Type="http://schemas.openxmlformats.org/officeDocument/2006/relationships/image" Target="../media/image91.wmf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89.w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84.w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0.bin"/><Relationship Id="rId27" Type="http://schemas.openxmlformats.org/officeDocument/2006/relationships/image" Target="../media/image9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9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94.bin"/><Relationship Id="rId5" Type="http://schemas.openxmlformats.org/officeDocument/2006/relationships/image" Target="../media/image94.wmf"/><Relationship Id="rId4" Type="http://schemas.openxmlformats.org/officeDocument/2006/relationships/oleObject" Target="../embeddings/oleObject9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99.wmf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96.wmf"/><Relationship Id="rId12" Type="http://schemas.openxmlformats.org/officeDocument/2006/relationships/oleObject" Target="../embeddings/oleObject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98.wmf"/><Relationship Id="rId5" Type="http://schemas.openxmlformats.org/officeDocument/2006/relationships/image" Target="../media/image94.wmf"/><Relationship Id="rId10" Type="http://schemas.openxmlformats.org/officeDocument/2006/relationships/oleObject" Target="../embeddings/oleObject98.bin"/><Relationship Id="rId4" Type="http://schemas.openxmlformats.org/officeDocument/2006/relationships/oleObject" Target="../embeddings/oleObject95.bin"/><Relationship Id="rId9" Type="http://schemas.openxmlformats.org/officeDocument/2006/relationships/image" Target="../media/image97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106.wmf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103.wmf"/><Relationship Id="rId12" Type="http://schemas.openxmlformats.org/officeDocument/2006/relationships/oleObject" Target="../embeddings/oleObject10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05.wmf"/><Relationship Id="rId5" Type="http://schemas.openxmlformats.org/officeDocument/2006/relationships/image" Target="../media/image102.wmf"/><Relationship Id="rId10" Type="http://schemas.openxmlformats.org/officeDocument/2006/relationships/oleObject" Target="../embeddings/oleObject103.bin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04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10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06.bin"/><Relationship Id="rId5" Type="http://schemas.openxmlformats.org/officeDocument/2006/relationships/image" Target="../media/image107.wmf"/><Relationship Id="rId4" Type="http://schemas.openxmlformats.org/officeDocument/2006/relationships/oleObject" Target="../embeddings/oleObject105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113.wmf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1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12.wmf"/><Relationship Id="rId5" Type="http://schemas.openxmlformats.org/officeDocument/2006/relationships/image" Target="../media/image109.wmf"/><Relationship Id="rId15" Type="http://schemas.openxmlformats.org/officeDocument/2006/relationships/image" Target="../media/image114.wmf"/><Relationship Id="rId10" Type="http://schemas.openxmlformats.org/officeDocument/2006/relationships/oleObject" Target="../embeddings/oleObject110.bin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1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1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18.wmf"/><Relationship Id="rId5" Type="http://schemas.openxmlformats.org/officeDocument/2006/relationships/image" Target="../media/image115.wmf"/><Relationship Id="rId10" Type="http://schemas.openxmlformats.org/officeDocument/2006/relationships/oleObject" Target="../embeddings/oleObject116.bin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17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1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18.bin"/><Relationship Id="rId5" Type="http://schemas.openxmlformats.org/officeDocument/2006/relationships/image" Target="../media/image119.wmf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21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12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25.emf"/><Relationship Id="rId5" Type="http://schemas.openxmlformats.org/officeDocument/2006/relationships/image" Target="../media/image122.emf"/><Relationship Id="rId10" Type="http://schemas.openxmlformats.org/officeDocument/2006/relationships/oleObject" Target="../embeddings/oleObject123.bin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24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29.emf"/><Relationship Id="rId18" Type="http://schemas.openxmlformats.org/officeDocument/2006/relationships/oleObject" Target="../embeddings/oleObject131.bin"/><Relationship Id="rId3" Type="http://schemas.openxmlformats.org/officeDocument/2006/relationships/notesSlide" Target="../notesSlides/notesSlide38.xml"/><Relationship Id="rId21" Type="http://schemas.openxmlformats.org/officeDocument/2006/relationships/image" Target="../media/image133.emf"/><Relationship Id="rId7" Type="http://schemas.openxmlformats.org/officeDocument/2006/relationships/image" Target="../media/image109.wmf"/><Relationship Id="rId12" Type="http://schemas.openxmlformats.org/officeDocument/2006/relationships/oleObject" Target="../embeddings/oleObject128.bin"/><Relationship Id="rId17" Type="http://schemas.openxmlformats.org/officeDocument/2006/relationships/image" Target="../media/image13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0.bin"/><Relationship Id="rId20" Type="http://schemas.openxmlformats.org/officeDocument/2006/relationships/oleObject" Target="../embeddings/oleObject132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28.wmf"/><Relationship Id="rId5" Type="http://schemas.openxmlformats.org/officeDocument/2006/relationships/image" Target="../media/image126.emf"/><Relationship Id="rId15" Type="http://schemas.openxmlformats.org/officeDocument/2006/relationships/image" Target="../media/image130.emf"/><Relationship Id="rId10" Type="http://schemas.openxmlformats.org/officeDocument/2006/relationships/oleObject" Target="../embeddings/oleObject127.bin"/><Relationship Id="rId19" Type="http://schemas.openxmlformats.org/officeDocument/2006/relationships/image" Target="../media/image132.wmf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27.wmf"/><Relationship Id="rId14" Type="http://schemas.openxmlformats.org/officeDocument/2006/relationships/oleObject" Target="../embeddings/oleObject129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image" Target="../media/image137.emf"/><Relationship Id="rId18" Type="http://schemas.openxmlformats.org/officeDocument/2006/relationships/oleObject" Target="../embeddings/oleObject140.bin"/><Relationship Id="rId3" Type="http://schemas.openxmlformats.org/officeDocument/2006/relationships/notesSlide" Target="../notesSlides/notesSlide39.xml"/><Relationship Id="rId21" Type="http://schemas.openxmlformats.org/officeDocument/2006/relationships/image" Target="../media/image141.emf"/><Relationship Id="rId7" Type="http://schemas.openxmlformats.org/officeDocument/2006/relationships/image" Target="../media/image135.wmf"/><Relationship Id="rId12" Type="http://schemas.openxmlformats.org/officeDocument/2006/relationships/oleObject" Target="../embeddings/oleObject137.bin"/><Relationship Id="rId17" Type="http://schemas.openxmlformats.org/officeDocument/2006/relationships/image" Target="../media/image13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9.bin"/><Relationship Id="rId20" Type="http://schemas.openxmlformats.org/officeDocument/2006/relationships/oleObject" Target="../embeddings/oleObject141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36.wmf"/><Relationship Id="rId5" Type="http://schemas.openxmlformats.org/officeDocument/2006/relationships/image" Target="../media/image134.wmf"/><Relationship Id="rId15" Type="http://schemas.openxmlformats.org/officeDocument/2006/relationships/image" Target="../media/image138.emf"/><Relationship Id="rId23" Type="http://schemas.openxmlformats.org/officeDocument/2006/relationships/image" Target="../media/image142.wmf"/><Relationship Id="rId10" Type="http://schemas.openxmlformats.org/officeDocument/2006/relationships/oleObject" Target="../embeddings/oleObject136.bin"/><Relationship Id="rId19" Type="http://schemas.openxmlformats.org/officeDocument/2006/relationships/image" Target="../media/image140.emf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25.emf"/><Relationship Id="rId14" Type="http://schemas.openxmlformats.org/officeDocument/2006/relationships/oleObject" Target="../embeddings/oleObject138.bin"/><Relationship Id="rId22" Type="http://schemas.openxmlformats.org/officeDocument/2006/relationships/oleObject" Target="../embeddings/oleObject142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13" Type="http://schemas.openxmlformats.org/officeDocument/2006/relationships/image" Target="../media/image147.emf"/><Relationship Id="rId18" Type="http://schemas.openxmlformats.org/officeDocument/2006/relationships/oleObject" Target="../embeddings/oleObject150.bin"/><Relationship Id="rId26" Type="http://schemas.openxmlformats.org/officeDocument/2006/relationships/oleObject" Target="../embeddings/oleObject154.bin"/><Relationship Id="rId3" Type="http://schemas.openxmlformats.org/officeDocument/2006/relationships/notesSlide" Target="../notesSlides/notesSlide40.xml"/><Relationship Id="rId21" Type="http://schemas.openxmlformats.org/officeDocument/2006/relationships/image" Target="../media/image151.emf"/><Relationship Id="rId7" Type="http://schemas.openxmlformats.org/officeDocument/2006/relationships/image" Target="../media/image144.wmf"/><Relationship Id="rId12" Type="http://schemas.openxmlformats.org/officeDocument/2006/relationships/oleObject" Target="../embeddings/oleObject147.bin"/><Relationship Id="rId17" Type="http://schemas.openxmlformats.org/officeDocument/2006/relationships/image" Target="../media/image149.emf"/><Relationship Id="rId25" Type="http://schemas.openxmlformats.org/officeDocument/2006/relationships/image" Target="../media/image15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9.bin"/><Relationship Id="rId20" Type="http://schemas.openxmlformats.org/officeDocument/2006/relationships/oleObject" Target="../embeddings/oleObject151.bin"/><Relationship Id="rId29" Type="http://schemas.openxmlformats.org/officeDocument/2006/relationships/image" Target="../media/image155.wmf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146.emf"/><Relationship Id="rId24" Type="http://schemas.openxmlformats.org/officeDocument/2006/relationships/oleObject" Target="../embeddings/oleObject153.bin"/><Relationship Id="rId5" Type="http://schemas.openxmlformats.org/officeDocument/2006/relationships/image" Target="../media/image143.emf"/><Relationship Id="rId15" Type="http://schemas.openxmlformats.org/officeDocument/2006/relationships/image" Target="../media/image148.emf"/><Relationship Id="rId23" Type="http://schemas.openxmlformats.org/officeDocument/2006/relationships/image" Target="../media/image152.emf"/><Relationship Id="rId28" Type="http://schemas.openxmlformats.org/officeDocument/2006/relationships/oleObject" Target="../embeddings/oleObject155.bin"/><Relationship Id="rId10" Type="http://schemas.openxmlformats.org/officeDocument/2006/relationships/oleObject" Target="../embeddings/oleObject146.bin"/><Relationship Id="rId19" Type="http://schemas.openxmlformats.org/officeDocument/2006/relationships/image" Target="../media/image150.emf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45.wmf"/><Relationship Id="rId14" Type="http://schemas.openxmlformats.org/officeDocument/2006/relationships/oleObject" Target="../embeddings/oleObject148.bin"/><Relationship Id="rId22" Type="http://schemas.openxmlformats.org/officeDocument/2006/relationships/oleObject" Target="../embeddings/oleObject152.bin"/><Relationship Id="rId27" Type="http://schemas.openxmlformats.org/officeDocument/2006/relationships/image" Target="../media/image154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13" Type="http://schemas.openxmlformats.org/officeDocument/2006/relationships/image" Target="../media/image157.emf"/><Relationship Id="rId18" Type="http://schemas.openxmlformats.org/officeDocument/2006/relationships/oleObject" Target="../embeddings/oleObject163.bin"/><Relationship Id="rId3" Type="http://schemas.openxmlformats.org/officeDocument/2006/relationships/notesSlide" Target="../notesSlides/notesSlide42.xml"/><Relationship Id="rId7" Type="http://schemas.openxmlformats.org/officeDocument/2006/relationships/image" Target="../media/image156.wmf"/><Relationship Id="rId12" Type="http://schemas.openxmlformats.org/officeDocument/2006/relationships/oleObject" Target="../embeddings/oleObject160.bin"/><Relationship Id="rId17" Type="http://schemas.openxmlformats.org/officeDocument/2006/relationships/image" Target="../media/image13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2.bin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57.bin"/><Relationship Id="rId11" Type="http://schemas.openxmlformats.org/officeDocument/2006/relationships/image" Target="../media/image129.emf"/><Relationship Id="rId5" Type="http://schemas.openxmlformats.org/officeDocument/2006/relationships/image" Target="../media/image127.wmf"/><Relationship Id="rId15" Type="http://schemas.openxmlformats.org/officeDocument/2006/relationships/image" Target="../media/image158.emf"/><Relationship Id="rId10" Type="http://schemas.openxmlformats.org/officeDocument/2006/relationships/oleObject" Target="../embeddings/oleObject159.bin"/><Relationship Id="rId19" Type="http://schemas.openxmlformats.org/officeDocument/2006/relationships/image" Target="../media/image109.wmf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26.emf"/><Relationship Id="rId14" Type="http://schemas.openxmlformats.org/officeDocument/2006/relationships/oleObject" Target="../embeddings/oleObject161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37.emf"/><Relationship Id="rId18" Type="http://schemas.openxmlformats.org/officeDocument/2006/relationships/oleObject" Target="../embeddings/oleObject171.bin"/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159.wmf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6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0.bin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60.wmf"/><Relationship Id="rId5" Type="http://schemas.openxmlformats.org/officeDocument/2006/relationships/image" Target="../media/image134.wmf"/><Relationship Id="rId15" Type="http://schemas.openxmlformats.org/officeDocument/2006/relationships/image" Target="../media/image161.emf"/><Relationship Id="rId10" Type="http://schemas.openxmlformats.org/officeDocument/2006/relationships/oleObject" Target="../embeddings/oleObject167.bin"/><Relationship Id="rId19" Type="http://schemas.openxmlformats.org/officeDocument/2006/relationships/image" Target="../media/image163.emf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25.emf"/><Relationship Id="rId14" Type="http://schemas.openxmlformats.org/officeDocument/2006/relationships/oleObject" Target="../embeddings/oleObject169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13" Type="http://schemas.openxmlformats.org/officeDocument/2006/relationships/image" Target="../media/image167.emf"/><Relationship Id="rId3" Type="http://schemas.openxmlformats.org/officeDocument/2006/relationships/notesSlide" Target="../notesSlides/notesSlide44.xml"/><Relationship Id="rId7" Type="http://schemas.openxmlformats.org/officeDocument/2006/relationships/image" Target="../media/image126.emf"/><Relationship Id="rId12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173.bin"/><Relationship Id="rId11" Type="http://schemas.openxmlformats.org/officeDocument/2006/relationships/image" Target="../media/image166.emf"/><Relationship Id="rId5" Type="http://schemas.openxmlformats.org/officeDocument/2006/relationships/image" Target="../media/image164.wmf"/><Relationship Id="rId15" Type="http://schemas.openxmlformats.org/officeDocument/2006/relationships/image" Target="../media/image168.emf"/><Relationship Id="rId10" Type="http://schemas.openxmlformats.org/officeDocument/2006/relationships/oleObject" Target="../embeddings/oleObject175.bin"/><Relationship Id="rId4" Type="http://schemas.openxmlformats.org/officeDocument/2006/relationships/oleObject" Target="../embeddings/oleObject172.bin"/><Relationship Id="rId9" Type="http://schemas.openxmlformats.org/officeDocument/2006/relationships/image" Target="../media/image165.wmf"/><Relationship Id="rId14" Type="http://schemas.openxmlformats.org/officeDocument/2006/relationships/oleObject" Target="../embeddings/oleObject177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0.bin"/><Relationship Id="rId3" Type="http://schemas.openxmlformats.org/officeDocument/2006/relationships/notesSlide" Target="../notesSlides/notesSlide45.xml"/><Relationship Id="rId7" Type="http://schemas.openxmlformats.org/officeDocument/2006/relationships/image" Target="../media/image10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179.bin"/><Relationship Id="rId11" Type="http://schemas.openxmlformats.org/officeDocument/2006/relationships/image" Target="../media/image171.emf"/><Relationship Id="rId5" Type="http://schemas.openxmlformats.org/officeDocument/2006/relationships/image" Target="../media/image169.wmf"/><Relationship Id="rId10" Type="http://schemas.openxmlformats.org/officeDocument/2006/relationships/oleObject" Target="../embeddings/oleObject181.bin"/><Relationship Id="rId4" Type="http://schemas.openxmlformats.org/officeDocument/2006/relationships/oleObject" Target="../embeddings/oleObject178.bin"/><Relationship Id="rId9" Type="http://schemas.openxmlformats.org/officeDocument/2006/relationships/image" Target="../media/image170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7" Type="http://schemas.openxmlformats.org/officeDocument/2006/relationships/image" Target="../media/image17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183.bin"/><Relationship Id="rId5" Type="http://schemas.openxmlformats.org/officeDocument/2006/relationships/image" Target="../media/image172.wmf"/><Relationship Id="rId4" Type="http://schemas.openxmlformats.org/officeDocument/2006/relationships/oleObject" Target="../embeddings/oleObject182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gi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5.gi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gi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gif"/><Relationship Id="rId4" Type="http://schemas.openxmlformats.org/officeDocument/2006/relationships/image" Target="../media/image175.gi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gi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5" Type="http://schemas.openxmlformats.org/officeDocument/2006/relationships/image" Target="../media/image177.emf"/><Relationship Id="rId4" Type="http://schemas.openxmlformats.org/officeDocument/2006/relationships/package" Target="../embeddings/Microsoft_PowerPoint_Presentation.pptx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png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7" Type="http://schemas.openxmlformats.org/officeDocument/2006/relationships/image" Target="../media/image18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package" Target="../embeddings/Microsoft_PowerPoint_Presentation2.pptx"/><Relationship Id="rId5" Type="http://schemas.openxmlformats.org/officeDocument/2006/relationships/image" Target="../media/image182.emf"/><Relationship Id="rId4" Type="http://schemas.openxmlformats.org/officeDocument/2006/relationships/package" Target="../embeddings/Microsoft_PowerPoint_Presentation1.pptx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wmf"/><Relationship Id="rId7" Type="http://schemas.openxmlformats.org/officeDocument/2006/relationships/image" Target="../media/image188.w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7.w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7" Type="http://schemas.openxmlformats.org/officeDocument/2006/relationships/image" Target="../media/image193.w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2.wmf"/><Relationship Id="rId5" Type="http://schemas.openxmlformats.org/officeDocument/2006/relationships/image" Target="../media/image191.wmf"/><Relationship Id="rId4" Type="http://schemas.openxmlformats.org/officeDocument/2006/relationships/image" Target="../media/image190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wmf"/><Relationship Id="rId7" Type="http://schemas.openxmlformats.org/officeDocument/2006/relationships/image" Target="../media/image196.w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5.wmf"/><Relationship Id="rId5" Type="http://schemas.openxmlformats.org/officeDocument/2006/relationships/image" Target="../media/image194.wmf"/><Relationship Id="rId4" Type="http://schemas.openxmlformats.org/officeDocument/2006/relationships/image" Target="../media/image193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wmf"/><Relationship Id="rId7" Type="http://schemas.openxmlformats.org/officeDocument/2006/relationships/image" Target="../media/image188.w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7.wmf"/><Relationship Id="rId5" Type="http://schemas.openxmlformats.org/officeDocument/2006/relationships/image" Target="../media/image199.wmf"/><Relationship Id="rId4" Type="http://schemas.openxmlformats.org/officeDocument/2006/relationships/image" Target="../media/image198.w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2.wmf"/><Relationship Id="rId4" Type="http://schemas.openxmlformats.org/officeDocument/2006/relationships/image" Target="../media/image201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w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 err="1"/>
              <a:t>Introdução</a:t>
            </a:r>
            <a:r>
              <a:rPr lang="en-US" dirty="0"/>
              <a:t> </a:t>
            </a:r>
            <a:r>
              <a:rPr lang="en-US" dirty="0" err="1"/>
              <a:t>aos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Digitais</a:t>
            </a:r>
            <a:r>
              <a:rPr lang="en-US" dirty="0"/>
              <a:t>, Iouliia Skliarova</a:t>
            </a:r>
          </a:p>
        </p:txBody>
      </p:sp>
      <p:sp>
        <p:nvSpPr>
          <p:cNvPr id="10243" name="WordArt 4"/>
          <p:cNvSpPr>
            <a:spLocks noChangeArrowheads="1" noChangeShapeType="1" noTextEdit="1"/>
          </p:cNvSpPr>
          <p:nvPr/>
        </p:nvSpPr>
        <p:spPr bwMode="auto">
          <a:xfrm>
            <a:off x="755577" y="216024"/>
            <a:ext cx="7488832" cy="184482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Introdução</a:t>
            </a:r>
            <a:r>
              <a:rPr lang="en-US" sz="3600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aos</a:t>
            </a:r>
            <a:endParaRPr lang="en-US" sz="3600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  <a:p>
            <a:pPr algn="ctr"/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Sistemas</a:t>
            </a:r>
            <a:r>
              <a:rPr lang="en-US" sz="3600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Digitais</a:t>
            </a:r>
            <a:endParaRPr lang="en-US" sz="3600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2055" name="WordArt 7"/>
          <p:cNvSpPr>
            <a:spLocks noChangeArrowheads="1" noChangeShapeType="1" noTextEdit="1"/>
          </p:cNvSpPr>
          <p:nvPr/>
        </p:nvSpPr>
        <p:spPr bwMode="auto">
          <a:xfrm>
            <a:off x="1141413" y="3645024"/>
            <a:ext cx="6526212" cy="216024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PT" sz="3600" i="1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Algebra de Boole</a:t>
            </a:r>
          </a:p>
          <a:p>
            <a:pPr algn="ctr"/>
            <a:r>
              <a:rPr lang="pt-PT" sz="3600" i="1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 Postulados</a:t>
            </a:r>
          </a:p>
          <a:p>
            <a:pPr algn="ctr"/>
            <a:r>
              <a:rPr lang="pt-PT" sz="3600" i="1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Teoremas e expressões</a:t>
            </a:r>
          </a:p>
          <a:p>
            <a:pPr algn="ctr"/>
            <a:r>
              <a:rPr lang="pt-PT" sz="3600" i="1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Simplificação algébrica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4967287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Circuitos combinatórios</a:t>
            </a: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447675" y="908050"/>
            <a:ext cx="8372475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Aft>
                <a:spcPct val="30000"/>
              </a:spcAft>
              <a:defRPr/>
            </a:pPr>
            <a:r>
              <a:rPr lang="pt-PT" dirty="0">
                <a:solidFill>
                  <a:srgbClr val="003366"/>
                </a:solidFill>
              </a:rPr>
              <a:t>Um circuito digital combinatório possui:</a:t>
            </a:r>
          </a:p>
          <a:p>
            <a:pPr>
              <a:spcAft>
                <a:spcPct val="30000"/>
              </a:spcAft>
              <a:buFontTx/>
              <a:buChar char="-"/>
              <a:defRPr/>
            </a:pPr>
            <a:r>
              <a:rPr lang="pt-PT" dirty="0">
                <a:solidFill>
                  <a:srgbClr val="003366"/>
                </a:solidFill>
              </a:rPr>
              <a:t> uma ou mais </a:t>
            </a:r>
            <a:r>
              <a:rPr lang="pt-PT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entradas</a:t>
            </a:r>
            <a:r>
              <a:rPr lang="pt-PT" dirty="0">
                <a:solidFill>
                  <a:srgbClr val="003366"/>
                </a:solidFill>
              </a:rPr>
              <a:t> digitais;</a:t>
            </a:r>
          </a:p>
          <a:p>
            <a:pPr>
              <a:spcAft>
                <a:spcPct val="30000"/>
              </a:spcAft>
              <a:buFontTx/>
              <a:buChar char="-"/>
              <a:defRPr/>
            </a:pPr>
            <a:r>
              <a:rPr lang="pt-PT" dirty="0">
                <a:solidFill>
                  <a:srgbClr val="003366"/>
                </a:solidFill>
              </a:rPr>
              <a:t> uma ou mais </a:t>
            </a:r>
            <a:r>
              <a:rPr lang="pt-PT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saídas</a:t>
            </a:r>
            <a:r>
              <a:rPr lang="pt-PT" dirty="0">
                <a:solidFill>
                  <a:srgbClr val="003366"/>
                </a:solidFill>
              </a:rPr>
              <a:t> digitais;</a:t>
            </a:r>
          </a:p>
          <a:p>
            <a:pPr>
              <a:spcAft>
                <a:spcPct val="30000"/>
              </a:spcAft>
              <a:buFontTx/>
              <a:buChar char="-"/>
              <a:defRPr/>
            </a:pPr>
            <a:r>
              <a:rPr lang="pt-PT">
                <a:solidFill>
                  <a:srgbClr val="003366"/>
                </a:solidFill>
              </a:rPr>
              <a:t> uma </a:t>
            </a: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especificação funcional</a:t>
            </a:r>
            <a:r>
              <a:rPr lang="pt-PT">
                <a:solidFill>
                  <a:srgbClr val="003366"/>
                </a:solidFill>
              </a:rPr>
              <a:t> que descreve cada saída em função dos valores das entradas;</a:t>
            </a:r>
          </a:p>
          <a:p>
            <a:pPr>
              <a:spcAft>
                <a:spcPct val="30000"/>
              </a:spcAft>
              <a:buFontTx/>
              <a:buChar char="-"/>
              <a:defRPr/>
            </a:pPr>
            <a:r>
              <a:rPr lang="pt-PT" dirty="0">
                <a:solidFill>
                  <a:srgbClr val="003366"/>
                </a:solidFill>
              </a:rPr>
              <a:t> uma </a:t>
            </a:r>
            <a:r>
              <a:rPr lang="pt-PT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especificação temporal</a:t>
            </a:r>
            <a:r>
              <a:rPr lang="pt-PT" dirty="0">
                <a:solidFill>
                  <a:srgbClr val="003366"/>
                </a:solidFill>
              </a:rPr>
              <a:t> que inclui, pelo menos, o tempo máximo que o circuito vai demorar para produzir valores de saída a partir de um conjunto arbitrário de valores de entrada (válidos e estáveis) -&gt; </a:t>
            </a:r>
            <a:r>
              <a:rPr lang="pt-PT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tempo de propagação</a:t>
            </a:r>
            <a:r>
              <a:rPr lang="pt-PT" dirty="0">
                <a:solidFill>
                  <a:srgbClr val="003366"/>
                </a:solidFill>
              </a:rPr>
              <a:t>.</a:t>
            </a:r>
            <a:endParaRPr lang="en-US" dirty="0">
              <a:solidFill>
                <a:srgbClr val="003366"/>
              </a:solidFill>
            </a:endParaRPr>
          </a:p>
        </p:txBody>
      </p:sp>
      <p:sp>
        <p:nvSpPr>
          <p:cNvPr id="45068" name="Rectangle 12"/>
          <p:cNvSpPr>
            <a:spLocks noChangeArrowheads="1"/>
          </p:cNvSpPr>
          <p:nvPr/>
        </p:nvSpPr>
        <p:spPr bwMode="auto">
          <a:xfrm>
            <a:off x="2771775" y="3860800"/>
            <a:ext cx="3384550" cy="208915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176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pt-PT">
                <a:solidFill>
                  <a:srgbClr val="000066"/>
                </a:solidFill>
              </a:rPr>
              <a:t>Circuito digital</a:t>
            </a:r>
            <a:endParaRPr lang="en-US">
              <a:solidFill>
                <a:srgbClr val="000066"/>
              </a:solidFill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1763713" y="4078288"/>
            <a:ext cx="1008062" cy="1511300"/>
            <a:chOff x="1111" y="2432"/>
            <a:chExt cx="635" cy="952"/>
          </a:xfrm>
        </p:grpSpPr>
        <p:sp>
          <p:nvSpPr>
            <p:cNvPr id="16396" name="Line 13"/>
            <p:cNvSpPr>
              <a:spLocks noChangeShapeType="1"/>
            </p:cNvSpPr>
            <p:nvPr/>
          </p:nvSpPr>
          <p:spPr bwMode="auto">
            <a:xfrm>
              <a:off x="1338" y="2573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7" name="Text Box 14"/>
            <p:cNvSpPr txBox="1">
              <a:spLocks noChangeArrowheads="1"/>
            </p:cNvSpPr>
            <p:nvPr/>
          </p:nvSpPr>
          <p:spPr bwMode="auto">
            <a:xfrm>
              <a:off x="1111" y="2432"/>
              <a:ext cx="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x</a:t>
              </a:r>
              <a:r>
                <a:rPr lang="pt-PT" baseline="-25000">
                  <a:solidFill>
                    <a:srgbClr val="A50021"/>
                  </a:solidFill>
                </a:rPr>
                <a:t>1</a:t>
              </a:r>
              <a:endParaRPr lang="en-US" baseline="-25000">
                <a:solidFill>
                  <a:srgbClr val="A50021"/>
                </a:solidFill>
              </a:endParaRPr>
            </a:p>
          </p:txBody>
        </p:sp>
        <p:sp>
          <p:nvSpPr>
            <p:cNvPr id="16398" name="Line 15"/>
            <p:cNvSpPr>
              <a:spLocks noChangeShapeType="1"/>
            </p:cNvSpPr>
            <p:nvPr/>
          </p:nvSpPr>
          <p:spPr bwMode="auto">
            <a:xfrm>
              <a:off x="1338" y="2754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9" name="Text Box 16"/>
            <p:cNvSpPr txBox="1">
              <a:spLocks noChangeArrowheads="1"/>
            </p:cNvSpPr>
            <p:nvPr/>
          </p:nvSpPr>
          <p:spPr bwMode="auto">
            <a:xfrm>
              <a:off x="1111" y="2613"/>
              <a:ext cx="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x</a:t>
              </a:r>
              <a:r>
                <a:rPr lang="pt-PT" baseline="-25000">
                  <a:solidFill>
                    <a:srgbClr val="A50021"/>
                  </a:solidFill>
                </a:rPr>
                <a:t>2</a:t>
              </a:r>
              <a:endParaRPr lang="en-US" baseline="-25000">
                <a:solidFill>
                  <a:srgbClr val="A50021"/>
                </a:solidFill>
              </a:endParaRPr>
            </a:p>
          </p:txBody>
        </p:sp>
        <p:sp>
          <p:nvSpPr>
            <p:cNvPr id="16400" name="Line 17"/>
            <p:cNvSpPr>
              <a:spLocks noChangeShapeType="1"/>
            </p:cNvSpPr>
            <p:nvPr/>
          </p:nvSpPr>
          <p:spPr bwMode="auto">
            <a:xfrm>
              <a:off x="1338" y="2931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Text Box 18"/>
            <p:cNvSpPr txBox="1">
              <a:spLocks noChangeArrowheads="1"/>
            </p:cNvSpPr>
            <p:nvPr/>
          </p:nvSpPr>
          <p:spPr bwMode="auto">
            <a:xfrm>
              <a:off x="1111" y="2783"/>
              <a:ext cx="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x</a:t>
              </a:r>
              <a:r>
                <a:rPr lang="pt-PT" baseline="-25000">
                  <a:solidFill>
                    <a:srgbClr val="A50021"/>
                  </a:solidFill>
                </a:rPr>
                <a:t>3</a:t>
              </a:r>
              <a:endParaRPr lang="en-US" baseline="-25000">
                <a:solidFill>
                  <a:srgbClr val="A50021"/>
                </a:solidFill>
              </a:endParaRPr>
            </a:p>
          </p:txBody>
        </p:sp>
        <p:sp>
          <p:nvSpPr>
            <p:cNvPr id="16402" name="Line 19"/>
            <p:cNvSpPr>
              <a:spLocks noChangeShapeType="1"/>
            </p:cNvSpPr>
            <p:nvPr/>
          </p:nvSpPr>
          <p:spPr bwMode="auto">
            <a:xfrm>
              <a:off x="1338" y="3113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3" name="Text Box 20"/>
            <p:cNvSpPr txBox="1">
              <a:spLocks noChangeArrowheads="1"/>
            </p:cNvSpPr>
            <p:nvPr/>
          </p:nvSpPr>
          <p:spPr bwMode="auto">
            <a:xfrm>
              <a:off x="1111" y="2947"/>
              <a:ext cx="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x</a:t>
              </a:r>
              <a:r>
                <a:rPr lang="pt-PT" baseline="-25000">
                  <a:solidFill>
                    <a:srgbClr val="A50021"/>
                  </a:solidFill>
                </a:rPr>
                <a:t>4</a:t>
              </a:r>
              <a:endParaRPr lang="en-US" baseline="-25000">
                <a:solidFill>
                  <a:srgbClr val="A50021"/>
                </a:solidFill>
              </a:endParaRPr>
            </a:p>
          </p:txBody>
        </p:sp>
        <p:sp>
          <p:nvSpPr>
            <p:cNvPr id="16404" name="Line 21"/>
            <p:cNvSpPr>
              <a:spLocks noChangeShapeType="1"/>
            </p:cNvSpPr>
            <p:nvPr/>
          </p:nvSpPr>
          <p:spPr bwMode="auto">
            <a:xfrm>
              <a:off x="1338" y="3294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5" name="Text Box 22"/>
            <p:cNvSpPr txBox="1">
              <a:spLocks noChangeArrowheads="1"/>
            </p:cNvSpPr>
            <p:nvPr/>
          </p:nvSpPr>
          <p:spPr bwMode="auto">
            <a:xfrm>
              <a:off x="1111" y="3153"/>
              <a:ext cx="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x</a:t>
              </a:r>
              <a:r>
                <a:rPr lang="pt-PT" baseline="-25000">
                  <a:solidFill>
                    <a:srgbClr val="A50021"/>
                  </a:solidFill>
                </a:rPr>
                <a:t>5</a:t>
              </a:r>
              <a:endParaRPr lang="en-US" baseline="-25000">
                <a:solidFill>
                  <a:srgbClr val="A50021"/>
                </a:solidFill>
              </a:endParaRPr>
            </a:p>
          </p:txBody>
        </p:sp>
      </p:grpSp>
      <p:sp>
        <p:nvSpPr>
          <p:cNvPr id="45079" name="Text Box 23"/>
          <p:cNvSpPr txBox="1">
            <a:spLocks noChangeArrowheads="1"/>
          </p:cNvSpPr>
          <p:nvPr/>
        </p:nvSpPr>
        <p:spPr bwMode="auto">
          <a:xfrm>
            <a:off x="2987675" y="3932238"/>
            <a:ext cx="3024188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1500" i="1" dirty="0">
                <a:solidFill>
                  <a:srgbClr val="A50021"/>
                </a:solidFill>
              </a:rPr>
              <a:t>(gerar na saída valor ‘1’ se pelo menos 3 das 5 entradas estão a ‘1’; caso contrário gerar ‘0’)</a:t>
            </a:r>
            <a:endParaRPr lang="en-US" sz="1500" i="1" dirty="0">
              <a:solidFill>
                <a:srgbClr val="A50021"/>
              </a:solidFill>
            </a:endParaRPr>
          </a:p>
        </p:txBody>
      </p: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6156325" y="4646613"/>
            <a:ext cx="1030288" cy="366712"/>
            <a:chOff x="3878" y="2781"/>
            <a:chExt cx="649" cy="231"/>
          </a:xfrm>
        </p:grpSpPr>
        <p:sp>
          <p:nvSpPr>
            <p:cNvPr id="16394" name="Line 24"/>
            <p:cNvSpPr>
              <a:spLocks noChangeShapeType="1"/>
            </p:cNvSpPr>
            <p:nvPr/>
          </p:nvSpPr>
          <p:spPr bwMode="auto">
            <a:xfrm>
              <a:off x="3878" y="2929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5" name="Text Box 25"/>
            <p:cNvSpPr txBox="1">
              <a:spLocks noChangeArrowheads="1"/>
            </p:cNvSpPr>
            <p:nvPr/>
          </p:nvSpPr>
          <p:spPr bwMode="auto">
            <a:xfrm>
              <a:off x="4286" y="2781"/>
              <a:ext cx="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y</a:t>
              </a:r>
              <a:r>
                <a:rPr lang="pt-PT" baseline="-25000">
                  <a:solidFill>
                    <a:srgbClr val="A50021"/>
                  </a:solidFill>
                </a:rPr>
                <a:t>1</a:t>
              </a:r>
              <a:endParaRPr lang="en-US" baseline="-25000">
                <a:solidFill>
                  <a:srgbClr val="A50021"/>
                </a:solidFill>
              </a:endParaRPr>
            </a:p>
          </p:txBody>
        </p:sp>
      </p:grpSp>
      <p:sp>
        <p:nvSpPr>
          <p:cNvPr id="45082" name="Text Box 26"/>
          <p:cNvSpPr txBox="1">
            <a:spLocks noChangeArrowheads="1"/>
          </p:cNvSpPr>
          <p:nvPr/>
        </p:nvSpPr>
        <p:spPr bwMode="auto">
          <a:xfrm>
            <a:off x="2987675" y="5146675"/>
            <a:ext cx="3024188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1500" i="1" dirty="0">
                <a:solidFill>
                  <a:srgbClr val="A50021"/>
                </a:solidFill>
              </a:rPr>
              <a:t>(saída válida será gerada passados, no máximo, 2 </a:t>
            </a:r>
            <a:r>
              <a:rPr lang="pt-PT" sz="1500" i="1" dirty="0">
                <a:solidFill>
                  <a:srgbClr val="A50021"/>
                </a:solidFill>
                <a:sym typeface="Symbol" pitchFamily="18" charset="2"/>
              </a:rPr>
              <a:t></a:t>
            </a:r>
            <a:r>
              <a:rPr lang="pt-PT" sz="1500" i="1" dirty="0">
                <a:solidFill>
                  <a:srgbClr val="A50021"/>
                </a:solidFill>
              </a:rPr>
              <a:t>s após a receção de entradas válidas)</a:t>
            </a:r>
            <a:endParaRPr lang="en-US" sz="1500" i="1" dirty="0">
              <a:solidFill>
                <a:srgbClr val="A500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16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50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5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45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0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45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/>
      <p:bldP spid="45068" grpId="0" animBg="1"/>
      <p:bldP spid="45079" grpId="0"/>
      <p:bldP spid="4508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4103687" cy="5762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Álgebra de Boole</a:t>
            </a: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447675" y="908050"/>
            <a:ext cx="83724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Aft>
                <a:spcPct val="30000"/>
              </a:spcAft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Álgebra de Boole binária</a:t>
            </a:r>
            <a:r>
              <a:rPr lang="pt-PT">
                <a:solidFill>
                  <a:srgbClr val="003366"/>
                </a:solidFill>
              </a:rPr>
              <a:t> - é um instrumento matemático que permite descrever relações </a:t>
            </a: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funcionais</a:t>
            </a:r>
            <a:r>
              <a:rPr lang="pt-PT">
                <a:solidFill>
                  <a:srgbClr val="003366"/>
                </a:solidFill>
              </a:rPr>
              <a:t> entre as entradas e saídas de um circuito digital.</a:t>
            </a:r>
            <a:endParaRPr lang="en-US">
              <a:solidFill>
                <a:srgbClr val="003366"/>
              </a:solidFill>
            </a:endParaRPr>
          </a:p>
        </p:txBody>
      </p:sp>
      <p:sp>
        <p:nvSpPr>
          <p:cNvPr id="46101" name="Text Box 21"/>
          <p:cNvSpPr txBox="1">
            <a:spLocks noChangeArrowheads="1"/>
          </p:cNvSpPr>
          <p:nvPr/>
        </p:nvSpPr>
        <p:spPr bwMode="auto">
          <a:xfrm>
            <a:off x="539750" y="1957388"/>
            <a:ext cx="8372475" cy="305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spcAft>
                <a:spcPct val="30000"/>
              </a:spcAft>
              <a:tabLst>
                <a:tab pos="358775" algn="l"/>
              </a:tabLst>
            </a:pPr>
            <a:r>
              <a:rPr lang="pt-PT">
                <a:solidFill>
                  <a:srgbClr val="003366"/>
                </a:solidFill>
              </a:rPr>
              <a:t>Álgebra de Boole é uma estrutura matemática baseada num conjunto {B,+, </a:t>
            </a:r>
            <a:r>
              <a:rPr lang="pt-PT">
                <a:solidFill>
                  <a:srgbClr val="003366"/>
                </a:solidFill>
                <a:sym typeface="Symbol" pitchFamily="18" charset="2"/>
              </a:rPr>
              <a:t></a:t>
            </a:r>
            <a:r>
              <a:rPr lang="pt-PT">
                <a:solidFill>
                  <a:srgbClr val="003366"/>
                </a:solidFill>
              </a:rPr>
              <a:t>}, satisfazendo o seguinte conjunto de postulados:</a:t>
            </a:r>
          </a:p>
          <a:p>
            <a:pPr>
              <a:spcAft>
                <a:spcPct val="25000"/>
              </a:spcAft>
              <a:buFontTx/>
              <a:buAutoNum type="arabicPeriod"/>
              <a:tabLst>
                <a:tab pos="358775" algn="l"/>
              </a:tabLst>
            </a:pPr>
            <a:r>
              <a:rPr lang="pt-PT">
                <a:solidFill>
                  <a:srgbClr val="003366"/>
                </a:solidFill>
              </a:rPr>
              <a:t>   Fecho (as operações são fechadas em B</a:t>
            </a:r>
            <a:r>
              <a:rPr lang="en-US">
                <a:solidFill>
                  <a:srgbClr val="003366"/>
                </a:solidFill>
              </a:rPr>
              <a:t>)</a:t>
            </a:r>
            <a:endParaRPr lang="pt-PT">
              <a:solidFill>
                <a:srgbClr val="003366"/>
              </a:solidFill>
            </a:endParaRPr>
          </a:p>
          <a:p>
            <a:pPr>
              <a:spcAft>
                <a:spcPct val="25000"/>
              </a:spcAft>
              <a:buFontTx/>
              <a:buAutoNum type="arabicPeriod"/>
              <a:tabLst>
                <a:tab pos="358775" algn="l"/>
              </a:tabLst>
            </a:pPr>
            <a:r>
              <a:rPr lang="pt-PT">
                <a:solidFill>
                  <a:srgbClr val="003366"/>
                </a:solidFill>
              </a:rPr>
              <a:t>   Comutatividade</a:t>
            </a:r>
          </a:p>
          <a:p>
            <a:pPr>
              <a:spcAft>
                <a:spcPct val="25000"/>
              </a:spcAft>
              <a:buFontTx/>
              <a:buAutoNum type="arabicPeriod"/>
              <a:tabLst>
                <a:tab pos="358775" algn="l"/>
              </a:tabLst>
            </a:pPr>
            <a:r>
              <a:rPr lang="pt-PT">
                <a:solidFill>
                  <a:srgbClr val="003366"/>
                </a:solidFill>
              </a:rPr>
              <a:t>   Elementos neutros</a:t>
            </a:r>
          </a:p>
          <a:p>
            <a:pPr>
              <a:spcAft>
                <a:spcPct val="25000"/>
              </a:spcAft>
              <a:buFontTx/>
              <a:buAutoNum type="arabicPeriod"/>
              <a:tabLst>
                <a:tab pos="358775" algn="l"/>
              </a:tabLst>
            </a:pPr>
            <a:r>
              <a:rPr lang="pt-PT">
                <a:solidFill>
                  <a:srgbClr val="003366"/>
                </a:solidFill>
              </a:rPr>
              <a:t>   Distributividade mútua</a:t>
            </a:r>
          </a:p>
          <a:p>
            <a:pPr>
              <a:spcAft>
                <a:spcPct val="25000"/>
              </a:spcAft>
              <a:buFontTx/>
              <a:buAutoNum type="arabicPeriod"/>
              <a:tabLst>
                <a:tab pos="358775" algn="l"/>
              </a:tabLst>
            </a:pPr>
            <a:r>
              <a:rPr lang="pt-PT">
                <a:solidFill>
                  <a:srgbClr val="003366"/>
                </a:solidFill>
              </a:rPr>
              <a:t>   Complementação</a:t>
            </a:r>
          </a:p>
          <a:p>
            <a:pPr>
              <a:spcAft>
                <a:spcPct val="25000"/>
              </a:spcAft>
              <a:buFontTx/>
              <a:buAutoNum type="arabicPeriod"/>
              <a:tabLst>
                <a:tab pos="358775" algn="l"/>
              </a:tabLst>
            </a:pPr>
            <a:r>
              <a:rPr lang="pt-PT">
                <a:solidFill>
                  <a:srgbClr val="003366"/>
                </a:solidFill>
              </a:rPr>
              <a:t>   Cardinalidade</a:t>
            </a:r>
            <a:endParaRPr lang="en-US">
              <a:solidFill>
                <a:srgbClr val="003366"/>
              </a:solidFill>
            </a:endParaRPr>
          </a:p>
          <a:p>
            <a:pPr>
              <a:spcAft>
                <a:spcPct val="25000"/>
              </a:spcAft>
              <a:buFontTx/>
              <a:buAutoNum type="arabicPeriod"/>
              <a:tabLst>
                <a:tab pos="358775" algn="l"/>
              </a:tabLst>
            </a:pPr>
            <a:endParaRPr lang="pt-PT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62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46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4610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2735262" cy="3603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Postulados</a:t>
            </a:r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395288" y="1125538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P1</a:t>
            </a:r>
            <a:r>
              <a:rPr lang="pt-PT"/>
              <a:t> </a:t>
            </a:r>
            <a:r>
              <a:rPr lang="pt-PT">
                <a:solidFill>
                  <a:srgbClr val="003366"/>
                </a:solidFill>
              </a:rPr>
              <a:t>- </a:t>
            </a:r>
            <a:r>
              <a:rPr lang="pt-PT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fecho</a:t>
            </a:r>
            <a:r>
              <a:rPr lang="pt-PT">
                <a:solidFill>
                  <a:srgbClr val="003366"/>
                </a:solidFill>
              </a:rPr>
              <a:t>: ambas as operações são fechadas em B: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endParaRPr lang="pt-PT"/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endParaRPr lang="pt-PT"/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7111" name="Object 7"/>
          <p:cNvGraphicFramePr>
            <a:graphicFrameLocks noChangeAspect="1"/>
          </p:cNvGraphicFramePr>
          <p:nvPr/>
        </p:nvGraphicFramePr>
        <p:xfrm>
          <a:off x="2889250" y="1568450"/>
          <a:ext cx="293211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1536480" imgH="482400" progId="Equation.3">
                  <p:embed/>
                </p:oleObj>
              </mc:Choice>
              <mc:Fallback>
                <p:oleObj name="Equation" r:id="rId4" imgW="1536480" imgH="482400" progId="Equation.3">
                  <p:embed/>
                  <p:pic>
                    <p:nvPicPr>
                      <p:cNvPr id="471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1568450"/>
                        <a:ext cx="2932113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Rectangle 9"/>
          <p:cNvSpPr>
            <a:spLocks noChangeArrowheads="1"/>
          </p:cNvSpPr>
          <p:nvPr/>
        </p:nvSpPr>
        <p:spPr bwMode="auto">
          <a:xfrm>
            <a:off x="395288" y="2781300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P2</a:t>
            </a:r>
            <a:r>
              <a:rPr lang="pt-PT"/>
              <a:t> </a:t>
            </a:r>
            <a:r>
              <a:rPr lang="pt-PT">
                <a:solidFill>
                  <a:srgbClr val="003366"/>
                </a:solidFill>
              </a:rPr>
              <a:t>- </a:t>
            </a:r>
            <a:r>
              <a:rPr lang="pt-PT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comutatividade</a:t>
            </a:r>
            <a:endParaRPr lang="pt-PT" sz="2000"/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endParaRPr lang="en-US"/>
          </a:p>
        </p:txBody>
      </p:sp>
      <p:sp>
        <p:nvSpPr>
          <p:cNvPr id="1034" name="Rectangle 11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7114" name="Object 10"/>
          <p:cNvGraphicFramePr>
            <a:graphicFrameLocks noChangeAspect="1"/>
          </p:cNvGraphicFramePr>
          <p:nvPr/>
        </p:nvGraphicFramePr>
        <p:xfrm>
          <a:off x="2843213" y="3121025"/>
          <a:ext cx="3816350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6" imgW="1638300" imgH="419100" progId="Equation.3">
                  <p:embed/>
                </p:oleObj>
              </mc:Choice>
              <mc:Fallback>
                <p:oleObj name="Equation" r:id="rId6" imgW="1638300" imgH="419100" progId="Equation.3">
                  <p:embed/>
                  <p:pic>
                    <p:nvPicPr>
                      <p:cNvPr id="4711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121025"/>
                        <a:ext cx="3816350" cy="976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6" name="Rectangle 12"/>
          <p:cNvSpPr>
            <a:spLocks noChangeArrowheads="1"/>
          </p:cNvSpPr>
          <p:nvPr/>
        </p:nvSpPr>
        <p:spPr bwMode="auto">
          <a:xfrm>
            <a:off x="395288" y="4437063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P3</a:t>
            </a:r>
            <a:r>
              <a:rPr lang="pt-PT"/>
              <a:t> </a:t>
            </a:r>
            <a:r>
              <a:rPr lang="pt-PT">
                <a:solidFill>
                  <a:srgbClr val="003366"/>
                </a:solidFill>
              </a:rPr>
              <a:t>– </a:t>
            </a:r>
            <a:r>
              <a:rPr lang="pt-PT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elementos neutros</a:t>
            </a:r>
            <a:endParaRPr lang="pt-PT" sz="2000"/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endParaRPr lang="pt-PT"/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endParaRPr lang="en-US"/>
          </a:p>
        </p:txBody>
      </p:sp>
      <p:sp>
        <p:nvSpPr>
          <p:cNvPr id="1036" name="Rectangle 14"/>
          <p:cNvSpPr>
            <a:spLocks noChangeArrowheads="1"/>
          </p:cNvSpPr>
          <p:nvPr/>
        </p:nvSpPr>
        <p:spPr bwMode="auto">
          <a:xfrm>
            <a:off x="0" y="3190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71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506200"/>
              </p:ext>
            </p:extLst>
          </p:nvPr>
        </p:nvGraphicFramePr>
        <p:xfrm>
          <a:off x="2808288" y="4967288"/>
          <a:ext cx="3240087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8" imgW="1333440" imgH="431640" progId="Equation.3">
                  <p:embed/>
                </p:oleObj>
              </mc:Choice>
              <mc:Fallback>
                <p:oleObj name="Equation" r:id="rId8" imgW="1333440" imgH="431640" progId="Equation.3">
                  <p:embed/>
                  <p:pic>
                    <p:nvPicPr>
                      <p:cNvPr id="471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288" y="4967288"/>
                        <a:ext cx="3240087" cy="1042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170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7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47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/>
      <p:bldP spid="47113" grpId="0"/>
      <p:bldP spid="471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4248150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Postulados (cont.)</a:t>
            </a: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395288" y="1125538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P4</a:t>
            </a:r>
            <a:r>
              <a:rPr lang="pt-PT"/>
              <a:t> </a:t>
            </a:r>
            <a:r>
              <a:rPr lang="pt-PT">
                <a:solidFill>
                  <a:srgbClr val="003366"/>
                </a:solidFill>
              </a:rPr>
              <a:t>– </a:t>
            </a:r>
            <a:r>
              <a:rPr lang="pt-PT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distributividade mútua</a:t>
            </a:r>
            <a:endParaRPr lang="pt-PT">
              <a:solidFill>
                <a:srgbClr val="003366"/>
              </a:solidFill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endParaRPr lang="pt-PT"/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endParaRPr lang="pt-PT"/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endParaRPr lang="en-US"/>
          </a:p>
        </p:txBody>
      </p:sp>
      <p:sp>
        <p:nvSpPr>
          <p:cNvPr id="2056" name="Rectangle 4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395288" y="3213100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P5</a:t>
            </a:r>
            <a:r>
              <a:rPr lang="pt-PT"/>
              <a:t> </a:t>
            </a:r>
            <a:r>
              <a:rPr lang="pt-PT">
                <a:solidFill>
                  <a:srgbClr val="003366"/>
                </a:solidFill>
              </a:rPr>
              <a:t>- </a:t>
            </a:r>
            <a:r>
              <a:rPr lang="pt-PT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complementação</a:t>
            </a:r>
            <a:endParaRPr lang="pt-PT" sz="2000"/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endParaRPr lang="en-US"/>
          </a:p>
        </p:txBody>
      </p:sp>
      <p:sp>
        <p:nvSpPr>
          <p:cNvPr id="2058" name="Rectangle 7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137" name="Rectangle 9"/>
          <p:cNvSpPr>
            <a:spLocks noChangeArrowheads="1"/>
          </p:cNvSpPr>
          <p:nvPr/>
        </p:nvSpPr>
        <p:spPr bwMode="auto">
          <a:xfrm>
            <a:off x="395288" y="4797425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P6</a:t>
            </a:r>
            <a:r>
              <a:rPr lang="pt-PT"/>
              <a:t> </a:t>
            </a:r>
            <a:r>
              <a:rPr lang="pt-PT">
                <a:solidFill>
                  <a:srgbClr val="003366"/>
                </a:solidFill>
              </a:rPr>
              <a:t>– </a:t>
            </a:r>
            <a:r>
              <a:rPr lang="pt-PT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cardinalidade</a:t>
            </a:r>
            <a:endParaRPr lang="en-US" sz="2000"/>
          </a:p>
        </p:txBody>
      </p:sp>
      <p:sp>
        <p:nvSpPr>
          <p:cNvPr id="2060" name="Rectangle 10"/>
          <p:cNvSpPr>
            <a:spLocks noChangeArrowheads="1"/>
          </p:cNvSpPr>
          <p:nvPr/>
        </p:nvSpPr>
        <p:spPr bwMode="auto">
          <a:xfrm>
            <a:off x="0" y="3190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8140" name="Object 12"/>
          <p:cNvGraphicFramePr>
            <a:graphicFrameLocks noChangeAspect="1"/>
          </p:cNvGraphicFramePr>
          <p:nvPr/>
        </p:nvGraphicFramePr>
        <p:xfrm>
          <a:off x="2051050" y="1636713"/>
          <a:ext cx="4968875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2222500" imgH="546100" progId="Equation.3">
                  <p:embed/>
                </p:oleObj>
              </mc:Choice>
              <mc:Fallback>
                <p:oleObj name="Equation" r:id="rId4" imgW="2222500" imgH="546100" progId="Equation.3">
                  <p:embed/>
                  <p:pic>
                    <p:nvPicPr>
                      <p:cNvPr id="4814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636713"/>
                        <a:ext cx="4968875" cy="1216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567836"/>
              </p:ext>
            </p:extLst>
          </p:nvPr>
        </p:nvGraphicFramePr>
        <p:xfrm>
          <a:off x="2259013" y="3551238"/>
          <a:ext cx="3906837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6" imgW="1650960" imgH="507960" progId="Equation.3">
                  <p:embed/>
                </p:oleObj>
              </mc:Choice>
              <mc:Fallback>
                <p:oleObj name="Equation" r:id="rId6" imgW="1650960" imgH="507960" progId="Equation.3">
                  <p:embed/>
                  <p:pic>
                    <p:nvPicPr>
                      <p:cNvPr id="4814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013" y="3551238"/>
                        <a:ext cx="3906837" cy="120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4" name="Object 16"/>
          <p:cNvGraphicFramePr>
            <a:graphicFrameLocks noChangeAspect="1"/>
          </p:cNvGraphicFramePr>
          <p:nvPr/>
        </p:nvGraphicFramePr>
        <p:xfrm>
          <a:off x="2627313" y="5322888"/>
          <a:ext cx="338455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8" imgW="922020" imgH="152400" progId="Equation.3">
                  <p:embed/>
                </p:oleObj>
              </mc:Choice>
              <mc:Fallback>
                <p:oleObj name="Equation" r:id="rId8" imgW="922020" imgH="152400" progId="Equation.3">
                  <p:embed/>
                  <p:pic>
                    <p:nvPicPr>
                      <p:cNvPr id="4814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322888"/>
                        <a:ext cx="3384550" cy="554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290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8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48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8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8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48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8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48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/>
      <p:bldP spid="48134" grpId="0"/>
      <p:bldP spid="481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5759450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Álgebra de Boole binária</a:t>
            </a: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466725" y="1052513"/>
            <a:ext cx="770567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 dirty="0">
                <a:solidFill>
                  <a:srgbClr val="003366"/>
                </a:solidFill>
              </a:rPr>
              <a:t>Se #B = 2, temos álgebra de Boole a dois </a:t>
            </a:r>
            <a:r>
              <a:rPr lang="pt-PT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valores</a:t>
            </a:r>
            <a:r>
              <a:rPr lang="pt-PT" dirty="0">
                <a:solidFill>
                  <a:srgbClr val="003366"/>
                </a:solidFill>
              </a:rPr>
              <a:t> (B={</a:t>
            </a: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pt-PT">
                <a:solidFill>
                  <a:srgbClr val="003366"/>
                </a:solidFill>
              </a:rPr>
              <a:t>,</a:t>
            </a: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pt-PT">
                <a:solidFill>
                  <a:srgbClr val="003366"/>
                </a:solidFill>
              </a:rPr>
              <a:t>}).</a:t>
            </a:r>
            <a:endParaRPr lang="en-US" dirty="0">
              <a:solidFill>
                <a:srgbClr val="003366"/>
              </a:solidFill>
            </a:endParaRPr>
          </a:p>
        </p:txBody>
      </p:sp>
      <p:sp>
        <p:nvSpPr>
          <p:cNvPr id="3079" name="Rectangle 4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80" name="Rectangle 6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9173" name="Object 21"/>
          <p:cNvGraphicFramePr>
            <a:graphicFrameLocks noChangeAspect="1"/>
          </p:cNvGraphicFramePr>
          <p:nvPr/>
        </p:nvGraphicFramePr>
        <p:xfrm>
          <a:off x="1179513" y="2297113"/>
          <a:ext cx="6345237" cy="170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Document" r:id="rId4" imgW="6211080" imgH="4067280" progId="Word.Document.8">
                  <p:embed/>
                </p:oleObj>
              </mc:Choice>
              <mc:Fallback>
                <p:oleObj name="Document" r:id="rId4" imgW="6211080" imgH="4067280" progId="Word.Document.8">
                  <p:embed/>
                  <p:pic>
                    <p:nvPicPr>
                      <p:cNvPr id="4917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1592" r="17389" b="70808"/>
                      <a:stretch>
                        <a:fillRect/>
                      </a:stretch>
                    </p:blipFill>
                    <p:spPr bwMode="auto">
                      <a:xfrm>
                        <a:off x="1179513" y="2297113"/>
                        <a:ext cx="6345237" cy="170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4" name="Rectangle 22"/>
          <p:cNvSpPr>
            <a:spLocks noChangeArrowheads="1"/>
          </p:cNvSpPr>
          <p:nvPr/>
        </p:nvSpPr>
        <p:spPr bwMode="auto">
          <a:xfrm>
            <a:off x="468313" y="1746250"/>
            <a:ext cx="6481762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Operadores:</a:t>
            </a:r>
            <a:endParaRPr lang="en-US">
              <a:solidFill>
                <a:srgbClr val="003366"/>
              </a:solidFill>
            </a:endParaRPr>
          </a:p>
        </p:txBody>
      </p:sp>
      <p:sp>
        <p:nvSpPr>
          <p:cNvPr id="49175" name="Rectangle 23"/>
          <p:cNvSpPr>
            <a:spLocks noChangeArrowheads="1"/>
          </p:cNvSpPr>
          <p:nvPr/>
        </p:nvSpPr>
        <p:spPr bwMode="auto">
          <a:xfrm>
            <a:off x="468313" y="4481513"/>
            <a:ext cx="81359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Expressões </a:t>
            </a:r>
            <a:r>
              <a:rPr lang="pt-PT">
                <a:solidFill>
                  <a:srgbClr val="003366"/>
                </a:solidFill>
              </a:rPr>
              <a:t>- conjunto de variáveis e/ou constantes 0 e 1 associadas por operadores</a:t>
            </a:r>
            <a:endParaRPr lang="en-US">
              <a:solidFill>
                <a:srgbClr val="003366"/>
              </a:solidFill>
            </a:endParaRPr>
          </a:p>
        </p:txBody>
      </p:sp>
      <p:graphicFrame>
        <p:nvGraphicFramePr>
          <p:cNvPr id="49176" name="Object 24"/>
          <p:cNvGraphicFramePr>
            <a:graphicFrameLocks noChangeAspect="1"/>
          </p:cNvGraphicFramePr>
          <p:nvPr/>
        </p:nvGraphicFramePr>
        <p:xfrm>
          <a:off x="3419475" y="5202238"/>
          <a:ext cx="122396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6" imgW="507960" imgH="190440" progId="Equation.3">
                  <p:embed/>
                </p:oleObj>
              </mc:Choice>
              <mc:Fallback>
                <p:oleObj name="Equation" r:id="rId6" imgW="507960" imgH="190440" progId="Equation.3">
                  <p:embed/>
                  <p:pic>
                    <p:nvPicPr>
                      <p:cNvPr id="4917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5202238"/>
                        <a:ext cx="1223963" cy="458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664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9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9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decel="100000" fill="hold"/>
                                        <p:tgtEl>
                                          <p:spTgt spid="49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9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9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decel="100000" fill="hold"/>
                                        <p:tgtEl>
                                          <p:spTgt spid="49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9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/>
      <p:bldP spid="49174" grpId="0"/>
      <p:bldP spid="491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2519362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Teoremas</a:t>
            </a:r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466725" y="1052513"/>
            <a:ext cx="496887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Idempotência   </a:t>
            </a:r>
            <a:r>
              <a:rPr lang="pt-PT">
                <a:solidFill>
                  <a:srgbClr val="003366"/>
                </a:solidFill>
                <a:sym typeface="Symbol" pitchFamily="18" charset="2"/>
              </a:rPr>
              <a:t></a:t>
            </a:r>
            <a:r>
              <a:rPr lang="en-US">
                <a:solidFill>
                  <a:srgbClr val="003366"/>
                </a:solidFill>
              </a:rPr>
              <a:t>b</a:t>
            </a:r>
            <a:r>
              <a:rPr lang="pt-PT">
                <a:solidFill>
                  <a:srgbClr val="003366"/>
                </a:solidFill>
                <a:sym typeface="Symbol" pitchFamily="18" charset="2"/>
              </a:rPr>
              <a:t>B   b  b = b e b + b = b</a:t>
            </a: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0193" name="Rectangle 17"/>
          <p:cNvSpPr>
            <a:spLocks noChangeArrowheads="1"/>
          </p:cNvSpPr>
          <p:nvPr/>
        </p:nvSpPr>
        <p:spPr bwMode="auto">
          <a:xfrm>
            <a:off x="466725" y="3357563"/>
            <a:ext cx="6481763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Unicidade do elemento neutro</a:t>
            </a:r>
            <a:r>
              <a:rPr lang="en-US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323850" y="3862388"/>
            <a:ext cx="6259513" cy="1714500"/>
            <a:chOff x="204" y="2433"/>
            <a:chExt cx="3943" cy="1080"/>
          </a:xfrm>
        </p:grpSpPr>
        <p:sp>
          <p:nvSpPr>
            <p:cNvPr id="18448" name="Text Box 18"/>
            <p:cNvSpPr txBox="1">
              <a:spLocks noChangeArrowheads="1"/>
            </p:cNvSpPr>
            <p:nvPr/>
          </p:nvSpPr>
          <p:spPr bwMode="auto">
            <a:xfrm>
              <a:off x="204" y="2433"/>
              <a:ext cx="285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179388" lvl="1">
                <a:spcBef>
                  <a:spcPct val="20000"/>
                </a:spcBef>
              </a:pPr>
              <a:r>
                <a:rPr lang="pt-PT" dirty="0"/>
                <a:t>Sejam 0</a:t>
              </a:r>
              <a:r>
                <a:rPr lang="pt-PT" baseline="-25000" dirty="0"/>
                <a:t>a</a:t>
              </a:r>
              <a:r>
                <a:rPr lang="pt-PT" dirty="0"/>
                <a:t> e 0</a:t>
              </a:r>
              <a:r>
                <a:rPr lang="pt-PT" baseline="-25000" dirty="0"/>
                <a:t>b</a:t>
              </a:r>
              <a:r>
                <a:rPr lang="pt-PT" dirty="0"/>
                <a:t> tal que b + 0</a:t>
              </a:r>
              <a:r>
                <a:rPr lang="pt-PT" baseline="-25000" dirty="0"/>
                <a:t>a</a:t>
              </a:r>
              <a:r>
                <a:rPr lang="pt-PT" dirty="0"/>
                <a:t> = b + 0</a:t>
              </a:r>
              <a:r>
                <a:rPr lang="pt-PT" baseline="-25000" dirty="0"/>
                <a:t>b</a:t>
              </a:r>
              <a:r>
                <a:rPr lang="pt-PT" dirty="0"/>
                <a:t> = b</a:t>
              </a:r>
            </a:p>
          </p:txBody>
        </p:sp>
        <p:sp>
          <p:nvSpPr>
            <p:cNvPr id="18449" name="Text Box 19"/>
            <p:cNvSpPr txBox="1">
              <a:spLocks noChangeArrowheads="1"/>
            </p:cNvSpPr>
            <p:nvPr/>
          </p:nvSpPr>
          <p:spPr bwMode="auto">
            <a:xfrm>
              <a:off x="1597" y="2750"/>
              <a:ext cx="14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/>
                <a:t>0</a:t>
              </a:r>
              <a:r>
                <a:rPr lang="pt-PT" baseline="-25000" dirty="0"/>
                <a:t>a</a:t>
              </a:r>
              <a:r>
                <a:rPr lang="pt-PT" dirty="0"/>
                <a:t> + 0</a:t>
              </a:r>
              <a:r>
                <a:rPr lang="pt-PT" baseline="-25000" dirty="0"/>
                <a:t>b</a:t>
              </a:r>
              <a:r>
                <a:rPr lang="pt-PT" dirty="0"/>
                <a:t> = 0</a:t>
              </a:r>
              <a:r>
                <a:rPr lang="pt-PT" baseline="-25000" dirty="0"/>
                <a:t>a</a:t>
              </a:r>
              <a:r>
                <a:rPr lang="pt-PT" dirty="0"/>
                <a:t>	</a:t>
              </a:r>
              <a:r>
                <a:rPr lang="pt-PT" dirty="0">
                  <a:solidFill>
                    <a:srgbClr val="A50021"/>
                  </a:solidFill>
                </a:rPr>
                <a:t>P3</a:t>
              </a:r>
              <a:endParaRPr lang="en-US" dirty="0">
                <a:solidFill>
                  <a:srgbClr val="A50021"/>
                </a:solidFill>
              </a:endParaRPr>
            </a:p>
          </p:txBody>
        </p:sp>
        <p:sp>
          <p:nvSpPr>
            <p:cNvPr id="18450" name="Text Box 20"/>
            <p:cNvSpPr txBox="1">
              <a:spLocks noChangeArrowheads="1"/>
            </p:cNvSpPr>
            <p:nvPr/>
          </p:nvSpPr>
          <p:spPr bwMode="auto">
            <a:xfrm>
              <a:off x="1610" y="3006"/>
              <a:ext cx="14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/>
                <a:t>0</a:t>
              </a:r>
              <a:r>
                <a:rPr lang="pt-PT" baseline="-25000" dirty="0"/>
                <a:t>b</a:t>
              </a:r>
              <a:r>
                <a:rPr lang="pt-PT" dirty="0"/>
                <a:t> + 0</a:t>
              </a:r>
              <a:r>
                <a:rPr lang="pt-PT" baseline="-25000" dirty="0"/>
                <a:t>a</a:t>
              </a:r>
              <a:r>
                <a:rPr lang="pt-PT" dirty="0"/>
                <a:t> = 0</a:t>
              </a:r>
              <a:r>
                <a:rPr lang="pt-PT" baseline="-25000" dirty="0"/>
                <a:t>b</a:t>
              </a:r>
              <a:r>
                <a:rPr lang="pt-PT" dirty="0"/>
                <a:t>	</a:t>
              </a:r>
              <a:r>
                <a:rPr lang="pt-PT" dirty="0">
                  <a:solidFill>
                    <a:srgbClr val="A50021"/>
                  </a:solidFill>
                </a:rPr>
                <a:t>P3</a:t>
              </a:r>
              <a:endParaRPr lang="en-US" dirty="0">
                <a:solidFill>
                  <a:srgbClr val="A50021"/>
                </a:solidFill>
              </a:endParaRPr>
            </a:p>
          </p:txBody>
        </p:sp>
        <p:sp>
          <p:nvSpPr>
            <p:cNvPr id="18451" name="Text Box 21"/>
            <p:cNvSpPr txBox="1">
              <a:spLocks noChangeArrowheads="1"/>
            </p:cNvSpPr>
            <p:nvPr/>
          </p:nvSpPr>
          <p:spPr bwMode="auto">
            <a:xfrm>
              <a:off x="1610" y="3282"/>
              <a:ext cx="14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/>
                <a:t>0</a:t>
              </a:r>
              <a:r>
                <a:rPr lang="pt-PT" baseline="-25000" dirty="0"/>
                <a:t>a</a:t>
              </a:r>
              <a:r>
                <a:rPr lang="pt-PT" dirty="0"/>
                <a:t> + 0</a:t>
              </a:r>
              <a:r>
                <a:rPr lang="pt-PT" baseline="-25000" dirty="0"/>
                <a:t>b</a:t>
              </a:r>
              <a:r>
                <a:rPr lang="pt-PT" dirty="0"/>
                <a:t> = 0</a:t>
              </a:r>
              <a:r>
                <a:rPr lang="pt-PT" baseline="-25000" dirty="0"/>
                <a:t>b</a:t>
              </a:r>
              <a:r>
                <a:rPr lang="pt-PT" dirty="0"/>
                <a:t>	</a:t>
              </a:r>
              <a:r>
                <a:rPr lang="pt-PT" dirty="0">
                  <a:solidFill>
                    <a:srgbClr val="A50021"/>
                  </a:solidFill>
                </a:rPr>
                <a:t>P2</a:t>
              </a:r>
              <a:endParaRPr lang="en-US" dirty="0">
                <a:solidFill>
                  <a:srgbClr val="A50021"/>
                </a:solidFill>
              </a:endParaRPr>
            </a:p>
          </p:txBody>
        </p:sp>
        <p:sp>
          <p:nvSpPr>
            <p:cNvPr id="18452" name="Text Box 22"/>
            <p:cNvSpPr txBox="1">
              <a:spLocks noChangeArrowheads="1"/>
            </p:cNvSpPr>
            <p:nvPr/>
          </p:nvSpPr>
          <p:spPr bwMode="auto">
            <a:xfrm>
              <a:off x="3386" y="3010"/>
              <a:ext cx="76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/>
                <a:t>=&gt; 0</a:t>
              </a:r>
              <a:r>
                <a:rPr lang="pt-PT" baseline="-25000" dirty="0"/>
                <a:t>a</a:t>
              </a:r>
              <a:r>
                <a:rPr lang="pt-PT" dirty="0"/>
                <a:t> = 0</a:t>
              </a:r>
              <a:r>
                <a:rPr lang="pt-PT" baseline="-25000" dirty="0"/>
                <a:t>b</a:t>
              </a:r>
              <a:endParaRPr lang="en-US" dirty="0">
                <a:solidFill>
                  <a:srgbClr val="A50021"/>
                </a:solidFill>
              </a:endParaRPr>
            </a:p>
          </p:txBody>
        </p:sp>
      </p:grpSp>
      <p:sp>
        <p:nvSpPr>
          <p:cNvPr id="18440" name="Rectangle 24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1908175" y="1766888"/>
            <a:ext cx="5795963" cy="654050"/>
            <a:chOff x="1202" y="1113"/>
            <a:chExt cx="3651" cy="412"/>
          </a:xfrm>
        </p:grpSpPr>
        <p:sp>
          <p:nvSpPr>
            <p:cNvPr id="18442" name="Text Box 27"/>
            <p:cNvSpPr txBox="1">
              <a:spLocks noChangeArrowheads="1"/>
            </p:cNvSpPr>
            <p:nvPr/>
          </p:nvSpPr>
          <p:spPr bwMode="auto">
            <a:xfrm>
              <a:off x="1202" y="1294"/>
              <a:ext cx="36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/>
                <a:t>b </a:t>
              </a:r>
              <a:r>
                <a:rPr lang="pt-PT" dirty="0">
                  <a:sym typeface="Symbol" pitchFamily="18" charset="2"/>
                </a:rPr>
                <a:t> b = b  b + 0 = b  b + b </a:t>
              </a:r>
              <a:r>
                <a:rPr lang="en-US" dirty="0">
                  <a:latin typeface="Times" pitchFamily="18" charset="0"/>
                  <a:sym typeface="Symbol" pitchFamily="18" charset="2"/>
                </a:rPr>
                <a:t>b = </a:t>
              </a:r>
              <a:r>
                <a:rPr lang="pt-PT" dirty="0">
                  <a:sym typeface="Symbol" pitchFamily="18" charset="2"/>
                </a:rPr>
                <a:t>b  (b + </a:t>
              </a:r>
              <a:r>
                <a:rPr lang="en-US" dirty="0">
                  <a:sym typeface="Symbol" pitchFamily="18" charset="2"/>
                </a:rPr>
                <a:t>b) = </a:t>
              </a:r>
              <a:r>
                <a:rPr lang="pt-PT" dirty="0">
                  <a:sym typeface="Symbol" pitchFamily="18" charset="2"/>
                </a:rPr>
                <a:t>b  1 = b</a:t>
              </a:r>
              <a:r>
                <a:rPr lang="en-US" dirty="0">
                  <a:sym typeface="Symbol" pitchFamily="18" charset="2"/>
                </a:rPr>
                <a:t> </a:t>
              </a:r>
              <a:endParaRPr lang="pt-PT" dirty="0">
                <a:sym typeface="Symbol" pitchFamily="18" charset="2"/>
              </a:endParaRPr>
            </a:p>
          </p:txBody>
        </p:sp>
        <p:sp>
          <p:nvSpPr>
            <p:cNvPr id="18443" name="Text Box 28"/>
            <p:cNvSpPr txBox="1">
              <a:spLocks noChangeArrowheads="1"/>
            </p:cNvSpPr>
            <p:nvPr/>
          </p:nvSpPr>
          <p:spPr bwMode="auto">
            <a:xfrm>
              <a:off x="1474" y="1113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P3</a:t>
              </a:r>
              <a:endParaRPr lang="en-US">
                <a:solidFill>
                  <a:srgbClr val="A50021"/>
                </a:solidFill>
              </a:endParaRPr>
            </a:p>
          </p:txBody>
        </p:sp>
        <p:sp>
          <p:nvSpPr>
            <p:cNvPr id="18444" name="Text Box 29"/>
            <p:cNvSpPr txBox="1">
              <a:spLocks noChangeArrowheads="1"/>
            </p:cNvSpPr>
            <p:nvPr/>
          </p:nvSpPr>
          <p:spPr bwMode="auto">
            <a:xfrm>
              <a:off x="2148" y="1117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>
                  <a:solidFill>
                    <a:srgbClr val="A50021"/>
                  </a:solidFill>
                </a:rPr>
                <a:t>P5</a:t>
              </a:r>
              <a:endParaRPr lang="en-US" dirty="0">
                <a:solidFill>
                  <a:srgbClr val="A50021"/>
                </a:solidFill>
              </a:endParaRPr>
            </a:p>
          </p:txBody>
        </p:sp>
        <p:sp>
          <p:nvSpPr>
            <p:cNvPr id="18445" name="Text Box 30"/>
            <p:cNvSpPr txBox="1">
              <a:spLocks noChangeArrowheads="1"/>
            </p:cNvSpPr>
            <p:nvPr/>
          </p:nvSpPr>
          <p:spPr bwMode="auto">
            <a:xfrm>
              <a:off x="3045" y="1117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>
                  <a:solidFill>
                    <a:srgbClr val="A50021"/>
                  </a:solidFill>
                </a:rPr>
                <a:t>P4</a:t>
              </a:r>
              <a:endParaRPr lang="en-US" dirty="0">
                <a:solidFill>
                  <a:srgbClr val="A50021"/>
                </a:solidFill>
              </a:endParaRPr>
            </a:p>
          </p:txBody>
        </p:sp>
        <p:sp>
          <p:nvSpPr>
            <p:cNvPr id="18446" name="Text Box 31"/>
            <p:cNvSpPr txBox="1">
              <a:spLocks noChangeArrowheads="1"/>
            </p:cNvSpPr>
            <p:nvPr/>
          </p:nvSpPr>
          <p:spPr bwMode="auto">
            <a:xfrm>
              <a:off x="3900" y="1117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>
                  <a:solidFill>
                    <a:srgbClr val="A50021"/>
                  </a:solidFill>
                </a:rPr>
                <a:t>P5</a:t>
              </a:r>
              <a:endParaRPr lang="en-US" dirty="0">
                <a:solidFill>
                  <a:srgbClr val="A50021"/>
                </a:solidFill>
              </a:endParaRPr>
            </a:p>
          </p:txBody>
        </p:sp>
        <p:sp>
          <p:nvSpPr>
            <p:cNvPr id="18447" name="Text Box 32"/>
            <p:cNvSpPr txBox="1">
              <a:spLocks noChangeArrowheads="1"/>
            </p:cNvSpPr>
            <p:nvPr/>
          </p:nvSpPr>
          <p:spPr bwMode="auto">
            <a:xfrm>
              <a:off x="4364" y="1117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>
                  <a:solidFill>
                    <a:srgbClr val="A50021"/>
                  </a:solidFill>
                </a:rPr>
                <a:t>P3</a:t>
              </a:r>
              <a:endParaRPr lang="en-US" dirty="0">
                <a:solidFill>
                  <a:srgbClr val="A5002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930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/>
      <p:bldP spid="5019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4248150" cy="5762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Teoremas (cont.)</a:t>
            </a: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466725" y="1700213"/>
            <a:ext cx="59055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Elemento absorvente   </a:t>
            </a:r>
            <a:r>
              <a:rPr lang="pt-PT" dirty="0">
                <a:solidFill>
                  <a:srgbClr val="003366"/>
                </a:solidFill>
                <a:sym typeface="Symbol" pitchFamily="18" charset="2"/>
              </a:rPr>
              <a:t></a:t>
            </a:r>
            <a:r>
              <a:rPr lang="en-US" dirty="0">
                <a:solidFill>
                  <a:srgbClr val="003366"/>
                </a:solidFill>
              </a:rPr>
              <a:t>b</a:t>
            </a:r>
            <a:r>
              <a:rPr lang="pt-PT" dirty="0">
                <a:solidFill>
                  <a:srgbClr val="003366"/>
                </a:solidFill>
                <a:sym typeface="Symbol" pitchFamily="18" charset="2"/>
              </a:rPr>
              <a:t>B   b  0 = 0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pt-PT" dirty="0">
                <a:solidFill>
                  <a:srgbClr val="003366"/>
                </a:solidFill>
                <a:sym typeface="Symbol" pitchFamily="18" charset="2"/>
              </a:rPr>
              <a:t>                                                  b + 1 = 1</a:t>
            </a:r>
            <a:endParaRPr lang="pt-PT" baseline="-25000" dirty="0">
              <a:solidFill>
                <a:srgbClr val="003366"/>
              </a:solidFill>
              <a:sym typeface="Symbol" pitchFamily="18" charset="2"/>
            </a:endParaRPr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466725" y="1125538"/>
            <a:ext cx="6481763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Unicidade do complemento</a:t>
            </a:r>
            <a:endParaRPr lang="en-US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463" name="Rectangle 1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222" name="Rectangle 22"/>
          <p:cNvSpPr>
            <a:spLocks noChangeArrowheads="1"/>
          </p:cNvSpPr>
          <p:nvPr/>
        </p:nvSpPr>
        <p:spPr bwMode="auto">
          <a:xfrm>
            <a:off x="468313" y="3573463"/>
            <a:ext cx="59055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Absorção   </a:t>
            </a:r>
            <a:r>
              <a:rPr lang="pt-PT">
                <a:solidFill>
                  <a:srgbClr val="003366"/>
                </a:solidFill>
                <a:sym typeface="Symbol" pitchFamily="18" charset="2"/>
              </a:rPr>
              <a:t></a:t>
            </a:r>
            <a:r>
              <a:rPr lang="en-US">
                <a:solidFill>
                  <a:srgbClr val="003366"/>
                </a:solidFill>
              </a:rPr>
              <a:t>x,y</a:t>
            </a:r>
            <a:r>
              <a:rPr lang="pt-PT">
                <a:solidFill>
                  <a:srgbClr val="003366"/>
                </a:solidFill>
                <a:sym typeface="Symbol" pitchFamily="18" charset="2"/>
              </a:rPr>
              <a:t>B   x + x  y = x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003366"/>
                </a:solidFill>
                <a:sym typeface="Symbol" pitchFamily="18" charset="2"/>
              </a:rPr>
              <a:t>                                  x  (x + y) = x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1908175" y="3573463"/>
            <a:ext cx="4629150" cy="1443037"/>
            <a:chOff x="1202" y="2024"/>
            <a:chExt cx="2916" cy="909"/>
          </a:xfrm>
        </p:grpSpPr>
        <p:grpSp>
          <p:nvGrpSpPr>
            <p:cNvPr id="19474" name="Group 32"/>
            <p:cNvGrpSpPr>
              <a:grpSpLocks/>
            </p:cNvGrpSpPr>
            <p:nvPr/>
          </p:nvGrpSpPr>
          <p:grpSpPr bwMode="auto">
            <a:xfrm>
              <a:off x="1202" y="2519"/>
              <a:ext cx="2916" cy="414"/>
              <a:chOff x="1202" y="2519"/>
              <a:chExt cx="2916" cy="414"/>
            </a:xfrm>
          </p:grpSpPr>
          <p:sp>
            <p:nvSpPr>
              <p:cNvPr id="19476" name="Text Box 24"/>
              <p:cNvSpPr txBox="1">
                <a:spLocks noChangeArrowheads="1"/>
              </p:cNvSpPr>
              <p:nvPr/>
            </p:nvSpPr>
            <p:spPr bwMode="auto">
              <a:xfrm>
                <a:off x="1202" y="2700"/>
                <a:ext cx="291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PT" dirty="0"/>
                  <a:t>x </a:t>
                </a:r>
                <a:r>
                  <a:rPr lang="pt-PT" dirty="0">
                    <a:sym typeface="Symbol" pitchFamily="18" charset="2"/>
                  </a:rPr>
                  <a:t>+ x  y = x  1 + x  y = x  (1 + y)</a:t>
                </a:r>
                <a:r>
                  <a:rPr lang="en-US" dirty="0">
                    <a:latin typeface="Times" pitchFamily="18" charset="0"/>
                    <a:sym typeface="Symbol" pitchFamily="18" charset="2"/>
                  </a:rPr>
                  <a:t> = </a:t>
                </a:r>
                <a:r>
                  <a:rPr lang="pt-PT" dirty="0">
                    <a:sym typeface="Symbol" pitchFamily="18" charset="2"/>
                  </a:rPr>
                  <a:t>x  1</a:t>
                </a:r>
                <a:r>
                  <a:rPr lang="en-US" dirty="0">
                    <a:sym typeface="Symbol" pitchFamily="18" charset="2"/>
                  </a:rPr>
                  <a:t> = </a:t>
                </a:r>
                <a:r>
                  <a:rPr lang="pt-PT" dirty="0">
                    <a:sym typeface="Symbol" pitchFamily="18" charset="2"/>
                  </a:rPr>
                  <a:t>x</a:t>
                </a:r>
              </a:p>
            </p:txBody>
          </p:sp>
          <p:sp>
            <p:nvSpPr>
              <p:cNvPr id="19477" name="Text Box 25"/>
              <p:cNvSpPr txBox="1">
                <a:spLocks noChangeArrowheads="1"/>
              </p:cNvSpPr>
              <p:nvPr/>
            </p:nvSpPr>
            <p:spPr bwMode="auto">
              <a:xfrm>
                <a:off x="1701" y="2519"/>
                <a:ext cx="29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PT">
                    <a:solidFill>
                      <a:srgbClr val="A50021"/>
                    </a:solidFill>
                  </a:rPr>
                  <a:t>P3</a:t>
                </a:r>
                <a:endParaRPr lang="en-US">
                  <a:solidFill>
                    <a:srgbClr val="A50021"/>
                  </a:solidFill>
                </a:endParaRPr>
              </a:p>
            </p:txBody>
          </p:sp>
          <p:sp>
            <p:nvSpPr>
              <p:cNvPr id="19478" name="Text Box 27"/>
              <p:cNvSpPr txBox="1">
                <a:spLocks noChangeArrowheads="1"/>
              </p:cNvSpPr>
              <p:nvPr/>
            </p:nvSpPr>
            <p:spPr bwMode="auto">
              <a:xfrm>
                <a:off x="2552" y="2523"/>
                <a:ext cx="29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PT" dirty="0">
                    <a:solidFill>
                      <a:srgbClr val="A50021"/>
                    </a:solidFill>
                  </a:rPr>
                  <a:t>P4</a:t>
                </a:r>
                <a:endParaRPr lang="en-US" dirty="0">
                  <a:solidFill>
                    <a:srgbClr val="A50021"/>
                  </a:solidFill>
                </a:endParaRPr>
              </a:p>
            </p:txBody>
          </p:sp>
          <p:sp>
            <p:nvSpPr>
              <p:cNvPr id="19479" name="Text Box 29"/>
              <p:cNvSpPr txBox="1">
                <a:spLocks noChangeArrowheads="1"/>
              </p:cNvSpPr>
              <p:nvPr/>
            </p:nvSpPr>
            <p:spPr bwMode="auto">
              <a:xfrm>
                <a:off x="3742" y="2523"/>
                <a:ext cx="29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PT" dirty="0">
                    <a:solidFill>
                      <a:srgbClr val="A50021"/>
                    </a:solidFill>
                  </a:rPr>
                  <a:t>P3</a:t>
                </a:r>
                <a:endParaRPr lang="en-US" dirty="0">
                  <a:solidFill>
                    <a:srgbClr val="A50021"/>
                  </a:solidFill>
                </a:endParaRPr>
              </a:p>
            </p:txBody>
          </p:sp>
        </p:grpSp>
        <p:sp>
          <p:nvSpPr>
            <p:cNvPr id="19475" name="Line 30"/>
            <p:cNvSpPr>
              <a:spLocks noChangeShapeType="1"/>
            </p:cNvSpPr>
            <p:nvPr/>
          </p:nvSpPr>
          <p:spPr bwMode="auto">
            <a:xfrm flipV="1">
              <a:off x="3435" y="2024"/>
              <a:ext cx="0" cy="68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231" name="Rectangle 31"/>
          <p:cNvSpPr>
            <a:spLocks noChangeArrowheads="1"/>
          </p:cNvSpPr>
          <p:nvPr/>
        </p:nvSpPr>
        <p:spPr bwMode="auto">
          <a:xfrm>
            <a:off x="468313" y="5446713"/>
            <a:ext cx="68405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Simplificação   </a:t>
            </a:r>
            <a:r>
              <a:rPr lang="pt-PT" dirty="0">
                <a:solidFill>
                  <a:srgbClr val="003366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003366"/>
                </a:solidFill>
              </a:rPr>
              <a:t>x,y</a:t>
            </a:r>
            <a:r>
              <a:rPr lang="pt-PT" dirty="0">
                <a:solidFill>
                  <a:srgbClr val="003366"/>
                </a:solidFill>
                <a:sym typeface="Symbol" pitchFamily="18" charset="2"/>
              </a:rPr>
              <a:t>B   x +x  y = x + y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pt-PT" dirty="0">
                <a:solidFill>
                  <a:srgbClr val="003366"/>
                </a:solidFill>
                <a:sym typeface="Symbol" pitchFamily="18" charset="2"/>
              </a:rPr>
              <a:t>                                       x  (x +y) = x  y </a:t>
            </a:r>
          </a:p>
        </p:txBody>
      </p: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1619250" y="2559050"/>
            <a:ext cx="6589713" cy="654050"/>
            <a:chOff x="1020" y="1612"/>
            <a:chExt cx="4151" cy="412"/>
          </a:xfrm>
        </p:grpSpPr>
        <p:sp>
          <p:nvSpPr>
            <p:cNvPr id="19468" name="Text Box 14"/>
            <p:cNvSpPr txBox="1">
              <a:spLocks noChangeArrowheads="1"/>
            </p:cNvSpPr>
            <p:nvPr/>
          </p:nvSpPr>
          <p:spPr bwMode="auto">
            <a:xfrm>
              <a:off x="1020" y="1793"/>
              <a:ext cx="41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pt-PT" dirty="0"/>
                <a:t>b </a:t>
              </a:r>
              <a:r>
                <a:rPr lang="pt-PT" dirty="0">
                  <a:sym typeface="Symbol" pitchFamily="18" charset="2"/>
                </a:rPr>
                <a:t> 0 = b  0 + 0 = b  0 + b </a:t>
              </a:r>
              <a:r>
                <a:rPr lang="en-US" dirty="0">
                  <a:latin typeface="Times" pitchFamily="18" charset="0"/>
                  <a:sym typeface="Symbol" pitchFamily="18" charset="2"/>
                </a:rPr>
                <a:t>b = </a:t>
              </a:r>
              <a:r>
                <a:rPr lang="pt-PT" dirty="0">
                  <a:sym typeface="Symbol" pitchFamily="18" charset="2"/>
                </a:rPr>
                <a:t>b  (0 +b</a:t>
              </a:r>
              <a:r>
                <a:rPr lang="en-US" dirty="0">
                  <a:sym typeface="Symbol" pitchFamily="18" charset="2"/>
                </a:rPr>
                <a:t>) = </a:t>
              </a:r>
              <a:r>
                <a:rPr lang="pt-PT" dirty="0">
                  <a:sym typeface="Symbol" pitchFamily="18" charset="2"/>
                </a:rPr>
                <a:t>b b = 0</a:t>
              </a:r>
              <a:r>
                <a:rPr lang="en-US" dirty="0">
                  <a:sym typeface="Symbol" pitchFamily="18" charset="2"/>
                </a:rPr>
                <a:t> </a:t>
              </a:r>
              <a:endParaRPr lang="pt-PT" dirty="0">
                <a:sym typeface="Symbol" pitchFamily="18" charset="2"/>
              </a:endParaRPr>
            </a:p>
          </p:txBody>
        </p:sp>
        <p:sp>
          <p:nvSpPr>
            <p:cNvPr id="19469" name="Text Box 15"/>
            <p:cNvSpPr txBox="1">
              <a:spLocks noChangeArrowheads="1"/>
            </p:cNvSpPr>
            <p:nvPr/>
          </p:nvSpPr>
          <p:spPr bwMode="auto">
            <a:xfrm>
              <a:off x="1338" y="1612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P3</a:t>
              </a:r>
              <a:endParaRPr lang="en-US">
                <a:solidFill>
                  <a:srgbClr val="A50021"/>
                </a:solidFill>
              </a:endParaRPr>
            </a:p>
          </p:txBody>
        </p:sp>
        <p:sp>
          <p:nvSpPr>
            <p:cNvPr id="19470" name="Text Box 16"/>
            <p:cNvSpPr txBox="1">
              <a:spLocks noChangeArrowheads="1"/>
            </p:cNvSpPr>
            <p:nvPr/>
          </p:nvSpPr>
          <p:spPr bwMode="auto">
            <a:xfrm>
              <a:off x="1998" y="1616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>
                  <a:solidFill>
                    <a:srgbClr val="A50021"/>
                  </a:solidFill>
                </a:rPr>
                <a:t>P5</a:t>
              </a:r>
              <a:endParaRPr lang="en-US" dirty="0">
                <a:solidFill>
                  <a:srgbClr val="A50021"/>
                </a:solidFill>
              </a:endParaRPr>
            </a:p>
          </p:txBody>
        </p:sp>
        <p:sp>
          <p:nvSpPr>
            <p:cNvPr id="19471" name="Text Box 17"/>
            <p:cNvSpPr txBox="1">
              <a:spLocks noChangeArrowheads="1"/>
            </p:cNvSpPr>
            <p:nvPr/>
          </p:nvSpPr>
          <p:spPr bwMode="auto">
            <a:xfrm>
              <a:off x="2894" y="1616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>
                  <a:solidFill>
                    <a:srgbClr val="A50021"/>
                  </a:solidFill>
                </a:rPr>
                <a:t>P4</a:t>
              </a:r>
              <a:endParaRPr lang="en-US" dirty="0">
                <a:solidFill>
                  <a:srgbClr val="A50021"/>
                </a:solidFill>
              </a:endParaRPr>
            </a:p>
          </p:txBody>
        </p:sp>
        <p:sp>
          <p:nvSpPr>
            <p:cNvPr id="19472" name="Text Box 19"/>
            <p:cNvSpPr txBox="1">
              <a:spLocks noChangeArrowheads="1"/>
            </p:cNvSpPr>
            <p:nvPr/>
          </p:nvSpPr>
          <p:spPr bwMode="auto">
            <a:xfrm>
              <a:off x="3686" y="1616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>
                  <a:solidFill>
                    <a:srgbClr val="A50021"/>
                  </a:solidFill>
                </a:rPr>
                <a:t>P3</a:t>
              </a:r>
              <a:endParaRPr lang="en-US" dirty="0">
                <a:solidFill>
                  <a:srgbClr val="A50021"/>
                </a:solidFill>
              </a:endParaRPr>
            </a:p>
          </p:txBody>
        </p:sp>
        <p:sp>
          <p:nvSpPr>
            <p:cNvPr id="19473" name="Text Box 36"/>
            <p:cNvSpPr txBox="1">
              <a:spLocks noChangeArrowheads="1"/>
            </p:cNvSpPr>
            <p:nvPr/>
          </p:nvSpPr>
          <p:spPr bwMode="auto">
            <a:xfrm>
              <a:off x="4164" y="1616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>
                  <a:solidFill>
                    <a:srgbClr val="A50021"/>
                  </a:solidFill>
                </a:rPr>
                <a:t>P5</a:t>
              </a:r>
              <a:endParaRPr lang="en-US" dirty="0">
                <a:solidFill>
                  <a:srgbClr val="A5002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872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/>
      <p:bldP spid="51205" grpId="0"/>
      <p:bldP spid="51222" grpId="0"/>
      <p:bldP spid="512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4248150" cy="5762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Teoremas (cont.)</a:t>
            </a:r>
          </a:p>
        </p:txBody>
      </p:sp>
      <p:sp>
        <p:nvSpPr>
          <p:cNvPr id="4101" name="Rectangle 4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466725" y="1052513"/>
            <a:ext cx="6481763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Adjacência   </a:t>
            </a:r>
            <a:r>
              <a:rPr lang="pt-PT">
                <a:solidFill>
                  <a:srgbClr val="003366"/>
                </a:solidFill>
                <a:sym typeface="Symbol" pitchFamily="18" charset="2"/>
              </a:rPr>
              <a:t></a:t>
            </a:r>
            <a:r>
              <a:rPr lang="en-US">
                <a:solidFill>
                  <a:srgbClr val="003366"/>
                </a:solidFill>
              </a:rPr>
              <a:t>x,y</a:t>
            </a:r>
            <a:r>
              <a:rPr lang="pt-PT">
                <a:solidFill>
                  <a:srgbClr val="003366"/>
                </a:solidFill>
                <a:sym typeface="Symbol" pitchFamily="18" charset="2"/>
              </a:rPr>
              <a:t>B   x  y + x y = x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003366"/>
                </a:solidFill>
                <a:sym typeface="Symbol" pitchFamily="18" charset="2"/>
              </a:rPr>
              <a:t>                                   (x + y)  (x +y) = x</a:t>
            </a:r>
            <a:endParaRPr lang="en-US">
              <a:solidFill>
                <a:srgbClr val="003366"/>
              </a:solidFill>
              <a:sym typeface="Symbol" pitchFamily="18" charset="2"/>
            </a:endParaRPr>
          </a:p>
        </p:txBody>
      </p:sp>
      <p:sp>
        <p:nvSpPr>
          <p:cNvPr id="52238" name="Rectangle 14"/>
          <p:cNvSpPr>
            <a:spLocks noChangeArrowheads="1"/>
          </p:cNvSpPr>
          <p:nvPr/>
        </p:nvSpPr>
        <p:spPr bwMode="auto">
          <a:xfrm>
            <a:off x="468313" y="4221163"/>
            <a:ext cx="867568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Consenso   </a:t>
            </a:r>
            <a:r>
              <a:rPr lang="pt-PT" dirty="0">
                <a:solidFill>
                  <a:srgbClr val="003366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003366"/>
                </a:solidFill>
              </a:rPr>
              <a:t>x,y,z</a:t>
            </a:r>
            <a:r>
              <a:rPr lang="pt-PT" dirty="0">
                <a:solidFill>
                  <a:srgbClr val="003366"/>
                </a:solidFill>
                <a:sym typeface="Symbol" pitchFamily="18" charset="2"/>
              </a:rPr>
              <a:t>B   x  y +x  z + y  z = x  y +x  z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pt-PT" dirty="0">
                <a:solidFill>
                  <a:srgbClr val="003366"/>
                </a:solidFill>
                <a:sym typeface="Symbol" pitchFamily="18" charset="2"/>
              </a:rPr>
              <a:t>                                    (x + y)  (x + z)  (y + z) = (x + y)  (x + z) </a:t>
            </a:r>
          </a:p>
        </p:txBody>
      </p:sp>
      <p:sp>
        <p:nvSpPr>
          <p:cNvPr id="52246" name="Rectangle 22"/>
          <p:cNvSpPr>
            <a:spLocks noChangeArrowheads="1"/>
          </p:cNvSpPr>
          <p:nvPr/>
        </p:nvSpPr>
        <p:spPr bwMode="auto">
          <a:xfrm>
            <a:off x="468313" y="5373688"/>
            <a:ext cx="7416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Associatividade   </a:t>
            </a:r>
            <a:r>
              <a:rPr lang="pt-PT">
                <a:solidFill>
                  <a:srgbClr val="003366"/>
                </a:solidFill>
                <a:sym typeface="Symbol" pitchFamily="18" charset="2"/>
              </a:rPr>
              <a:t></a:t>
            </a:r>
            <a:r>
              <a:rPr lang="en-US">
                <a:solidFill>
                  <a:srgbClr val="003366"/>
                </a:solidFill>
              </a:rPr>
              <a:t>x,y,z</a:t>
            </a:r>
            <a:r>
              <a:rPr lang="pt-PT">
                <a:solidFill>
                  <a:srgbClr val="003366"/>
                </a:solidFill>
                <a:sym typeface="Symbol" pitchFamily="18" charset="2"/>
              </a:rPr>
              <a:t>B   (x  y)  z = x  (y  z)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pt-PT">
                <a:solidFill>
                  <a:srgbClr val="003366"/>
                </a:solidFill>
                <a:sym typeface="Symbol" pitchFamily="18" charset="2"/>
              </a:rPr>
              <a:t>                                              (x + y) + z = x + (y + z)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pt-PT">
              <a:solidFill>
                <a:srgbClr val="003366"/>
              </a:solidFill>
              <a:sym typeface="Symbol" pitchFamily="18" charset="2"/>
            </a:endParaRP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2160588" y="1771650"/>
            <a:ext cx="3779837" cy="649288"/>
            <a:chOff x="1361" y="981"/>
            <a:chExt cx="2381" cy="409"/>
          </a:xfrm>
        </p:grpSpPr>
        <p:sp>
          <p:nvSpPr>
            <p:cNvPr id="4111" name="Text Box 26"/>
            <p:cNvSpPr txBox="1">
              <a:spLocks noChangeArrowheads="1"/>
            </p:cNvSpPr>
            <p:nvPr/>
          </p:nvSpPr>
          <p:spPr bwMode="auto">
            <a:xfrm>
              <a:off x="1361" y="1159"/>
              <a:ext cx="238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/>
                <a:t>x </a:t>
              </a:r>
              <a:r>
                <a:rPr lang="pt-PT" dirty="0">
                  <a:sym typeface="Symbol" pitchFamily="18" charset="2"/>
                </a:rPr>
                <a:t> y + x y = x  (y +y) = x  1 = x</a:t>
              </a:r>
              <a:r>
                <a:rPr lang="en-US" dirty="0">
                  <a:sym typeface="Symbol" pitchFamily="18" charset="2"/>
                </a:rPr>
                <a:t> </a:t>
              </a:r>
              <a:endParaRPr lang="pt-PT" dirty="0">
                <a:sym typeface="Symbol" pitchFamily="18" charset="2"/>
              </a:endParaRPr>
            </a:p>
          </p:txBody>
        </p:sp>
        <p:sp>
          <p:nvSpPr>
            <p:cNvPr id="4112" name="Text Box 27"/>
            <p:cNvSpPr txBox="1">
              <a:spLocks noChangeArrowheads="1"/>
            </p:cNvSpPr>
            <p:nvPr/>
          </p:nvSpPr>
          <p:spPr bwMode="auto">
            <a:xfrm>
              <a:off x="2067" y="981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P4</a:t>
              </a:r>
              <a:endParaRPr lang="en-US">
                <a:solidFill>
                  <a:srgbClr val="A50021"/>
                </a:solidFill>
              </a:endParaRPr>
            </a:p>
          </p:txBody>
        </p:sp>
        <p:sp>
          <p:nvSpPr>
            <p:cNvPr id="4113" name="Text Box 28"/>
            <p:cNvSpPr txBox="1">
              <a:spLocks noChangeArrowheads="1"/>
            </p:cNvSpPr>
            <p:nvPr/>
          </p:nvSpPr>
          <p:spPr bwMode="auto">
            <a:xfrm>
              <a:off x="2858" y="985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P5</a:t>
              </a:r>
              <a:endParaRPr lang="en-US">
                <a:solidFill>
                  <a:srgbClr val="A50021"/>
                </a:solidFill>
              </a:endParaRPr>
            </a:p>
          </p:txBody>
        </p:sp>
        <p:sp>
          <p:nvSpPr>
            <p:cNvPr id="4114" name="Text Box 29"/>
            <p:cNvSpPr txBox="1">
              <a:spLocks noChangeArrowheads="1"/>
            </p:cNvSpPr>
            <p:nvPr/>
          </p:nvSpPr>
          <p:spPr bwMode="auto">
            <a:xfrm>
              <a:off x="3309" y="985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>
                  <a:solidFill>
                    <a:srgbClr val="A50021"/>
                  </a:solidFill>
                </a:rPr>
                <a:t>P3</a:t>
              </a:r>
              <a:endParaRPr lang="en-US" dirty="0">
                <a:solidFill>
                  <a:srgbClr val="A50021"/>
                </a:solidFill>
              </a:endParaRPr>
            </a:p>
          </p:txBody>
        </p:sp>
      </p:grp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466725" y="2781300"/>
            <a:ext cx="5905500" cy="431800"/>
            <a:chOff x="294" y="1570"/>
            <a:chExt cx="3720" cy="272"/>
          </a:xfrm>
        </p:grpSpPr>
        <p:sp>
          <p:nvSpPr>
            <p:cNvPr id="52227" name="Rectangle 3"/>
            <p:cNvSpPr>
              <a:spLocks noChangeArrowheads="1"/>
            </p:cNvSpPr>
            <p:nvPr/>
          </p:nvSpPr>
          <p:spPr bwMode="auto">
            <a:xfrm>
              <a:off x="294" y="1570"/>
              <a:ext cx="3720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r>
                <a:rPr lang="pt-PT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Involução   </a:t>
              </a:r>
              <a:r>
                <a:rPr lang="pt-PT">
                  <a:solidFill>
                    <a:srgbClr val="003366"/>
                  </a:solidFill>
                  <a:sym typeface="Symbol" pitchFamily="18" charset="2"/>
                </a:rPr>
                <a:t></a:t>
              </a:r>
              <a:r>
                <a:rPr lang="en-US">
                  <a:solidFill>
                    <a:srgbClr val="003366"/>
                  </a:solidFill>
                </a:rPr>
                <a:t>x</a:t>
              </a:r>
              <a:r>
                <a:rPr lang="pt-PT">
                  <a:solidFill>
                    <a:srgbClr val="003366"/>
                  </a:solidFill>
                  <a:sym typeface="Symbol" pitchFamily="18" charset="2"/>
                </a:rPr>
                <a:t>B   x = x</a:t>
              </a:r>
              <a:endParaRPr lang="pt-PT" baseline="-25000">
                <a:solidFill>
                  <a:srgbClr val="003366"/>
                </a:solidFill>
                <a:sym typeface="Symbol" pitchFamily="18" charset="2"/>
              </a:endParaRPr>
            </a:p>
          </p:txBody>
        </p:sp>
        <p:sp>
          <p:nvSpPr>
            <p:cNvPr id="4109" name="Line 33"/>
            <p:cNvSpPr>
              <a:spLocks noChangeShapeType="1"/>
            </p:cNvSpPr>
            <p:nvPr/>
          </p:nvSpPr>
          <p:spPr bwMode="auto">
            <a:xfrm>
              <a:off x="1579" y="1616"/>
              <a:ext cx="90" cy="0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Line 34"/>
            <p:cNvSpPr>
              <a:spLocks noChangeShapeType="1"/>
            </p:cNvSpPr>
            <p:nvPr/>
          </p:nvSpPr>
          <p:spPr bwMode="auto">
            <a:xfrm>
              <a:off x="1579" y="1584"/>
              <a:ext cx="90" cy="0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2261" name="Object 37"/>
          <p:cNvGraphicFramePr>
            <a:graphicFrameLocks noChangeAspect="1"/>
          </p:cNvGraphicFramePr>
          <p:nvPr/>
        </p:nvGraphicFramePr>
        <p:xfrm>
          <a:off x="3994150" y="2809875"/>
          <a:ext cx="165735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Document" r:id="rId4" imgW="6211080" imgH="4067280" progId="Word.Document.8">
                  <p:embed/>
                </p:oleObj>
              </mc:Choice>
              <mc:Fallback>
                <p:oleObj name="Document" r:id="rId4" imgW="6211080" imgH="4067280" progId="Word.Document.8">
                  <p:embed/>
                  <p:pic>
                    <p:nvPicPr>
                      <p:cNvPr id="52261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4344" r="52165" b="72580"/>
                      <a:stretch>
                        <a:fillRect/>
                      </a:stretch>
                    </p:blipFill>
                    <p:spPr bwMode="auto">
                      <a:xfrm>
                        <a:off x="3994150" y="2809875"/>
                        <a:ext cx="1657350" cy="1266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64" name="Text Box 40"/>
          <p:cNvSpPr txBox="1">
            <a:spLocks noChangeArrowheads="1"/>
          </p:cNvSpPr>
          <p:nvPr/>
        </p:nvSpPr>
        <p:spPr bwMode="auto">
          <a:xfrm>
            <a:off x="1978025" y="3357563"/>
            <a:ext cx="1873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/>
              <a:t>indução perfeita: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4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22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2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52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2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22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2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52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/>
      <p:bldP spid="52238" grpId="0"/>
      <p:bldP spid="52246" grpId="0"/>
      <p:bldP spid="522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3816350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Leis de DeMorgan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66725" y="1052513"/>
            <a:ext cx="6481763" cy="431800"/>
            <a:chOff x="294" y="663"/>
            <a:chExt cx="4083" cy="272"/>
          </a:xfrm>
        </p:grpSpPr>
        <p:sp>
          <p:nvSpPr>
            <p:cNvPr id="5132" name="Rectangle 4"/>
            <p:cNvSpPr>
              <a:spLocks noChangeArrowheads="1"/>
            </p:cNvSpPr>
            <p:nvPr/>
          </p:nvSpPr>
          <p:spPr bwMode="auto">
            <a:xfrm>
              <a:off x="294" y="663"/>
              <a:ext cx="4083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</a:pPr>
              <a:r>
                <a:rPr lang="pt-PT">
                  <a:solidFill>
                    <a:srgbClr val="003366"/>
                  </a:solidFill>
                  <a:sym typeface="Symbol" pitchFamily="18" charset="2"/>
                </a:rPr>
                <a:t></a:t>
              </a:r>
              <a:r>
                <a:rPr lang="en-US">
                  <a:solidFill>
                    <a:srgbClr val="003366"/>
                  </a:solidFill>
                </a:rPr>
                <a:t>x,y</a:t>
              </a:r>
              <a:r>
                <a:rPr lang="pt-PT">
                  <a:solidFill>
                    <a:srgbClr val="003366"/>
                  </a:solidFill>
                  <a:sym typeface="Symbol" pitchFamily="18" charset="2"/>
                </a:rPr>
                <a:t>B   x + y =x y    e    x  y =x +y</a:t>
              </a:r>
            </a:p>
          </p:txBody>
        </p:sp>
        <p:sp>
          <p:nvSpPr>
            <p:cNvPr id="5133" name="Line 18"/>
            <p:cNvSpPr>
              <a:spLocks noChangeShapeType="1"/>
            </p:cNvSpPr>
            <p:nvPr/>
          </p:nvSpPr>
          <p:spPr bwMode="auto">
            <a:xfrm>
              <a:off x="954" y="702"/>
              <a:ext cx="317" cy="0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4" name="Line 19"/>
            <p:cNvSpPr>
              <a:spLocks noChangeShapeType="1"/>
            </p:cNvSpPr>
            <p:nvPr/>
          </p:nvSpPr>
          <p:spPr bwMode="auto">
            <a:xfrm>
              <a:off x="2140" y="702"/>
              <a:ext cx="317" cy="0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1476375" y="1555750"/>
            <a:ext cx="6659563" cy="936625"/>
            <a:chOff x="930" y="980"/>
            <a:chExt cx="4195" cy="590"/>
          </a:xfrm>
        </p:grpSpPr>
        <p:sp>
          <p:nvSpPr>
            <p:cNvPr id="5129" name="Text Box 22"/>
            <p:cNvSpPr txBox="1">
              <a:spLocks noChangeArrowheads="1"/>
            </p:cNvSpPr>
            <p:nvPr/>
          </p:nvSpPr>
          <p:spPr bwMode="auto">
            <a:xfrm>
              <a:off x="930" y="1339"/>
              <a:ext cx="278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dirty="0"/>
                <a:t>(x </a:t>
              </a:r>
              <a:r>
                <a:rPr lang="pt-PT" dirty="0">
                  <a:sym typeface="Symbol" pitchFamily="18" charset="2"/>
                </a:rPr>
                <a:t>+ y)  (x y) = x x y +x  y y = 0 </a:t>
              </a:r>
            </a:p>
          </p:txBody>
        </p:sp>
        <p:sp>
          <p:nvSpPr>
            <p:cNvPr id="5130" name="Text Box 23"/>
            <p:cNvSpPr txBox="1">
              <a:spLocks noChangeArrowheads="1"/>
            </p:cNvSpPr>
            <p:nvPr/>
          </p:nvSpPr>
          <p:spPr bwMode="auto">
            <a:xfrm>
              <a:off x="1905" y="1161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P4</a:t>
              </a:r>
              <a:endParaRPr lang="en-US">
                <a:solidFill>
                  <a:srgbClr val="A50021"/>
                </a:solidFill>
              </a:endParaRPr>
            </a:p>
          </p:txBody>
        </p:sp>
        <p:sp>
          <p:nvSpPr>
            <p:cNvPr id="5131" name="Text Box 24"/>
            <p:cNvSpPr txBox="1">
              <a:spLocks noChangeArrowheads="1"/>
            </p:cNvSpPr>
            <p:nvPr/>
          </p:nvSpPr>
          <p:spPr bwMode="auto">
            <a:xfrm>
              <a:off x="3246" y="980"/>
              <a:ext cx="1879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P5, elemento absorvente, idempotência</a:t>
              </a:r>
              <a:endParaRPr lang="en-US">
                <a:solidFill>
                  <a:srgbClr val="A50021"/>
                </a:solidFill>
              </a:endParaRPr>
            </a:p>
          </p:txBody>
        </p:sp>
      </p:grpSp>
      <p:sp>
        <p:nvSpPr>
          <p:cNvPr id="53276" name="Text Box 28"/>
          <p:cNvSpPr txBox="1">
            <a:spLocks noChangeArrowheads="1"/>
          </p:cNvSpPr>
          <p:nvPr/>
        </p:nvSpPr>
        <p:spPr bwMode="auto">
          <a:xfrm>
            <a:off x="663575" y="3427413"/>
            <a:ext cx="3397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>
                <a:solidFill>
                  <a:srgbClr val="003366"/>
                </a:solidFill>
              </a:rPr>
              <a:t>Generalização para </a:t>
            </a:r>
            <a:r>
              <a:rPr lang="pt-PT" i="1">
                <a:solidFill>
                  <a:srgbClr val="003366"/>
                </a:solidFill>
              </a:rPr>
              <a:t>n </a:t>
            </a:r>
            <a:r>
              <a:rPr lang="pt-PT">
                <a:solidFill>
                  <a:srgbClr val="003366"/>
                </a:solidFill>
              </a:rPr>
              <a:t>variáveis:</a:t>
            </a:r>
            <a:endParaRPr lang="en-US">
              <a:solidFill>
                <a:srgbClr val="003366"/>
              </a:solidFill>
            </a:endParaRPr>
          </a:p>
        </p:txBody>
      </p:sp>
      <p:graphicFrame>
        <p:nvGraphicFramePr>
          <p:cNvPr id="53277" name="Object 29"/>
          <p:cNvGraphicFramePr>
            <a:graphicFrameLocks noChangeAspect="1"/>
          </p:cNvGraphicFramePr>
          <p:nvPr/>
        </p:nvGraphicFramePr>
        <p:xfrm>
          <a:off x="1979613" y="4011613"/>
          <a:ext cx="1420812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4" imgW="825480" imgH="457200" progId="Equation.3">
                  <p:embed/>
                </p:oleObj>
              </mc:Choice>
              <mc:Fallback>
                <p:oleObj name="Equation" r:id="rId4" imgW="825480" imgH="457200" progId="Equation.3">
                  <p:embed/>
                  <p:pic>
                    <p:nvPicPr>
                      <p:cNvPr id="5327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011613"/>
                        <a:ext cx="1420812" cy="785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8" name="Object 30"/>
          <p:cNvGraphicFramePr>
            <a:graphicFrameLocks noChangeAspect="1"/>
          </p:cNvGraphicFramePr>
          <p:nvPr/>
        </p:nvGraphicFramePr>
        <p:xfrm>
          <a:off x="4375150" y="4011613"/>
          <a:ext cx="1420813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6" imgW="825480" imgH="457200" progId="Equation.3">
                  <p:embed/>
                </p:oleObj>
              </mc:Choice>
              <mc:Fallback>
                <p:oleObj name="Equation" r:id="rId6" imgW="825480" imgH="457200" progId="Equation.3">
                  <p:embed/>
                  <p:pic>
                    <p:nvPicPr>
                      <p:cNvPr id="5327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150" y="4011613"/>
                        <a:ext cx="1420813" cy="785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049533"/>
              </p:ext>
            </p:extLst>
          </p:nvPr>
        </p:nvGraphicFramePr>
        <p:xfrm>
          <a:off x="1303338" y="5300663"/>
          <a:ext cx="5275262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8" imgW="2412720" imgH="253800" progId="Equation.3">
                  <p:embed/>
                </p:oleObj>
              </mc:Choice>
              <mc:Fallback>
                <p:oleObj name="Equation" r:id="rId8" imgW="2412720" imgH="2538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338" y="5300663"/>
                        <a:ext cx="5275262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903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32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3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53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3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32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3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53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3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7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5327650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Princípio da dualidade</a:t>
            </a:r>
          </a:p>
        </p:txBody>
      </p:sp>
      <p:sp>
        <p:nvSpPr>
          <p:cNvPr id="54285" name="Text Box 13"/>
          <p:cNvSpPr txBox="1">
            <a:spLocks noChangeArrowheads="1"/>
          </p:cNvSpPr>
          <p:nvPr/>
        </p:nvSpPr>
        <p:spPr bwMode="auto">
          <a:xfrm>
            <a:off x="468313" y="908050"/>
            <a:ext cx="82073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pt-PT">
                <a:solidFill>
                  <a:srgbClr val="003366"/>
                </a:solidFill>
              </a:rPr>
              <a:t>Todo o teorema ou identidade algébrica dedutível a partir dos postulados da álgebra de Boole conserva a validade se as operações (+) e (.) e os elementos neutros forem trocados.</a:t>
            </a:r>
          </a:p>
          <a:p>
            <a:endParaRPr lang="pt-PT">
              <a:solidFill>
                <a:srgbClr val="003366"/>
              </a:solidFill>
            </a:endParaRPr>
          </a:p>
        </p:txBody>
      </p:sp>
      <p:sp>
        <p:nvSpPr>
          <p:cNvPr id="54286" name="Text Box 14"/>
          <p:cNvSpPr txBox="1">
            <a:spLocks noChangeArrowheads="1"/>
          </p:cNvSpPr>
          <p:nvPr/>
        </p:nvSpPr>
        <p:spPr bwMode="auto">
          <a:xfrm>
            <a:off x="755650" y="4214813"/>
            <a:ext cx="1249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54287" name="Text Box 15"/>
          <p:cNvSpPr txBox="1">
            <a:spLocks noChangeArrowheads="1"/>
          </p:cNvSpPr>
          <p:nvPr/>
        </p:nvSpPr>
        <p:spPr bwMode="auto">
          <a:xfrm>
            <a:off x="701675" y="4718050"/>
            <a:ext cx="3956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ct val="40000"/>
              </a:spcAft>
            </a:pPr>
            <a:r>
              <a:rPr lang="pt-PT">
                <a:latin typeface="Comic Sans MS" pitchFamily="66" charset="0"/>
              </a:rPr>
              <a:t>[ (x +</a:t>
            </a:r>
            <a:r>
              <a:rPr lang="pt-PT">
                <a:latin typeface="Comic Sans MS" pitchFamily="66" charset="0"/>
                <a:sym typeface="Symbol" pitchFamily="18" charset="2"/>
              </a:rPr>
              <a:t>y)  (z + 1)</a:t>
            </a:r>
            <a:r>
              <a:rPr lang="pt-PT">
                <a:latin typeface="Comic Sans MS" pitchFamily="66" charset="0"/>
              </a:rPr>
              <a:t> ]</a:t>
            </a:r>
            <a:r>
              <a:rPr lang="pt-PT" baseline="30000">
                <a:latin typeface="Comic Sans MS" pitchFamily="66" charset="0"/>
              </a:rPr>
              <a:t>D </a:t>
            </a:r>
            <a:r>
              <a:rPr lang="pt-PT">
                <a:latin typeface="Comic Sans MS" pitchFamily="66" charset="0"/>
              </a:rPr>
              <a:t>=</a:t>
            </a:r>
            <a:r>
              <a:rPr lang="pt-PT"/>
              <a:t> (x </a:t>
            </a:r>
            <a:r>
              <a:rPr lang="pt-PT">
                <a:sym typeface="Symbol" pitchFamily="18" charset="2"/>
              </a:rPr>
              <a:t></a:t>
            </a:r>
            <a:r>
              <a:rPr lang="pt-PT"/>
              <a:t> </a:t>
            </a:r>
            <a:r>
              <a:rPr lang="pt-PT">
                <a:sym typeface="Symbol" pitchFamily="18" charset="2"/>
              </a:rPr>
              <a:t>y) + (z  0)</a:t>
            </a:r>
            <a:r>
              <a:rPr lang="pt-PT"/>
              <a:t> </a:t>
            </a:r>
            <a:endParaRPr lang="pt-PT" baseline="-25000">
              <a:latin typeface="Comic Sans MS" pitchFamily="66" charset="0"/>
            </a:endParaRPr>
          </a:p>
        </p:txBody>
      </p:sp>
      <p:graphicFrame>
        <p:nvGraphicFramePr>
          <p:cNvPr id="54291" name="Object 19"/>
          <p:cNvGraphicFramePr>
            <a:graphicFrameLocks noChangeAspect="1"/>
          </p:cNvGraphicFramePr>
          <p:nvPr/>
        </p:nvGraphicFramePr>
        <p:xfrm>
          <a:off x="1476375" y="1989138"/>
          <a:ext cx="618966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4" imgW="2831760" imgH="241200" progId="Equation.3">
                  <p:embed/>
                </p:oleObj>
              </mc:Choice>
              <mc:Fallback>
                <p:oleObj name="Equation" r:id="rId4" imgW="2831760" imgH="241200" progId="Equation.3">
                  <p:embed/>
                  <p:pic>
                    <p:nvPicPr>
                      <p:cNvPr id="5429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989138"/>
                        <a:ext cx="6189663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2" name="Object 20"/>
          <p:cNvGraphicFramePr>
            <a:graphicFrameLocks noChangeAspect="1"/>
          </p:cNvGraphicFramePr>
          <p:nvPr/>
        </p:nvGraphicFramePr>
        <p:xfrm>
          <a:off x="2249488" y="2671763"/>
          <a:ext cx="449738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6" imgW="2057400" imgH="253800" progId="Equation.3">
                  <p:embed/>
                </p:oleObj>
              </mc:Choice>
              <mc:Fallback>
                <p:oleObj name="Equation" r:id="rId6" imgW="2057400" imgH="253800" progId="Equation.3">
                  <p:embed/>
                  <p:pic>
                    <p:nvPicPr>
                      <p:cNvPr id="5429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488" y="2671763"/>
                        <a:ext cx="4497387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3" name="Object 21"/>
          <p:cNvGraphicFramePr>
            <a:graphicFrameLocks noChangeAspect="1"/>
          </p:cNvGraphicFramePr>
          <p:nvPr/>
        </p:nvGraphicFramePr>
        <p:xfrm>
          <a:off x="827088" y="5300663"/>
          <a:ext cx="3024187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8" imgW="1498320" imgH="253800" progId="Equation.3">
                  <p:embed/>
                </p:oleObj>
              </mc:Choice>
              <mc:Fallback>
                <p:oleObj name="Equation" r:id="rId8" imgW="1498320" imgH="253800" progId="Equation.3">
                  <p:embed/>
                  <p:pic>
                    <p:nvPicPr>
                      <p:cNvPr id="5429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300663"/>
                        <a:ext cx="3024187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027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4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4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54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4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4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4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54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42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4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54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42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4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54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5" grpId="0"/>
      <p:bldP spid="54286" grpId="0"/>
      <p:bldP spid="5428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6983412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Conjunto completo de operadores</a:t>
            </a:r>
          </a:p>
        </p:txBody>
      </p:sp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468313" y="908050"/>
            <a:ext cx="82073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pt-PT">
                <a:solidFill>
                  <a:srgbClr val="003366"/>
                </a:solidFill>
              </a:rPr>
              <a:t>- conjunto de operadores a partir dos quais se pode representar qualquer função booleana.</a:t>
            </a: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519113" y="1833563"/>
            <a:ext cx="2025650" cy="2014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vl="1"/>
            <a:r>
              <a:rPr lang="pt-PT">
                <a:solidFill>
                  <a:srgbClr val="A50021"/>
                </a:solidFill>
              </a:rPr>
              <a:t>{ AND, OR, NOT }</a:t>
            </a:r>
          </a:p>
          <a:p>
            <a:pPr lvl="1"/>
            <a:r>
              <a:rPr lang="pt-PT">
                <a:solidFill>
                  <a:srgbClr val="A50021"/>
                </a:solidFill>
              </a:rPr>
              <a:t>{ AND, NOT }</a:t>
            </a:r>
          </a:p>
          <a:p>
            <a:pPr lvl="1"/>
            <a:r>
              <a:rPr lang="pt-PT">
                <a:solidFill>
                  <a:srgbClr val="A50021"/>
                </a:solidFill>
              </a:rPr>
              <a:t>{ OR, NOT }</a:t>
            </a:r>
          </a:p>
          <a:p>
            <a:pPr lvl="1"/>
            <a:r>
              <a:rPr lang="pt-PT">
                <a:solidFill>
                  <a:srgbClr val="A50021"/>
                </a:solidFill>
              </a:rPr>
              <a:t>{ NAND }</a:t>
            </a:r>
          </a:p>
          <a:p>
            <a:pPr lvl="1"/>
            <a:r>
              <a:rPr lang="pt-PT">
                <a:solidFill>
                  <a:srgbClr val="A50021"/>
                </a:solidFill>
              </a:rPr>
              <a:t>{ NOR }</a:t>
            </a:r>
          </a:p>
          <a:p>
            <a:pPr lvl="1"/>
            <a:r>
              <a:rPr lang="pt-PT">
                <a:solidFill>
                  <a:srgbClr val="A50021"/>
                </a:solidFill>
              </a:rPr>
              <a:t>  ...</a:t>
            </a:r>
            <a:endParaRPr lang="en-US">
              <a:solidFill>
                <a:srgbClr val="A50021"/>
              </a:solidFill>
            </a:endParaRPr>
          </a:p>
          <a:p>
            <a:endParaRPr lang="en-US">
              <a:solidFill>
                <a:srgbClr val="A50021"/>
              </a:solidFill>
            </a:endParaRPr>
          </a:p>
        </p:txBody>
      </p:sp>
      <p:graphicFrame>
        <p:nvGraphicFramePr>
          <p:cNvPr id="55306" name="Object 10"/>
          <p:cNvGraphicFramePr>
            <a:graphicFrameLocks noChangeAspect="1"/>
          </p:cNvGraphicFramePr>
          <p:nvPr/>
        </p:nvGraphicFramePr>
        <p:xfrm>
          <a:off x="5146675" y="1916113"/>
          <a:ext cx="2305050" cy="135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Document" r:id="rId4" imgW="6211080" imgH="4067280" progId="Word.Document.8">
                  <p:embed/>
                </p:oleObj>
              </mc:Choice>
              <mc:Fallback>
                <p:oleObj name="Document" r:id="rId4" imgW="6211080" imgH="4067280" progId="Word.Document.8">
                  <p:embed/>
                  <p:pic>
                    <p:nvPicPr>
                      <p:cNvPr id="553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2452" b="75235"/>
                      <a:stretch>
                        <a:fillRect/>
                      </a:stretch>
                    </p:blipFill>
                    <p:spPr bwMode="auto">
                      <a:xfrm>
                        <a:off x="5146675" y="1916113"/>
                        <a:ext cx="2305050" cy="1357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7" name="Object 11"/>
          <p:cNvGraphicFramePr>
            <a:graphicFrameLocks noChangeAspect="1"/>
          </p:cNvGraphicFramePr>
          <p:nvPr/>
        </p:nvGraphicFramePr>
        <p:xfrm>
          <a:off x="3635375" y="2276475"/>
          <a:ext cx="72231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6" imgW="291960" imgH="241200" progId="Equation.3">
                  <p:embed/>
                </p:oleObj>
              </mc:Choice>
              <mc:Fallback>
                <p:oleObj name="Equation" r:id="rId6" imgW="291960" imgH="241200" progId="Equation.3">
                  <p:embed/>
                  <p:pic>
                    <p:nvPicPr>
                      <p:cNvPr id="5530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276475"/>
                        <a:ext cx="722313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8" name="Object 12"/>
          <p:cNvGraphicFramePr>
            <a:graphicFrameLocks noChangeAspect="1"/>
          </p:cNvGraphicFramePr>
          <p:nvPr/>
        </p:nvGraphicFramePr>
        <p:xfrm>
          <a:off x="5146675" y="3943350"/>
          <a:ext cx="2305050" cy="135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Document" r:id="rId8" imgW="6211080" imgH="4067280" progId="Word.Document.8">
                  <p:embed/>
                </p:oleObj>
              </mc:Choice>
              <mc:Fallback>
                <p:oleObj name="Document" r:id="rId8" imgW="6211080" imgH="4067280" progId="Word.Document.8">
                  <p:embed/>
                  <p:pic>
                    <p:nvPicPr>
                      <p:cNvPr id="5530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2452" b="75235"/>
                      <a:stretch>
                        <a:fillRect/>
                      </a:stretch>
                    </p:blipFill>
                    <p:spPr bwMode="auto">
                      <a:xfrm>
                        <a:off x="5146675" y="3943350"/>
                        <a:ext cx="2305050" cy="1357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9" name="Object 13"/>
          <p:cNvGraphicFramePr>
            <a:graphicFrameLocks noChangeAspect="1"/>
          </p:cNvGraphicFramePr>
          <p:nvPr/>
        </p:nvGraphicFramePr>
        <p:xfrm>
          <a:off x="3557588" y="4303713"/>
          <a:ext cx="8794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10" imgW="355320" imgH="241200" progId="Equation.3">
                  <p:embed/>
                </p:oleObj>
              </mc:Choice>
              <mc:Fallback>
                <p:oleObj name="Equation" r:id="rId10" imgW="355320" imgH="241200" progId="Equation.3">
                  <p:embed/>
                  <p:pic>
                    <p:nvPicPr>
                      <p:cNvPr id="5530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7588" y="4303713"/>
                        <a:ext cx="87947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299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/>
      <p:bldP spid="5530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5399087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Operadores NAND e NOR</a:t>
            </a:r>
          </a:p>
        </p:txBody>
      </p:sp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395288" y="908050"/>
            <a:ext cx="8228012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/>
              <a:t>Para escrever uma expressão booleana apenas com operadores </a:t>
            </a: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NAND</a:t>
            </a:r>
            <a:r>
              <a:rPr lang="pt-PT"/>
              <a:t> deve-se primeiro colocá-la na forma da soma de produtos e a seguir aplicar o teorema de involução e as leis de DeMorgan</a:t>
            </a:r>
            <a:endParaRPr lang="en-US"/>
          </a:p>
        </p:txBody>
      </p:sp>
      <p:sp>
        <p:nvSpPr>
          <p:cNvPr id="61446" name="Text Box 6"/>
          <p:cNvSpPr txBox="1">
            <a:spLocks noChangeArrowheads="1"/>
          </p:cNvSpPr>
          <p:nvPr/>
        </p:nvSpPr>
        <p:spPr bwMode="auto">
          <a:xfrm>
            <a:off x="755650" y="3709988"/>
            <a:ext cx="1249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>
              <a:solidFill>
                <a:srgbClr val="A50021"/>
              </a:solidFill>
              <a:latin typeface="Comic Sans MS" pitchFamily="66" charset="0"/>
            </a:endParaRPr>
          </a:p>
        </p:txBody>
      </p:sp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827088" y="4227513"/>
          <a:ext cx="3344862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4" imgW="1879560" imgH="266400" progId="Equation.3">
                  <p:embed/>
                </p:oleObj>
              </mc:Choice>
              <mc:Fallback>
                <p:oleObj name="Equation" r:id="rId4" imgW="1879560" imgH="266400" progId="Equation.3">
                  <p:embed/>
                  <p:pic>
                    <p:nvPicPr>
                      <p:cNvPr id="614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227513"/>
                        <a:ext cx="3344862" cy="474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8" name="Text Box 8"/>
          <p:cNvSpPr txBox="1">
            <a:spLocks noChangeArrowheads="1"/>
          </p:cNvSpPr>
          <p:nvPr/>
        </p:nvSpPr>
        <p:spPr bwMode="auto">
          <a:xfrm>
            <a:off x="468313" y="2205038"/>
            <a:ext cx="8012112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/>
              <a:t>Para escrever uma expressão booleana apenas com operadores </a:t>
            </a: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NOR</a:t>
            </a:r>
            <a:r>
              <a:rPr lang="pt-PT"/>
              <a:t> deve-se primeiro colocá-la na forma do produto de somas e a seguir aplicar o teorema de involução e as leis de DeMorgan</a:t>
            </a:r>
            <a:endParaRPr lang="en-US"/>
          </a:p>
        </p:txBody>
      </p:sp>
      <p:graphicFrame>
        <p:nvGraphicFramePr>
          <p:cNvPr id="61449" name="Object 9"/>
          <p:cNvGraphicFramePr>
            <a:graphicFrameLocks noChangeAspect="1"/>
          </p:cNvGraphicFramePr>
          <p:nvPr/>
        </p:nvGraphicFramePr>
        <p:xfrm>
          <a:off x="827088" y="4826000"/>
          <a:ext cx="632936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6" imgW="3555720" imgH="266400" progId="Equation.3">
                  <p:embed/>
                </p:oleObj>
              </mc:Choice>
              <mc:Fallback>
                <p:oleObj name="Equation" r:id="rId6" imgW="3555720" imgH="266400" progId="Equation.3">
                  <p:embed/>
                  <p:pic>
                    <p:nvPicPr>
                      <p:cNvPr id="6144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826000"/>
                        <a:ext cx="6329362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948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00" decel="1000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5" grpId="0"/>
      <p:bldP spid="6144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4824412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Funções booleanas</a:t>
            </a:r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374650" y="1052513"/>
            <a:ext cx="822960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pt-PT">
                <a:solidFill>
                  <a:srgbClr val="003366"/>
                </a:solidFill>
              </a:rPr>
              <a:t>Uma </a:t>
            </a: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função booleana</a:t>
            </a:r>
            <a:r>
              <a:rPr lang="pt-PT">
                <a:solidFill>
                  <a:srgbClr val="003366"/>
                </a:solidFill>
              </a:rPr>
              <a:t> é uma correspondência que associa um elemento do conjunto B={0,1} a cada uma das 2</a:t>
            </a:r>
            <a:r>
              <a:rPr lang="pt-PT" baseline="30000">
                <a:solidFill>
                  <a:srgbClr val="003366"/>
                </a:solidFill>
              </a:rPr>
              <a:t>n</a:t>
            </a:r>
            <a:r>
              <a:rPr lang="pt-PT">
                <a:solidFill>
                  <a:srgbClr val="003366"/>
                </a:solidFill>
              </a:rPr>
              <a:t> combinações possíveis que as variáveis podem assumir.</a:t>
            </a:r>
          </a:p>
          <a:p>
            <a:pPr>
              <a:spcBef>
                <a:spcPct val="20000"/>
              </a:spcBef>
              <a:defRPr/>
            </a:pPr>
            <a:endParaRPr lang="pt-PT">
              <a:solidFill>
                <a:srgbClr val="003366"/>
              </a:solidFill>
            </a:endParaRP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1909763" y="2133600"/>
            <a:ext cx="4533900" cy="1441450"/>
            <a:chOff x="1203" y="1434"/>
            <a:chExt cx="2856" cy="908"/>
          </a:xfrm>
        </p:grpSpPr>
        <p:sp>
          <p:nvSpPr>
            <p:cNvPr id="9228" name="Rectangle 4"/>
            <p:cNvSpPr>
              <a:spLocks noChangeArrowheads="1"/>
            </p:cNvSpPr>
            <p:nvPr/>
          </p:nvSpPr>
          <p:spPr bwMode="auto">
            <a:xfrm>
              <a:off x="1838" y="1434"/>
              <a:ext cx="1542" cy="908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176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ctr"/>
              <a:r>
                <a:rPr lang="pt-PT">
                  <a:solidFill>
                    <a:srgbClr val="000066"/>
                  </a:solidFill>
                </a:rPr>
                <a:t>Sistema digital</a:t>
              </a:r>
              <a:endParaRPr lang="en-US">
                <a:solidFill>
                  <a:srgbClr val="000066"/>
                </a:solidFill>
              </a:endParaRPr>
            </a:p>
          </p:txBody>
        </p:sp>
        <p:sp>
          <p:nvSpPr>
            <p:cNvPr id="9229" name="Line 6"/>
            <p:cNvSpPr>
              <a:spLocks noChangeShapeType="1"/>
            </p:cNvSpPr>
            <p:nvPr/>
          </p:nvSpPr>
          <p:spPr bwMode="auto">
            <a:xfrm>
              <a:off x="1430" y="1646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0" name="Text Box 7"/>
            <p:cNvSpPr txBox="1">
              <a:spLocks noChangeArrowheads="1"/>
            </p:cNvSpPr>
            <p:nvPr/>
          </p:nvSpPr>
          <p:spPr bwMode="auto">
            <a:xfrm>
              <a:off x="1203" y="1505"/>
              <a:ext cx="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x</a:t>
              </a:r>
              <a:r>
                <a:rPr lang="pt-PT" baseline="-25000">
                  <a:solidFill>
                    <a:srgbClr val="A50021"/>
                  </a:solidFill>
                </a:rPr>
                <a:t>1</a:t>
              </a:r>
              <a:endParaRPr lang="en-US" baseline="-25000">
                <a:solidFill>
                  <a:srgbClr val="A50021"/>
                </a:solidFill>
              </a:endParaRPr>
            </a:p>
          </p:txBody>
        </p:sp>
        <p:sp>
          <p:nvSpPr>
            <p:cNvPr id="9231" name="Line 8"/>
            <p:cNvSpPr>
              <a:spLocks noChangeShapeType="1"/>
            </p:cNvSpPr>
            <p:nvPr/>
          </p:nvSpPr>
          <p:spPr bwMode="auto">
            <a:xfrm>
              <a:off x="1430" y="1827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2" name="Text Box 9"/>
            <p:cNvSpPr txBox="1">
              <a:spLocks noChangeArrowheads="1"/>
            </p:cNvSpPr>
            <p:nvPr/>
          </p:nvSpPr>
          <p:spPr bwMode="auto">
            <a:xfrm>
              <a:off x="1203" y="1686"/>
              <a:ext cx="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x</a:t>
              </a:r>
              <a:r>
                <a:rPr lang="pt-PT" baseline="-25000">
                  <a:solidFill>
                    <a:srgbClr val="A50021"/>
                  </a:solidFill>
                </a:rPr>
                <a:t>2</a:t>
              </a:r>
              <a:endParaRPr lang="en-US" baseline="-25000">
                <a:solidFill>
                  <a:srgbClr val="A50021"/>
                </a:solidFill>
              </a:endParaRPr>
            </a:p>
          </p:txBody>
        </p:sp>
        <p:sp>
          <p:nvSpPr>
            <p:cNvPr id="9233" name="Line 10"/>
            <p:cNvSpPr>
              <a:spLocks noChangeShapeType="1"/>
            </p:cNvSpPr>
            <p:nvPr/>
          </p:nvSpPr>
          <p:spPr bwMode="auto">
            <a:xfrm>
              <a:off x="1430" y="2004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4" name="Text Box 11"/>
            <p:cNvSpPr txBox="1">
              <a:spLocks noChangeArrowheads="1"/>
            </p:cNvSpPr>
            <p:nvPr/>
          </p:nvSpPr>
          <p:spPr bwMode="auto">
            <a:xfrm>
              <a:off x="1203" y="1856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...</a:t>
              </a:r>
              <a:endParaRPr lang="en-US" baseline="-25000">
                <a:solidFill>
                  <a:srgbClr val="A50021"/>
                </a:solidFill>
              </a:endParaRPr>
            </a:p>
          </p:txBody>
        </p:sp>
        <p:sp>
          <p:nvSpPr>
            <p:cNvPr id="9235" name="Line 12"/>
            <p:cNvSpPr>
              <a:spLocks noChangeShapeType="1"/>
            </p:cNvSpPr>
            <p:nvPr/>
          </p:nvSpPr>
          <p:spPr bwMode="auto">
            <a:xfrm>
              <a:off x="1430" y="2186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6" name="Text Box 13"/>
            <p:cNvSpPr txBox="1">
              <a:spLocks noChangeArrowheads="1"/>
            </p:cNvSpPr>
            <p:nvPr/>
          </p:nvSpPr>
          <p:spPr bwMode="auto">
            <a:xfrm>
              <a:off x="1203" y="2020"/>
              <a:ext cx="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x</a:t>
              </a:r>
              <a:r>
                <a:rPr lang="pt-PT" baseline="-25000">
                  <a:solidFill>
                    <a:srgbClr val="A50021"/>
                  </a:solidFill>
                </a:rPr>
                <a:t>n</a:t>
              </a:r>
              <a:endParaRPr lang="en-US" baseline="-25000">
                <a:solidFill>
                  <a:srgbClr val="A50021"/>
                </a:solidFill>
              </a:endParaRPr>
            </a:p>
          </p:txBody>
        </p:sp>
        <p:sp>
          <p:nvSpPr>
            <p:cNvPr id="9237" name="Line 21"/>
            <p:cNvSpPr>
              <a:spLocks noChangeShapeType="1"/>
            </p:cNvSpPr>
            <p:nvPr/>
          </p:nvSpPr>
          <p:spPr bwMode="auto">
            <a:xfrm>
              <a:off x="3401" y="1646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8" name="Text Box 22"/>
            <p:cNvSpPr txBox="1">
              <a:spLocks noChangeArrowheads="1"/>
            </p:cNvSpPr>
            <p:nvPr/>
          </p:nvSpPr>
          <p:spPr bwMode="auto">
            <a:xfrm>
              <a:off x="3791" y="1505"/>
              <a:ext cx="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y</a:t>
              </a:r>
              <a:r>
                <a:rPr lang="pt-PT" baseline="-25000">
                  <a:solidFill>
                    <a:srgbClr val="A50021"/>
                  </a:solidFill>
                </a:rPr>
                <a:t>1</a:t>
              </a:r>
              <a:endParaRPr lang="en-US" baseline="-25000">
                <a:solidFill>
                  <a:srgbClr val="A50021"/>
                </a:solidFill>
              </a:endParaRPr>
            </a:p>
          </p:txBody>
        </p:sp>
        <p:sp>
          <p:nvSpPr>
            <p:cNvPr id="9239" name="Line 23"/>
            <p:cNvSpPr>
              <a:spLocks noChangeShapeType="1"/>
            </p:cNvSpPr>
            <p:nvPr/>
          </p:nvSpPr>
          <p:spPr bwMode="auto">
            <a:xfrm>
              <a:off x="3401" y="1827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0" name="Text Box 24"/>
            <p:cNvSpPr txBox="1">
              <a:spLocks noChangeArrowheads="1"/>
            </p:cNvSpPr>
            <p:nvPr/>
          </p:nvSpPr>
          <p:spPr bwMode="auto">
            <a:xfrm>
              <a:off x="3791" y="1686"/>
              <a:ext cx="2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y</a:t>
              </a:r>
              <a:r>
                <a:rPr lang="pt-PT" baseline="-25000">
                  <a:solidFill>
                    <a:srgbClr val="A50021"/>
                  </a:solidFill>
                </a:rPr>
                <a:t>2</a:t>
              </a:r>
              <a:endParaRPr lang="en-US" baseline="-25000">
                <a:solidFill>
                  <a:srgbClr val="A50021"/>
                </a:solidFill>
              </a:endParaRPr>
            </a:p>
          </p:txBody>
        </p:sp>
        <p:sp>
          <p:nvSpPr>
            <p:cNvPr id="9241" name="Line 25"/>
            <p:cNvSpPr>
              <a:spLocks noChangeShapeType="1"/>
            </p:cNvSpPr>
            <p:nvPr/>
          </p:nvSpPr>
          <p:spPr bwMode="auto">
            <a:xfrm>
              <a:off x="3401" y="2004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2" name="Text Box 26"/>
            <p:cNvSpPr txBox="1">
              <a:spLocks noChangeArrowheads="1"/>
            </p:cNvSpPr>
            <p:nvPr/>
          </p:nvSpPr>
          <p:spPr bwMode="auto">
            <a:xfrm>
              <a:off x="3791" y="1856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...</a:t>
              </a:r>
              <a:endParaRPr lang="en-US" baseline="-25000">
                <a:solidFill>
                  <a:srgbClr val="A50021"/>
                </a:solidFill>
              </a:endParaRPr>
            </a:p>
          </p:txBody>
        </p:sp>
        <p:sp>
          <p:nvSpPr>
            <p:cNvPr id="9243" name="Line 27"/>
            <p:cNvSpPr>
              <a:spLocks noChangeShapeType="1"/>
            </p:cNvSpPr>
            <p:nvPr/>
          </p:nvSpPr>
          <p:spPr bwMode="auto">
            <a:xfrm>
              <a:off x="3401" y="2186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4" name="Text Box 28"/>
            <p:cNvSpPr txBox="1">
              <a:spLocks noChangeArrowheads="1"/>
            </p:cNvSpPr>
            <p:nvPr/>
          </p:nvSpPr>
          <p:spPr bwMode="auto">
            <a:xfrm>
              <a:off x="3791" y="2020"/>
              <a:ext cx="26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A50021"/>
                  </a:solidFill>
                </a:rPr>
                <a:t>y</a:t>
              </a:r>
              <a:r>
                <a:rPr lang="pt-PT" baseline="-25000">
                  <a:solidFill>
                    <a:srgbClr val="A50021"/>
                  </a:solidFill>
                </a:rPr>
                <a:t>m</a:t>
              </a:r>
              <a:endParaRPr lang="en-US" baseline="-25000">
                <a:solidFill>
                  <a:srgbClr val="A50021"/>
                </a:solidFill>
              </a:endParaRPr>
            </a:p>
          </p:txBody>
        </p:sp>
      </p:grpSp>
      <p:sp>
        <p:nvSpPr>
          <p:cNvPr id="9223" name="Text Box 29"/>
          <p:cNvSpPr txBox="1">
            <a:spLocks noChangeArrowheads="1"/>
          </p:cNvSpPr>
          <p:nvPr/>
        </p:nvSpPr>
        <p:spPr bwMode="auto">
          <a:xfrm>
            <a:off x="1095375" y="50911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51" name="Text Box 31"/>
          <p:cNvSpPr txBox="1">
            <a:spLocks noChangeArrowheads="1"/>
          </p:cNvSpPr>
          <p:nvPr/>
        </p:nvSpPr>
        <p:spPr bwMode="auto">
          <a:xfrm>
            <a:off x="663575" y="3860800"/>
            <a:ext cx="75803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dirty="0"/>
              <a:t>Existem </a:t>
            </a:r>
            <a:r>
              <a:rPr lang="pt-PT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pt-PT" baseline="30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lang="en-US" baseline="30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charset="0"/>
              </a:rPr>
              <a:t>×</a:t>
            </a:r>
            <a:r>
              <a:rPr lang="pt-PT" baseline="30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pt-PT" baseline="60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dirty="0"/>
              <a:t> funções booleanas diferentes que podem ser implementadas num sistema digital com </a:t>
            </a:r>
            <a:r>
              <a:rPr lang="pt-PT" i="1" dirty="0">
                <a:solidFill>
                  <a:srgbClr val="A50021"/>
                </a:solidFill>
              </a:rPr>
              <a:t>n</a:t>
            </a:r>
            <a:r>
              <a:rPr lang="pt-PT" dirty="0"/>
              <a:t> entradas e </a:t>
            </a:r>
            <a:r>
              <a:rPr lang="pt-PT" i="1" dirty="0">
                <a:solidFill>
                  <a:srgbClr val="A50021"/>
                </a:solidFill>
              </a:rPr>
              <a:t>m</a:t>
            </a:r>
            <a:r>
              <a:rPr lang="pt-PT" dirty="0"/>
              <a:t> saídas.</a:t>
            </a:r>
            <a:endParaRPr lang="en-US" dirty="0"/>
          </a:p>
        </p:txBody>
      </p:sp>
      <p:sp>
        <p:nvSpPr>
          <p:cNvPr id="56353" name="Text Box 33"/>
          <p:cNvSpPr txBox="1">
            <a:spLocks noChangeArrowheads="1"/>
          </p:cNvSpPr>
          <p:nvPr/>
        </p:nvSpPr>
        <p:spPr bwMode="auto">
          <a:xfrm>
            <a:off x="755650" y="4711700"/>
            <a:ext cx="1249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56354" name="Text Box 34"/>
          <p:cNvSpPr txBox="1">
            <a:spLocks noChangeArrowheads="1"/>
          </p:cNvSpPr>
          <p:nvPr/>
        </p:nvSpPr>
        <p:spPr bwMode="auto">
          <a:xfrm>
            <a:off x="808038" y="5222875"/>
            <a:ext cx="2720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/>
              <a:t>Para </a:t>
            </a:r>
            <a:r>
              <a:rPr lang="pt-PT" i="1"/>
              <a:t>n</a:t>
            </a:r>
            <a:r>
              <a:rPr lang="pt-PT"/>
              <a:t>=1, </a:t>
            </a:r>
            <a:r>
              <a:rPr lang="pt-PT" i="1"/>
              <a:t>m</a:t>
            </a:r>
            <a:r>
              <a:rPr lang="pt-PT"/>
              <a:t>=1: 2</a:t>
            </a:r>
            <a:r>
              <a:rPr lang="pt-PT" baseline="30000"/>
              <a:t>1</a:t>
            </a:r>
            <a:r>
              <a:rPr lang="en-US" baseline="30000"/>
              <a:t>×</a:t>
            </a:r>
            <a:r>
              <a:rPr lang="pt-PT" baseline="30000"/>
              <a:t>2</a:t>
            </a:r>
            <a:r>
              <a:rPr lang="pt-PT" baseline="60000"/>
              <a:t>1</a:t>
            </a:r>
            <a:r>
              <a:rPr lang="pt-PT"/>
              <a:t> = 4</a:t>
            </a:r>
            <a:endParaRPr lang="en-US"/>
          </a:p>
        </p:txBody>
      </p:sp>
      <p:graphicFrame>
        <p:nvGraphicFramePr>
          <p:cNvPr id="56355" name="Object 35"/>
          <p:cNvGraphicFramePr>
            <a:graphicFrameLocks noChangeAspect="1"/>
          </p:cNvGraphicFramePr>
          <p:nvPr/>
        </p:nvGraphicFramePr>
        <p:xfrm>
          <a:off x="4530725" y="4999038"/>
          <a:ext cx="3929063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Document" r:id="rId4" imgW="6211080" imgH="4067280" progId="Word.Document.8">
                  <p:embed/>
                </p:oleObj>
              </mc:Choice>
              <mc:Fallback>
                <p:oleObj name="Document" r:id="rId4" imgW="6211080" imgH="4067280" progId="Word.Document.8">
                  <p:embed/>
                  <p:pic>
                    <p:nvPicPr>
                      <p:cNvPr id="56355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3471" b="83200"/>
                      <a:stretch>
                        <a:fillRect/>
                      </a:stretch>
                    </p:blipFill>
                    <p:spPr bwMode="auto">
                      <a:xfrm>
                        <a:off x="4530725" y="4999038"/>
                        <a:ext cx="3929063" cy="763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56" name="Text Box 36"/>
          <p:cNvSpPr txBox="1">
            <a:spLocks noChangeArrowheads="1"/>
          </p:cNvSpPr>
          <p:nvPr/>
        </p:nvSpPr>
        <p:spPr bwMode="auto">
          <a:xfrm>
            <a:off x="827088" y="5799138"/>
            <a:ext cx="6553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/>
              <a:t>Para </a:t>
            </a:r>
            <a:r>
              <a:rPr lang="pt-PT" i="1"/>
              <a:t>n</a:t>
            </a:r>
            <a:r>
              <a:rPr lang="pt-PT"/>
              <a:t>=4, </a:t>
            </a:r>
            <a:r>
              <a:rPr lang="pt-PT" i="1"/>
              <a:t>m</a:t>
            </a:r>
            <a:r>
              <a:rPr lang="pt-PT"/>
              <a:t>=3: 2</a:t>
            </a:r>
            <a:r>
              <a:rPr lang="pt-PT" baseline="30000"/>
              <a:t>3</a:t>
            </a:r>
            <a:r>
              <a:rPr lang="en-US" baseline="30000"/>
              <a:t>×</a:t>
            </a:r>
            <a:r>
              <a:rPr lang="pt-PT" baseline="30000"/>
              <a:t>2</a:t>
            </a:r>
            <a:r>
              <a:rPr lang="pt-PT" baseline="60000"/>
              <a:t>4</a:t>
            </a:r>
            <a:r>
              <a:rPr lang="pt-PT"/>
              <a:t> = 2</a:t>
            </a:r>
            <a:r>
              <a:rPr lang="en-US" baseline="30000"/>
              <a:t>48</a:t>
            </a:r>
            <a:r>
              <a:rPr lang="en-US"/>
              <a:t>=</a:t>
            </a:r>
            <a:r>
              <a:rPr lang="en-US" baseline="30000"/>
              <a:t> </a:t>
            </a:r>
            <a:r>
              <a:rPr lang="en-US"/>
              <a:t>281 474 976 710 656</a:t>
            </a:r>
            <a:endParaRPr lang="en-US" baseline="3000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9788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63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6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56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6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6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63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6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56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6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63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6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 fill="hold"/>
                                        <p:tgtEl>
                                          <p:spTgt spid="56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6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/>
      <p:bldP spid="56351" grpId="0"/>
      <p:bldP spid="56353" grpId="0"/>
      <p:bldP spid="56354" grpId="0"/>
      <p:bldP spid="563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3816350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Funções duais</a:t>
            </a: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447675" y="1073150"/>
            <a:ext cx="7677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>
                <a:solidFill>
                  <a:srgbClr val="003366"/>
                </a:solidFill>
              </a:rPr>
              <a:t>Para obter a função dual de </a:t>
            </a:r>
            <a:r>
              <a:rPr lang="pt-PT" i="1">
                <a:solidFill>
                  <a:srgbClr val="003366"/>
                </a:solidFill>
              </a:rPr>
              <a:t>f</a:t>
            </a:r>
            <a:r>
              <a:rPr lang="pt-PT">
                <a:solidFill>
                  <a:srgbClr val="003366"/>
                </a:solidFill>
              </a:rPr>
              <a:t>, deve-se aplicar o princípio de dualidade a </a:t>
            </a:r>
            <a:r>
              <a:rPr lang="pt-PT" i="1">
                <a:solidFill>
                  <a:srgbClr val="003366"/>
                </a:solidFill>
              </a:rPr>
              <a:t>f</a:t>
            </a:r>
            <a:r>
              <a:rPr lang="pt-PT">
                <a:solidFill>
                  <a:srgbClr val="003366"/>
                </a:solidFill>
              </a:rPr>
              <a:t>.</a:t>
            </a:r>
            <a:endParaRPr lang="en-US">
              <a:solidFill>
                <a:srgbClr val="003366"/>
              </a:solidFill>
            </a:endParaRPr>
          </a:p>
        </p:txBody>
      </p:sp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1403350" y="1557338"/>
          <a:ext cx="60483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4" imgW="2819160" imgH="241200" progId="Equation.3">
                  <p:embed/>
                </p:oleObj>
              </mc:Choice>
              <mc:Fallback>
                <p:oleObj name="Equation" r:id="rId4" imgW="2819160" imgH="241200" progId="Equation.3">
                  <p:embed/>
                  <p:pic>
                    <p:nvPicPr>
                      <p:cNvPr id="573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557338"/>
                        <a:ext cx="6048375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468313" y="2270125"/>
            <a:ext cx="40084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>
                <a:solidFill>
                  <a:srgbClr val="003366"/>
                </a:solidFill>
              </a:rPr>
              <a:t>Uma função </a:t>
            </a:r>
            <a:r>
              <a:rPr lang="pt-PT" i="1">
                <a:solidFill>
                  <a:srgbClr val="003366"/>
                </a:solidFill>
              </a:rPr>
              <a:t>f</a:t>
            </a:r>
            <a:r>
              <a:rPr lang="pt-PT">
                <a:solidFill>
                  <a:srgbClr val="003366"/>
                </a:solidFill>
              </a:rPr>
              <a:t> é </a:t>
            </a: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auto-dual</a:t>
            </a:r>
            <a:r>
              <a:rPr lang="pt-PT">
                <a:solidFill>
                  <a:srgbClr val="003366"/>
                </a:solidFill>
              </a:rPr>
              <a:t> se </a:t>
            </a:r>
            <a:r>
              <a:rPr lang="pt-PT" i="1">
                <a:solidFill>
                  <a:srgbClr val="003366"/>
                </a:solidFill>
              </a:rPr>
              <a:t>f </a:t>
            </a:r>
            <a:r>
              <a:rPr lang="pt-PT">
                <a:solidFill>
                  <a:srgbClr val="003366"/>
                </a:solidFill>
              </a:rPr>
              <a:t>= </a:t>
            </a:r>
            <a:r>
              <a:rPr lang="pt-PT" i="1">
                <a:solidFill>
                  <a:srgbClr val="003366"/>
                </a:solidFill>
              </a:rPr>
              <a:t>f</a:t>
            </a:r>
            <a:r>
              <a:rPr lang="pt-PT" baseline="30000">
                <a:solidFill>
                  <a:srgbClr val="003366"/>
                </a:solidFill>
              </a:rPr>
              <a:t>D</a:t>
            </a:r>
            <a:r>
              <a:rPr lang="pt-PT">
                <a:solidFill>
                  <a:srgbClr val="003366"/>
                </a:solidFill>
              </a:rPr>
              <a:t>  =&gt;</a:t>
            </a:r>
            <a:endParaRPr lang="en-US">
              <a:solidFill>
                <a:srgbClr val="003366"/>
              </a:solidFill>
            </a:endParaRP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755650" y="3068638"/>
            <a:ext cx="11382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>
              <a:solidFill>
                <a:srgbClr val="A50021"/>
              </a:solidFill>
              <a:latin typeface="Comic Sans MS" pitchFamily="66" charset="0"/>
            </a:endParaRPr>
          </a:p>
        </p:txBody>
      </p:sp>
      <p:graphicFrame>
        <p:nvGraphicFramePr>
          <p:cNvPr id="57353" name="Object 9"/>
          <p:cNvGraphicFramePr>
            <a:graphicFrameLocks noChangeAspect="1"/>
          </p:cNvGraphicFramePr>
          <p:nvPr/>
        </p:nvGraphicFramePr>
        <p:xfrm>
          <a:off x="827088" y="3644900"/>
          <a:ext cx="346868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6" imgW="1752480" imgH="203040" progId="Equation.3">
                  <p:embed/>
                </p:oleObj>
              </mc:Choice>
              <mc:Fallback>
                <p:oleObj name="Equation" r:id="rId6" imgW="1752480" imgH="203040" progId="Equation.3">
                  <p:embed/>
                  <p:pic>
                    <p:nvPicPr>
                      <p:cNvPr id="573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644900"/>
                        <a:ext cx="3468687" cy="40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4" name="Object 10"/>
          <p:cNvGraphicFramePr>
            <a:graphicFrameLocks noChangeAspect="1"/>
          </p:cNvGraphicFramePr>
          <p:nvPr/>
        </p:nvGraphicFramePr>
        <p:xfrm>
          <a:off x="755650" y="4129088"/>
          <a:ext cx="4624388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8" imgW="2336760" imgH="228600" progId="Equation.3">
                  <p:embed/>
                </p:oleObj>
              </mc:Choice>
              <mc:Fallback>
                <p:oleObj name="Equation" r:id="rId8" imgW="2336760" imgH="228600" progId="Equation.3">
                  <p:embed/>
                  <p:pic>
                    <p:nvPicPr>
                      <p:cNvPr id="573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129088"/>
                        <a:ext cx="4624388" cy="452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5" name="Object 11"/>
          <p:cNvGraphicFramePr>
            <a:graphicFrameLocks noChangeAspect="1"/>
          </p:cNvGraphicFramePr>
          <p:nvPr/>
        </p:nvGraphicFramePr>
        <p:xfrm>
          <a:off x="2124075" y="4802188"/>
          <a:ext cx="264001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10" imgW="1333440" imgH="203040" progId="Equation.3">
                  <p:embed/>
                </p:oleObj>
              </mc:Choice>
              <mc:Fallback>
                <p:oleObj name="Equation" r:id="rId10" imgW="1333440" imgH="203040" progId="Equation.3">
                  <p:embed/>
                  <p:pic>
                    <p:nvPicPr>
                      <p:cNvPr id="573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802188"/>
                        <a:ext cx="2640013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6" name="Object 12"/>
          <p:cNvGraphicFramePr>
            <a:graphicFrameLocks noChangeAspect="1"/>
          </p:cNvGraphicFramePr>
          <p:nvPr/>
        </p:nvGraphicFramePr>
        <p:xfrm>
          <a:off x="2171700" y="5332413"/>
          <a:ext cx="369570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12" imgW="1866600" imgH="203040" progId="Equation.3">
                  <p:embed/>
                </p:oleObj>
              </mc:Choice>
              <mc:Fallback>
                <p:oleObj name="Equation" r:id="rId12" imgW="1866600" imgH="203040" progId="Equation.3">
                  <p:embed/>
                  <p:pic>
                    <p:nvPicPr>
                      <p:cNvPr id="5735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5332413"/>
                        <a:ext cx="3695700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7" name="Object 13"/>
          <p:cNvGraphicFramePr>
            <a:graphicFrameLocks noChangeAspect="1"/>
          </p:cNvGraphicFramePr>
          <p:nvPr/>
        </p:nvGraphicFramePr>
        <p:xfrm>
          <a:off x="6084888" y="3284538"/>
          <a:ext cx="2755900" cy="233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Document" r:id="rId14" imgW="6211080" imgH="4067280" progId="Word.Document.8">
                  <p:embed/>
                </p:oleObj>
              </mc:Choice>
              <mc:Fallback>
                <p:oleObj name="Document" r:id="rId14" imgW="6211080" imgH="4067280" progId="Word.Document.8">
                  <p:embed/>
                  <p:pic>
                    <p:nvPicPr>
                      <p:cNvPr id="5735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46368" b="53107"/>
                      <a:stretch>
                        <a:fillRect/>
                      </a:stretch>
                    </p:blipFill>
                    <p:spPr bwMode="auto">
                      <a:xfrm>
                        <a:off x="6084888" y="3284538"/>
                        <a:ext cx="2755900" cy="233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8" name="Object 14"/>
          <p:cNvGraphicFramePr>
            <a:graphicFrameLocks noChangeAspect="1"/>
          </p:cNvGraphicFramePr>
          <p:nvPr/>
        </p:nvGraphicFramePr>
        <p:xfrm>
          <a:off x="4511675" y="2178050"/>
          <a:ext cx="35702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16" imgW="1942920" imgH="253800" progId="Equation.3">
                  <p:embed/>
                </p:oleObj>
              </mc:Choice>
              <mc:Fallback>
                <p:oleObj name="Equation" r:id="rId16" imgW="1942920" imgH="253800" progId="Equation.3">
                  <p:embed/>
                  <p:pic>
                    <p:nvPicPr>
                      <p:cNvPr id="5735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2178050"/>
                        <a:ext cx="3570288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163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7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57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7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 fill="hold"/>
                                        <p:tgtEl>
                                          <p:spTgt spid="57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7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900" decel="100000" fill="hold"/>
                                        <p:tgtEl>
                                          <p:spTgt spid="57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7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7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  <p:bldP spid="57350" grpId="0"/>
      <p:bldP spid="5735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2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5832475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Representação de funções</a:t>
            </a: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392113" y="981075"/>
            <a:ext cx="3656012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indent="271463">
              <a:buFontTx/>
              <a:buChar char="-"/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tabular</a:t>
            </a:r>
            <a:r>
              <a:rPr lang="pt-PT">
                <a:solidFill>
                  <a:srgbClr val="003366"/>
                </a:solidFill>
              </a:rPr>
              <a:t> (tabela de verdade)</a:t>
            </a:r>
          </a:p>
          <a:p>
            <a:pPr indent="271463">
              <a:buFontTx/>
              <a:buChar char="-"/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algébrica</a:t>
            </a:r>
          </a:p>
          <a:p>
            <a:pPr indent="271463">
              <a:buFontTx/>
              <a:buChar char="-"/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esquemática</a:t>
            </a:r>
            <a:r>
              <a:rPr lang="pt-PT">
                <a:solidFill>
                  <a:srgbClr val="003366"/>
                </a:solidFill>
              </a:rPr>
              <a:t> (circuitos lógicos)</a:t>
            </a:r>
          </a:p>
          <a:p>
            <a:pPr indent="271463">
              <a:buFontTx/>
              <a:buChar char="-"/>
              <a:defRPr/>
            </a:pPr>
            <a:endParaRPr lang="en-US">
              <a:solidFill>
                <a:srgbClr val="003366"/>
              </a:solidFill>
            </a:endParaRPr>
          </a:p>
        </p:txBody>
      </p:sp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611188" y="2897188"/>
          <a:ext cx="2093912" cy="211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Document" r:id="rId4" imgW="6211080" imgH="4067280" progId="Word.Document.8">
                  <p:embed/>
                </p:oleObj>
              </mc:Choice>
              <mc:Fallback>
                <p:oleObj name="Document" r:id="rId4" imgW="6211080" imgH="4067280" progId="Word.Document.8">
                  <p:embed/>
                  <p:pic>
                    <p:nvPicPr>
                      <p:cNvPr id="583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55063" b="57532"/>
                      <a:stretch>
                        <a:fillRect/>
                      </a:stretch>
                    </p:blipFill>
                    <p:spPr bwMode="auto">
                      <a:xfrm>
                        <a:off x="611188" y="2897188"/>
                        <a:ext cx="2093912" cy="2116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468313" y="2276475"/>
            <a:ext cx="3359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>
                <a:solidFill>
                  <a:srgbClr val="003366"/>
                </a:solidFill>
              </a:rPr>
              <a:t>Representação </a:t>
            </a: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tabular</a:t>
            </a:r>
            <a:r>
              <a:rPr lang="pt-PT">
                <a:solidFill>
                  <a:srgbClr val="003366"/>
                </a:solidFill>
              </a:rPr>
              <a:t> é única:</a:t>
            </a:r>
            <a:endParaRPr lang="en-US">
              <a:solidFill>
                <a:srgbClr val="003366"/>
              </a:solidFill>
            </a:endParaRPr>
          </a:p>
        </p:txBody>
      </p:sp>
      <p:graphicFrame>
        <p:nvGraphicFramePr>
          <p:cNvPr id="58375" name="Object 7"/>
          <p:cNvGraphicFramePr>
            <a:graphicFrameLocks noChangeAspect="1"/>
          </p:cNvGraphicFramePr>
          <p:nvPr/>
        </p:nvGraphicFramePr>
        <p:xfrm>
          <a:off x="611188" y="2897188"/>
          <a:ext cx="2093912" cy="211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Document" r:id="rId6" imgW="6211080" imgH="4067280" progId="Word.Document.8">
                  <p:embed/>
                </p:oleObj>
              </mc:Choice>
              <mc:Fallback>
                <p:oleObj name="Document" r:id="rId6" imgW="6211080" imgH="4067280" progId="Word.Document.8">
                  <p:embed/>
                  <p:pic>
                    <p:nvPicPr>
                      <p:cNvPr id="583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55063" b="57532"/>
                      <a:stretch>
                        <a:fillRect/>
                      </a:stretch>
                    </p:blipFill>
                    <p:spPr bwMode="auto">
                      <a:xfrm>
                        <a:off x="611188" y="2897188"/>
                        <a:ext cx="2093912" cy="2116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4714875" y="1052513"/>
            <a:ext cx="41052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>
                <a:solidFill>
                  <a:srgbClr val="003366"/>
                </a:solidFill>
              </a:rPr>
              <a:t>Representação </a:t>
            </a: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algébrica</a:t>
            </a:r>
            <a:r>
              <a:rPr lang="pt-PT">
                <a:solidFill>
                  <a:srgbClr val="003366"/>
                </a:solidFill>
              </a:rPr>
              <a:t> inclui frequentemente termos redundantes:</a:t>
            </a:r>
            <a:endParaRPr lang="en-US">
              <a:solidFill>
                <a:srgbClr val="003366"/>
              </a:solidFill>
            </a:endParaRPr>
          </a:p>
        </p:txBody>
      </p:sp>
      <p:graphicFrame>
        <p:nvGraphicFramePr>
          <p:cNvPr id="58377" name="Object 9"/>
          <p:cNvGraphicFramePr>
            <a:graphicFrameLocks noChangeAspect="1"/>
          </p:cNvGraphicFramePr>
          <p:nvPr/>
        </p:nvGraphicFramePr>
        <p:xfrm>
          <a:off x="4754563" y="1916113"/>
          <a:ext cx="327342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8" imgW="1803240" imgH="203040" progId="Equation.3">
                  <p:embed/>
                </p:oleObj>
              </mc:Choice>
              <mc:Fallback>
                <p:oleObj name="Equation" r:id="rId8" imgW="1803240" imgH="203040" progId="Equation.3">
                  <p:embed/>
                  <p:pic>
                    <p:nvPicPr>
                      <p:cNvPr id="5837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4563" y="1916113"/>
                        <a:ext cx="3273425" cy="36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8" name="Object 10"/>
          <p:cNvGraphicFramePr>
            <a:graphicFrameLocks noChangeAspect="1"/>
          </p:cNvGraphicFramePr>
          <p:nvPr/>
        </p:nvGraphicFramePr>
        <p:xfrm>
          <a:off x="6046788" y="4354513"/>
          <a:ext cx="2211387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10" imgW="1218960" imgH="203040" progId="Equation.3">
                  <p:embed/>
                </p:oleObj>
              </mc:Choice>
              <mc:Fallback>
                <p:oleObj name="Equation" r:id="rId10" imgW="1218960" imgH="203040" progId="Equation.3">
                  <p:embed/>
                  <p:pic>
                    <p:nvPicPr>
                      <p:cNvPr id="5837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6788" y="4354513"/>
                        <a:ext cx="2211387" cy="36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0" name="Text Box 12"/>
          <p:cNvSpPr txBox="1">
            <a:spLocks noChangeArrowheads="1"/>
          </p:cNvSpPr>
          <p:nvPr/>
        </p:nvSpPr>
        <p:spPr bwMode="auto">
          <a:xfrm>
            <a:off x="5292725" y="3860800"/>
            <a:ext cx="3486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>
                <a:solidFill>
                  <a:srgbClr val="003366"/>
                </a:solidFill>
              </a:rPr>
              <a:t>=&gt; necessidade de simplificação</a:t>
            </a:r>
            <a:endParaRPr lang="en-US">
              <a:solidFill>
                <a:srgbClr val="003366"/>
              </a:solidFill>
            </a:endParaRPr>
          </a:p>
        </p:txBody>
      </p:sp>
      <p:pic>
        <p:nvPicPr>
          <p:cNvPr id="58381" name="Picture 13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156325" y="5084763"/>
            <a:ext cx="240823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83" name="Picture 15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130550" y="3500438"/>
            <a:ext cx="2589213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8384" name="Object 16"/>
          <p:cNvGraphicFramePr>
            <a:graphicFrameLocks noChangeAspect="1"/>
          </p:cNvGraphicFramePr>
          <p:nvPr/>
        </p:nvGraphicFramePr>
        <p:xfrm>
          <a:off x="6016625" y="2349500"/>
          <a:ext cx="2903538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4" imgW="1600200" imgH="190440" progId="Equation.3">
                  <p:embed/>
                </p:oleObj>
              </mc:Choice>
              <mc:Fallback>
                <p:oleObj name="Equation" r:id="rId14" imgW="1600200" imgH="190440" progId="Equation.3">
                  <p:embed/>
                  <p:pic>
                    <p:nvPicPr>
                      <p:cNvPr id="5838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625" y="2349500"/>
                        <a:ext cx="2903538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5" name="Text Box 17"/>
          <p:cNvSpPr txBox="1">
            <a:spLocks noChangeArrowheads="1"/>
          </p:cNvSpPr>
          <p:nvPr/>
        </p:nvSpPr>
        <p:spPr bwMode="auto">
          <a:xfrm>
            <a:off x="4140200" y="3278188"/>
            <a:ext cx="315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>
                <a:solidFill>
                  <a:srgbClr val="003366"/>
                </a:solidFill>
              </a:rPr>
              <a:t>Representação </a:t>
            </a: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esquemática</a:t>
            </a:r>
            <a:r>
              <a:rPr lang="pt-PT">
                <a:solidFill>
                  <a:srgbClr val="003366"/>
                </a:solidFill>
              </a:rPr>
              <a:t>:</a:t>
            </a:r>
            <a:endParaRPr lang="en-US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89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8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8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5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0" decel="1000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5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/>
      <p:bldP spid="58373" grpId="0"/>
      <p:bldP spid="58376" grpId="0"/>
      <p:bldP spid="58380" grpId="0"/>
      <p:bldP spid="5838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6" name="Text Box 21"/>
          <p:cNvSpPr txBox="1">
            <a:spLocks noChangeArrowheads="1"/>
          </p:cNvSpPr>
          <p:nvPr/>
        </p:nvSpPr>
        <p:spPr bwMode="auto">
          <a:xfrm>
            <a:off x="468313" y="2276872"/>
            <a:ext cx="59554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dirty="0">
                <a:solidFill>
                  <a:srgbClr val="003366"/>
                </a:solidFill>
              </a:rPr>
              <a:t>Prove que o operador NAND é funcionalmente completo</a:t>
            </a:r>
          </a:p>
        </p:txBody>
      </p:sp>
      <p:sp>
        <p:nvSpPr>
          <p:cNvPr id="13325" name="Text Box 27"/>
          <p:cNvSpPr txBox="1">
            <a:spLocks noChangeArrowheads="1"/>
          </p:cNvSpPr>
          <p:nvPr/>
        </p:nvSpPr>
        <p:spPr bwMode="auto">
          <a:xfrm>
            <a:off x="467544" y="2770911"/>
            <a:ext cx="860444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dirty="0">
                <a:solidFill>
                  <a:srgbClr val="003366"/>
                </a:solidFill>
              </a:rPr>
              <a:t>Quantas funções</a:t>
            </a:r>
            <a:r>
              <a:rPr lang="pt-PT" dirty="0"/>
              <a:t> </a:t>
            </a:r>
            <a:r>
              <a:rPr lang="pt-PT" dirty="0">
                <a:solidFill>
                  <a:srgbClr val="003366"/>
                </a:solidFill>
              </a:rPr>
              <a:t>booleanas</a:t>
            </a:r>
            <a:r>
              <a:rPr lang="pt-PT" dirty="0"/>
              <a:t> </a:t>
            </a:r>
            <a:r>
              <a:rPr lang="pt-PT" dirty="0">
                <a:solidFill>
                  <a:srgbClr val="003366"/>
                </a:solidFill>
              </a:rPr>
              <a:t>diferentes</a:t>
            </a:r>
            <a:r>
              <a:rPr lang="pt-PT" dirty="0"/>
              <a:t> </a:t>
            </a:r>
            <a:r>
              <a:rPr lang="pt-PT" dirty="0">
                <a:solidFill>
                  <a:srgbClr val="003366"/>
                </a:solidFill>
              </a:rPr>
              <a:t>se pode implementar num sistema digital com </a:t>
            </a:r>
            <a:r>
              <a:rPr lang="pt-PT" i="1" dirty="0">
                <a:solidFill>
                  <a:srgbClr val="A50021"/>
                </a:solidFill>
              </a:rPr>
              <a:t>2</a:t>
            </a:r>
            <a:r>
              <a:rPr lang="pt-PT" dirty="0"/>
              <a:t> </a:t>
            </a:r>
            <a:r>
              <a:rPr lang="pt-PT" dirty="0">
                <a:solidFill>
                  <a:srgbClr val="003366"/>
                </a:solidFill>
              </a:rPr>
              <a:t>entradas</a:t>
            </a:r>
            <a:r>
              <a:rPr lang="pt-PT" dirty="0"/>
              <a:t> </a:t>
            </a:r>
            <a:r>
              <a:rPr lang="pt-PT" dirty="0">
                <a:solidFill>
                  <a:srgbClr val="003366"/>
                </a:solidFill>
              </a:rPr>
              <a:t>e</a:t>
            </a:r>
            <a:r>
              <a:rPr lang="pt-PT" dirty="0"/>
              <a:t> </a:t>
            </a:r>
            <a:r>
              <a:rPr lang="pt-PT" i="1" dirty="0">
                <a:solidFill>
                  <a:srgbClr val="A50021"/>
                </a:solidFill>
              </a:rPr>
              <a:t>1</a:t>
            </a:r>
            <a:r>
              <a:rPr lang="pt-PT" dirty="0"/>
              <a:t> </a:t>
            </a:r>
            <a:r>
              <a:rPr lang="pt-PT" dirty="0">
                <a:solidFill>
                  <a:srgbClr val="003366"/>
                </a:solidFill>
              </a:rPr>
              <a:t>saída</a:t>
            </a:r>
          </a:p>
        </p:txBody>
      </p:sp>
      <p:sp>
        <p:nvSpPr>
          <p:cNvPr id="14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2519362" cy="3825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Exercícios</a:t>
            </a:r>
            <a:endParaRPr lang="en-US" sz="3600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15" name="Text Box 27"/>
          <p:cNvSpPr txBox="1">
            <a:spLocks noChangeArrowheads="1"/>
          </p:cNvSpPr>
          <p:nvPr/>
        </p:nvSpPr>
        <p:spPr bwMode="auto">
          <a:xfrm>
            <a:off x="467544" y="4643844"/>
            <a:ext cx="860444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dirty="0">
                <a:solidFill>
                  <a:srgbClr val="003366"/>
                </a:solidFill>
              </a:rPr>
              <a:t>Verifique se as funções</a:t>
            </a:r>
            <a:r>
              <a:rPr lang="pt-PT" dirty="0"/>
              <a:t> </a:t>
            </a:r>
            <a:r>
              <a:rPr lang="pt-PT" dirty="0">
                <a:solidFill>
                  <a:srgbClr val="003366"/>
                </a:solidFill>
              </a:rPr>
              <a:t>seguintes são </a:t>
            </a:r>
            <a:r>
              <a:rPr lang="pt-PT" dirty="0" err="1">
                <a:solidFill>
                  <a:srgbClr val="003366"/>
                </a:solidFill>
              </a:rPr>
              <a:t>auto-duais</a:t>
            </a:r>
            <a:r>
              <a:rPr lang="pt-PT" dirty="0">
                <a:solidFill>
                  <a:srgbClr val="003366"/>
                </a:solidFill>
              </a:rPr>
              <a:t>:</a:t>
            </a:r>
          </a:p>
        </p:txBody>
      </p:sp>
      <p:graphicFrame>
        <p:nvGraphicFramePr>
          <p:cNvPr id="16" name="Object 22"/>
          <p:cNvGraphicFramePr>
            <a:graphicFrameLocks noChangeAspect="1"/>
          </p:cNvGraphicFramePr>
          <p:nvPr/>
        </p:nvGraphicFramePr>
        <p:xfrm>
          <a:off x="673100" y="5061867"/>
          <a:ext cx="296068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ção" r:id="rId4" imgW="1765080" imgH="215640" progId="Equation.3">
                  <p:embed/>
                </p:oleObj>
              </mc:Choice>
              <mc:Fallback>
                <p:oleObj name="Equação" r:id="rId4" imgW="1765080" imgH="215640" progId="Equation.3">
                  <p:embed/>
                  <p:pic>
                    <p:nvPicPr>
                      <p:cNvPr id="1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5061867"/>
                        <a:ext cx="2960688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22"/>
          <p:cNvGraphicFramePr>
            <a:graphicFrameLocks noChangeAspect="1"/>
          </p:cNvGraphicFramePr>
          <p:nvPr/>
        </p:nvGraphicFramePr>
        <p:xfrm>
          <a:off x="683568" y="5588917"/>
          <a:ext cx="217328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ção" r:id="rId6" imgW="1295280" imgH="215640" progId="Equation.3">
                  <p:embed/>
                </p:oleObj>
              </mc:Choice>
              <mc:Fallback>
                <p:oleObj name="Equação" r:id="rId6" imgW="1295280" imgH="215640" progId="Equation.3">
                  <p:embed/>
                  <p:pic>
                    <p:nvPicPr>
                      <p:cNvPr id="5018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5588917"/>
                        <a:ext cx="2173288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1"/>
          <p:cNvSpPr txBox="1">
            <a:spLocks noChangeArrowheads="1"/>
          </p:cNvSpPr>
          <p:nvPr/>
        </p:nvSpPr>
        <p:spPr bwMode="auto">
          <a:xfrm>
            <a:off x="467544" y="1619508"/>
            <a:ext cx="77625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dirty="0">
                <a:solidFill>
                  <a:srgbClr val="003366"/>
                </a:solidFill>
              </a:rPr>
              <a:t>Prove o teorema de consenso: </a:t>
            </a:r>
            <a:r>
              <a:rPr lang="pt-PT" dirty="0">
                <a:solidFill>
                  <a:srgbClr val="003366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003366"/>
                </a:solidFill>
              </a:rPr>
              <a:t>x,y,z</a:t>
            </a:r>
            <a:r>
              <a:rPr lang="pt-PT" dirty="0">
                <a:solidFill>
                  <a:srgbClr val="003366"/>
                </a:solidFill>
                <a:sym typeface="Symbol" pitchFamily="18" charset="2"/>
              </a:rPr>
              <a:t>B   x  y +x  z + y  z = x  y +x  z</a:t>
            </a:r>
          </a:p>
        </p:txBody>
      </p:sp>
      <p:sp>
        <p:nvSpPr>
          <p:cNvPr id="9" name="Rectangle 31"/>
          <p:cNvSpPr>
            <a:spLocks noChangeArrowheads="1"/>
          </p:cNvSpPr>
          <p:nvPr/>
        </p:nvSpPr>
        <p:spPr bwMode="auto">
          <a:xfrm>
            <a:off x="4139952" y="1412776"/>
            <a:ext cx="3168352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pt-PT" dirty="0">
              <a:solidFill>
                <a:srgbClr val="003366"/>
              </a:solidFill>
              <a:sym typeface="Symbol" pitchFamily="18" charset="2"/>
            </a:endParaRPr>
          </a:p>
        </p:txBody>
      </p:sp>
      <p:sp>
        <p:nvSpPr>
          <p:cNvPr id="10" name="Text Box 21"/>
          <p:cNvSpPr txBox="1">
            <a:spLocks noChangeArrowheads="1"/>
          </p:cNvSpPr>
          <p:nvPr/>
        </p:nvSpPr>
        <p:spPr bwMode="auto">
          <a:xfrm>
            <a:off x="467544" y="1052736"/>
            <a:ext cx="63626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dirty="0">
                <a:solidFill>
                  <a:srgbClr val="003366"/>
                </a:solidFill>
              </a:rPr>
              <a:t>Prove o teorema de simplificação: </a:t>
            </a:r>
            <a:r>
              <a:rPr lang="pt-PT" dirty="0">
                <a:solidFill>
                  <a:srgbClr val="003366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003366"/>
                </a:solidFill>
              </a:rPr>
              <a:t>x,y</a:t>
            </a:r>
            <a:r>
              <a:rPr lang="pt-PT" dirty="0">
                <a:solidFill>
                  <a:srgbClr val="003366"/>
                </a:solidFill>
                <a:sym typeface="Symbol" pitchFamily="18" charset="2"/>
              </a:rPr>
              <a:t>B   x +x  y = x + y </a:t>
            </a:r>
          </a:p>
        </p:txBody>
      </p:sp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467544" y="3573016"/>
            <a:ext cx="860444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dirty="0">
                <a:solidFill>
                  <a:srgbClr val="003366"/>
                </a:solidFill>
              </a:rPr>
              <a:t>As expressões seguintes estão corretas?</a:t>
            </a:r>
          </a:p>
        </p:txBody>
      </p:sp>
      <p:graphicFrame>
        <p:nvGraphicFramePr>
          <p:cNvPr id="50187" name="Object 22"/>
          <p:cNvGraphicFramePr>
            <a:graphicFrameLocks noChangeAspect="1"/>
          </p:cNvGraphicFramePr>
          <p:nvPr/>
        </p:nvGraphicFramePr>
        <p:xfrm>
          <a:off x="1089025" y="4065588"/>
          <a:ext cx="2151063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ção" r:id="rId8" imgW="1282680" imgH="228600" progId="Equation.3">
                  <p:embed/>
                </p:oleObj>
              </mc:Choice>
              <mc:Fallback>
                <p:oleObj name="Equação" r:id="rId8" imgW="1282680" imgH="228600" progId="Equation.3">
                  <p:embed/>
                  <p:pic>
                    <p:nvPicPr>
                      <p:cNvPr id="5018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025" y="4065588"/>
                        <a:ext cx="2151063" cy="382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8" name="Object 22"/>
          <p:cNvGraphicFramePr>
            <a:graphicFrameLocks noChangeAspect="1"/>
          </p:cNvGraphicFramePr>
          <p:nvPr/>
        </p:nvGraphicFramePr>
        <p:xfrm>
          <a:off x="4270375" y="4076700"/>
          <a:ext cx="234315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ção" r:id="rId10" imgW="1396800" imgH="228600" progId="Equation.3">
                  <p:embed/>
                </p:oleObj>
              </mc:Choice>
              <mc:Fallback>
                <p:oleObj name="Equação" r:id="rId10" imgW="1396800" imgH="228600" progId="Equation.3">
                  <p:embed/>
                  <p:pic>
                    <p:nvPicPr>
                      <p:cNvPr id="5018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75" y="4076700"/>
                        <a:ext cx="2343150" cy="38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713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WordArt 2"/>
          <p:cNvSpPr>
            <a:spLocks noChangeArrowheads="1" noChangeShapeType="1" noTextEdit="1"/>
          </p:cNvSpPr>
          <p:nvPr/>
        </p:nvSpPr>
        <p:spPr bwMode="auto">
          <a:xfrm>
            <a:off x="468312" y="116632"/>
            <a:ext cx="3311600" cy="52630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Exercícios</a:t>
            </a:r>
            <a:r>
              <a:rPr lang="en-US" sz="3600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(cont.)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468313" y="981075"/>
            <a:ext cx="7842250" cy="887413"/>
            <a:chOff x="295" y="3067"/>
            <a:chExt cx="4940" cy="559"/>
          </a:xfrm>
        </p:grpSpPr>
        <p:sp>
          <p:nvSpPr>
            <p:cNvPr id="13326" name="Text Box 21"/>
            <p:cNvSpPr txBox="1">
              <a:spLocks noChangeArrowheads="1"/>
            </p:cNvSpPr>
            <p:nvPr/>
          </p:nvSpPr>
          <p:spPr bwMode="auto">
            <a:xfrm>
              <a:off x="295" y="3067"/>
              <a:ext cx="49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003366"/>
                  </a:solidFill>
                </a:rPr>
                <a:t>Exprima a função </a:t>
              </a:r>
              <a:r>
                <a:rPr lang="pt-PT" i="1">
                  <a:solidFill>
                    <a:srgbClr val="003366"/>
                  </a:solidFill>
                </a:rPr>
                <a:t>y</a:t>
              </a:r>
              <a:r>
                <a:rPr lang="pt-PT">
                  <a:solidFill>
                    <a:srgbClr val="003366"/>
                  </a:solidFill>
                </a:rPr>
                <a:t> na forma mais simples recorrendo a operadores NAND.</a:t>
              </a:r>
            </a:p>
          </p:txBody>
        </p:sp>
        <p:graphicFrame>
          <p:nvGraphicFramePr>
            <p:cNvPr id="13320" name="Object 22"/>
            <p:cNvGraphicFramePr>
              <a:graphicFrameLocks noChangeAspect="1"/>
            </p:cNvGraphicFramePr>
            <p:nvPr/>
          </p:nvGraphicFramePr>
          <p:xfrm>
            <a:off x="385" y="3385"/>
            <a:ext cx="1542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4" name="Equation" r:id="rId4" imgW="1460160" imgH="228600" progId="Equation.3">
                    <p:embed/>
                  </p:oleObj>
                </mc:Choice>
                <mc:Fallback>
                  <p:oleObj name="Equation" r:id="rId4" imgW="1460160" imgH="228600" progId="Equation.3">
                    <p:embed/>
                    <p:pic>
                      <p:nvPicPr>
                        <p:cNvPr id="1332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" y="3385"/>
                          <a:ext cx="1542" cy="2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767" name="Object 23"/>
          <p:cNvGraphicFramePr>
            <a:graphicFrameLocks noChangeAspect="1"/>
          </p:cNvGraphicFramePr>
          <p:nvPr/>
        </p:nvGraphicFramePr>
        <p:xfrm>
          <a:off x="3670300" y="1989138"/>
          <a:ext cx="4214813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6" imgW="2514600" imgH="228600" progId="Equation.3">
                  <p:embed/>
                </p:oleObj>
              </mc:Choice>
              <mc:Fallback>
                <p:oleObj name="Equation" r:id="rId6" imgW="2514600" imgH="228600" progId="Equation.3">
                  <p:embed/>
                  <p:pic>
                    <p:nvPicPr>
                      <p:cNvPr id="3176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0300" y="1989138"/>
                        <a:ext cx="4214813" cy="382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8" name="Object 24"/>
          <p:cNvGraphicFramePr>
            <a:graphicFrameLocks noChangeAspect="1"/>
          </p:cNvGraphicFramePr>
          <p:nvPr/>
        </p:nvGraphicFramePr>
        <p:xfrm>
          <a:off x="3678238" y="2379663"/>
          <a:ext cx="33416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8" imgW="1993680" imgH="279360" progId="Equation.3">
                  <p:embed/>
                </p:oleObj>
              </mc:Choice>
              <mc:Fallback>
                <p:oleObj name="Equation" r:id="rId8" imgW="1993680" imgH="279360" progId="Equation.3">
                  <p:embed/>
                  <p:pic>
                    <p:nvPicPr>
                      <p:cNvPr id="3176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238" y="2379663"/>
                        <a:ext cx="3341687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468313" y="3357563"/>
            <a:ext cx="7702550" cy="887412"/>
            <a:chOff x="295" y="3067"/>
            <a:chExt cx="4852" cy="559"/>
          </a:xfrm>
        </p:grpSpPr>
        <p:sp>
          <p:nvSpPr>
            <p:cNvPr id="13325" name="Text Box 27"/>
            <p:cNvSpPr txBox="1">
              <a:spLocks noChangeArrowheads="1"/>
            </p:cNvSpPr>
            <p:nvPr/>
          </p:nvSpPr>
          <p:spPr bwMode="auto">
            <a:xfrm>
              <a:off x="295" y="3067"/>
              <a:ext cx="48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003366"/>
                  </a:solidFill>
                </a:rPr>
                <a:t>Exprima a função </a:t>
              </a:r>
              <a:r>
                <a:rPr lang="pt-PT" i="1">
                  <a:solidFill>
                    <a:srgbClr val="003366"/>
                  </a:solidFill>
                </a:rPr>
                <a:t>y</a:t>
              </a:r>
              <a:r>
                <a:rPr lang="pt-PT">
                  <a:solidFill>
                    <a:srgbClr val="003366"/>
                  </a:solidFill>
                </a:rPr>
                <a:t> na forma mais simples recorrendo a operadores NOR.</a:t>
              </a:r>
            </a:p>
          </p:txBody>
        </p:sp>
        <p:graphicFrame>
          <p:nvGraphicFramePr>
            <p:cNvPr id="13319" name="Object 28"/>
            <p:cNvGraphicFramePr>
              <a:graphicFrameLocks noChangeAspect="1"/>
            </p:cNvGraphicFramePr>
            <p:nvPr/>
          </p:nvGraphicFramePr>
          <p:xfrm>
            <a:off x="385" y="3385"/>
            <a:ext cx="1542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7" name="Equation" r:id="rId10" imgW="1460160" imgH="228600" progId="Equation.3">
                    <p:embed/>
                  </p:oleObj>
                </mc:Choice>
                <mc:Fallback>
                  <p:oleObj name="Equation" r:id="rId10" imgW="1460160" imgH="228600" progId="Equation.3">
                    <p:embed/>
                    <p:pic>
                      <p:nvPicPr>
                        <p:cNvPr id="13319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" y="3385"/>
                          <a:ext cx="1542" cy="2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773" name="Object 29"/>
          <p:cNvGraphicFramePr>
            <a:graphicFrameLocks noChangeAspect="1"/>
          </p:cNvGraphicFramePr>
          <p:nvPr/>
        </p:nvGraphicFramePr>
        <p:xfrm>
          <a:off x="2339975" y="4581525"/>
          <a:ext cx="553402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11" imgW="3301920" imgH="228600" progId="Equation.3">
                  <p:embed/>
                </p:oleObj>
              </mc:Choice>
              <mc:Fallback>
                <p:oleObj name="Equation" r:id="rId11" imgW="3301920" imgH="228600" progId="Equation.3">
                  <p:embed/>
                  <p:pic>
                    <p:nvPicPr>
                      <p:cNvPr id="3177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581525"/>
                        <a:ext cx="5534025" cy="38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4" name="Object 30"/>
          <p:cNvGraphicFramePr>
            <a:graphicFrameLocks noChangeAspect="1"/>
          </p:cNvGraphicFramePr>
          <p:nvPr/>
        </p:nvGraphicFramePr>
        <p:xfrm>
          <a:off x="2339975" y="5483225"/>
          <a:ext cx="65547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tion" r:id="rId13" imgW="3911400" imgH="279360" progId="Equation.3">
                  <p:embed/>
                </p:oleObj>
              </mc:Choice>
              <mc:Fallback>
                <p:oleObj name="Equation" r:id="rId13" imgW="3911400" imgH="279360" progId="Equation.3">
                  <p:embed/>
                  <p:pic>
                    <p:nvPicPr>
                      <p:cNvPr id="3177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483225"/>
                        <a:ext cx="6554788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5" name="Object 31"/>
          <p:cNvGraphicFramePr>
            <a:graphicFrameLocks noChangeAspect="1"/>
          </p:cNvGraphicFramePr>
          <p:nvPr/>
        </p:nvGraphicFramePr>
        <p:xfrm>
          <a:off x="2351088" y="5062538"/>
          <a:ext cx="3278187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Equation" r:id="rId15" imgW="1955520" imgH="228600" progId="Equation.3">
                  <p:embed/>
                </p:oleObj>
              </mc:Choice>
              <mc:Fallback>
                <p:oleObj name="Equation" r:id="rId15" imgW="1955520" imgH="228600" progId="Equation.3">
                  <p:embed/>
                  <p:pic>
                    <p:nvPicPr>
                      <p:cNvPr id="31775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5062538"/>
                        <a:ext cx="3278187" cy="382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374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31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17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31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17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1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17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1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31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17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31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WordArt 7"/>
          <p:cNvSpPr>
            <a:spLocks noChangeArrowheads="1" noChangeShapeType="1" noTextEdit="1"/>
          </p:cNvSpPr>
          <p:nvPr/>
        </p:nvSpPr>
        <p:spPr bwMode="auto">
          <a:xfrm>
            <a:off x="611560" y="3068960"/>
            <a:ext cx="7920880" cy="273630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i="1" u="none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80000"/>
                    </a:srgbClr>
                  </a:outerShdw>
                </a:effectLst>
                <a:latin typeface="Arial Black"/>
              </a:rPr>
              <a:t>Teorema de </a:t>
            </a:r>
            <a:r>
              <a:rPr lang="pt-PT" sz="3600" i="1" u="none" kern="10" dirty="0" err="1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80000"/>
                    </a:srgbClr>
                  </a:outerShdw>
                </a:effectLst>
                <a:latin typeface="Arial Black"/>
              </a:rPr>
              <a:t>Shannon</a:t>
            </a:r>
            <a:endParaRPr lang="pt-PT" sz="3600" i="1" u="none" kern="10" dirty="0">
              <a:ln w="9525">
                <a:solidFill>
                  <a:srgbClr val="008000"/>
                </a:solidFill>
                <a:round/>
                <a:headEnd/>
                <a:tailEnd/>
              </a:ln>
              <a:solidFill>
                <a:srgbClr val="FFFFCC"/>
              </a:solidFill>
              <a:effectLst>
                <a:outerShdw dist="35921" dir="2700000" algn="ctr" rotWithShape="0">
                  <a:srgbClr val="808080">
                    <a:alpha val="80000"/>
                  </a:srgbClr>
                </a:outerShdw>
              </a:effectLst>
              <a:latin typeface="Arial Black"/>
            </a:endParaRPr>
          </a:p>
          <a:p>
            <a:pPr algn="ctr">
              <a:defRPr/>
            </a:pPr>
            <a:r>
              <a:rPr lang="pt-PT" sz="3600" i="1" u="none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80000"/>
                    </a:srgbClr>
                  </a:outerShdw>
                </a:effectLst>
                <a:latin typeface="Arial Black"/>
              </a:rPr>
              <a:t>Formas canónicas</a:t>
            </a:r>
          </a:p>
          <a:p>
            <a:pPr algn="ctr">
              <a:defRPr/>
            </a:pPr>
            <a:r>
              <a:rPr lang="pt-PT" sz="3600" i="1" u="none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80000"/>
                    </a:srgbClr>
                  </a:outerShdw>
                </a:effectLst>
                <a:latin typeface="Arial Black"/>
              </a:rPr>
              <a:t>Irrelevâncias</a:t>
            </a:r>
          </a:p>
          <a:p>
            <a:pPr algn="ctr">
              <a:defRPr/>
            </a:pPr>
            <a:r>
              <a:rPr lang="pt-PT" sz="3600" i="1" u="none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80000"/>
                    </a:srgbClr>
                  </a:outerShdw>
                </a:effectLst>
                <a:latin typeface="Arial Black"/>
              </a:rPr>
              <a:t>Minimização algébrica de funções Booleanas</a:t>
            </a:r>
          </a:p>
        </p:txBody>
      </p:sp>
      <p:sp>
        <p:nvSpPr>
          <p:cNvPr id="5" name="WordArt 4"/>
          <p:cNvSpPr>
            <a:spLocks noChangeArrowheads="1" noChangeShapeType="1" noTextEdit="1"/>
          </p:cNvSpPr>
          <p:nvPr/>
        </p:nvSpPr>
        <p:spPr bwMode="auto">
          <a:xfrm>
            <a:off x="755577" y="216024"/>
            <a:ext cx="7488832" cy="184482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Introdução</a:t>
            </a:r>
            <a:r>
              <a:rPr lang="en-US" sz="3600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aos</a:t>
            </a:r>
            <a:endParaRPr lang="en-US" sz="3600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  <a:p>
            <a:pPr algn="ctr"/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Sistemas</a:t>
            </a:r>
            <a:r>
              <a:rPr lang="en-US" sz="3600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Digitais</a:t>
            </a:r>
            <a:endParaRPr lang="en-US" sz="3600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574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597535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Termos mínimo e máximo</a:t>
            </a:r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395288" y="981075"/>
            <a:ext cx="8353425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indent="15875">
              <a:spcBef>
                <a:spcPct val="20000"/>
              </a:spcBef>
              <a:tabLst>
                <a:tab pos="0" algn="l"/>
              </a:tabLst>
              <a:defRPr/>
            </a:pP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Termo mínimo de ordem</a:t>
            </a:r>
            <a:r>
              <a:rPr lang="pt-PT" i="1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i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( m</a:t>
            </a:r>
            <a:r>
              <a:rPr lang="pt-PT" u="none" baseline="-25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)</a:t>
            </a:r>
            <a:r>
              <a:rPr lang="pt-PT" u="none" dirty="0"/>
              <a:t> </a:t>
            </a:r>
            <a:r>
              <a:rPr lang="pt-PT" u="none" dirty="0">
                <a:solidFill>
                  <a:srgbClr val="003366"/>
                </a:solidFill>
              </a:rPr>
              <a:t>- </a:t>
            </a:r>
            <a:r>
              <a:rPr lang="pt-PT" u="none" dirty="0">
                <a:solidFill>
                  <a:srgbClr val="A50021"/>
                </a:solidFill>
              </a:rPr>
              <a:t>produto</a:t>
            </a:r>
            <a:r>
              <a:rPr lang="pt-PT" u="none" dirty="0">
                <a:solidFill>
                  <a:srgbClr val="003366"/>
                </a:solidFill>
              </a:rPr>
              <a:t> lógico de </a:t>
            </a:r>
            <a:r>
              <a:rPr lang="pt-PT" i="1" u="none" dirty="0">
                <a:solidFill>
                  <a:srgbClr val="A50021"/>
                </a:solidFill>
              </a:rPr>
              <a:t>n</a:t>
            </a:r>
            <a:r>
              <a:rPr lang="pt-PT" u="none" dirty="0">
                <a:solidFill>
                  <a:srgbClr val="003366"/>
                </a:solidFill>
              </a:rPr>
              <a:t> variáveis booleanas independentes, em que cada uma delas aparece uma e uma só vez, </a:t>
            </a:r>
            <a:r>
              <a:rPr lang="pt-PT" u="none" dirty="0">
                <a:solidFill>
                  <a:srgbClr val="A50021"/>
                </a:solidFill>
              </a:rPr>
              <a:t>não complementada</a:t>
            </a:r>
            <a:r>
              <a:rPr lang="pt-PT" u="none" dirty="0">
                <a:solidFill>
                  <a:srgbClr val="003366"/>
                </a:solidFill>
              </a:rPr>
              <a:t> ou </a:t>
            </a:r>
            <a:r>
              <a:rPr lang="pt-PT" u="none" dirty="0">
                <a:solidFill>
                  <a:srgbClr val="A50021"/>
                </a:solidFill>
              </a:rPr>
              <a:t>complementada</a:t>
            </a:r>
            <a:r>
              <a:rPr lang="pt-PT" u="none" dirty="0">
                <a:solidFill>
                  <a:srgbClr val="003366"/>
                </a:solidFill>
              </a:rPr>
              <a:t> consoante toma valores </a:t>
            </a:r>
            <a:r>
              <a:rPr lang="pt-PT" u="none" dirty="0">
                <a:solidFill>
                  <a:srgbClr val="A50021"/>
                </a:solidFill>
              </a:rPr>
              <a:t>1</a:t>
            </a:r>
            <a:r>
              <a:rPr lang="pt-PT" u="none" dirty="0">
                <a:solidFill>
                  <a:srgbClr val="003366"/>
                </a:solidFill>
              </a:rPr>
              <a:t> ou </a:t>
            </a:r>
            <a:r>
              <a:rPr lang="pt-PT" u="none" dirty="0">
                <a:solidFill>
                  <a:srgbClr val="A50021"/>
                </a:solidFill>
              </a:rPr>
              <a:t>0</a:t>
            </a:r>
            <a:r>
              <a:rPr lang="pt-PT" u="none" dirty="0">
                <a:solidFill>
                  <a:srgbClr val="003366"/>
                </a:solidFill>
              </a:rPr>
              <a:t>, respetivamente, na i-</a:t>
            </a:r>
            <a:r>
              <a:rPr lang="pt-PT" u="none" dirty="0" err="1">
                <a:solidFill>
                  <a:srgbClr val="003366"/>
                </a:solidFill>
              </a:rPr>
              <a:t>ésima</a:t>
            </a:r>
            <a:r>
              <a:rPr lang="pt-PT" u="none" dirty="0">
                <a:solidFill>
                  <a:srgbClr val="003366"/>
                </a:solidFill>
              </a:rPr>
              <a:t> combinação das variáveis independentes.</a:t>
            </a:r>
            <a:endParaRPr lang="pt-PT" sz="2000" u="none" dirty="0"/>
          </a:p>
          <a:p>
            <a:pPr marL="195263" lvl="1">
              <a:spcBef>
                <a:spcPct val="20000"/>
              </a:spcBef>
              <a:buFontTx/>
              <a:buChar char="–"/>
              <a:tabLst>
                <a:tab pos="0" algn="l"/>
              </a:tabLst>
              <a:defRPr/>
            </a:pPr>
            <a:endParaRPr lang="pt-PT" u="none" dirty="0"/>
          </a:p>
          <a:p>
            <a:pPr marL="195263" lvl="1">
              <a:spcBef>
                <a:spcPct val="20000"/>
              </a:spcBef>
              <a:buFontTx/>
              <a:buChar char="–"/>
              <a:tabLst>
                <a:tab pos="0" algn="l"/>
              </a:tabLst>
              <a:defRPr/>
            </a:pPr>
            <a:endParaRPr lang="en-US" u="none" dirty="0"/>
          </a:p>
        </p:txBody>
      </p:sp>
      <p:sp>
        <p:nvSpPr>
          <p:cNvPr id="2062" name="Rectangle 8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63" name="Rectangle 11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64" name="Rectangle 14"/>
          <p:cNvSpPr>
            <a:spLocks noChangeArrowheads="1"/>
          </p:cNvSpPr>
          <p:nvPr/>
        </p:nvSpPr>
        <p:spPr bwMode="auto">
          <a:xfrm>
            <a:off x="0" y="3190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119" name="Rectangle 15"/>
          <p:cNvSpPr>
            <a:spLocks noChangeArrowheads="1"/>
          </p:cNvSpPr>
          <p:nvPr/>
        </p:nvSpPr>
        <p:spPr bwMode="auto">
          <a:xfrm>
            <a:off x="395288" y="2349500"/>
            <a:ext cx="8353425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indent="15875">
              <a:spcBef>
                <a:spcPct val="20000"/>
              </a:spcBef>
              <a:tabLst>
                <a:tab pos="0" algn="l"/>
              </a:tabLst>
              <a:defRPr/>
            </a:pP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Termo máximo de ordem </a:t>
            </a:r>
            <a:r>
              <a:rPr lang="pt-PT" i="1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( M</a:t>
            </a:r>
            <a:r>
              <a:rPr lang="pt-PT" u="none" baseline="-25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)</a:t>
            </a:r>
            <a:r>
              <a:rPr lang="pt-PT" u="none" dirty="0"/>
              <a:t> </a:t>
            </a:r>
            <a:r>
              <a:rPr lang="pt-PT" u="none" dirty="0">
                <a:solidFill>
                  <a:srgbClr val="003366"/>
                </a:solidFill>
              </a:rPr>
              <a:t>- </a:t>
            </a:r>
            <a:r>
              <a:rPr lang="pt-PT" u="none" dirty="0">
                <a:solidFill>
                  <a:srgbClr val="A50021"/>
                </a:solidFill>
              </a:rPr>
              <a:t>soma</a:t>
            </a:r>
            <a:r>
              <a:rPr lang="pt-PT" u="none" dirty="0">
                <a:solidFill>
                  <a:srgbClr val="003366"/>
                </a:solidFill>
              </a:rPr>
              <a:t> lógica de </a:t>
            </a:r>
            <a:r>
              <a:rPr lang="pt-PT" i="1" u="none" dirty="0">
                <a:solidFill>
                  <a:srgbClr val="A50021"/>
                </a:solidFill>
              </a:rPr>
              <a:t>n</a:t>
            </a:r>
            <a:r>
              <a:rPr lang="pt-PT" u="none" dirty="0">
                <a:solidFill>
                  <a:srgbClr val="003366"/>
                </a:solidFill>
              </a:rPr>
              <a:t> variáveis booleanas independentes, em que cada uma delas aparece uma e uma só vez, </a:t>
            </a:r>
            <a:r>
              <a:rPr lang="pt-PT" u="none" dirty="0">
                <a:solidFill>
                  <a:srgbClr val="A50021"/>
                </a:solidFill>
              </a:rPr>
              <a:t>não complementada</a:t>
            </a:r>
            <a:r>
              <a:rPr lang="pt-PT" u="none" dirty="0">
                <a:solidFill>
                  <a:srgbClr val="003366"/>
                </a:solidFill>
              </a:rPr>
              <a:t> ou </a:t>
            </a:r>
            <a:r>
              <a:rPr lang="pt-PT" u="none" dirty="0">
                <a:solidFill>
                  <a:srgbClr val="A50021"/>
                </a:solidFill>
              </a:rPr>
              <a:t>complementada</a:t>
            </a:r>
            <a:r>
              <a:rPr lang="pt-PT" u="none" dirty="0">
                <a:solidFill>
                  <a:srgbClr val="003366"/>
                </a:solidFill>
              </a:rPr>
              <a:t> consoante toma valores </a:t>
            </a:r>
            <a:r>
              <a:rPr lang="pt-PT" u="none" dirty="0">
                <a:solidFill>
                  <a:srgbClr val="A50021"/>
                </a:solidFill>
              </a:rPr>
              <a:t>0</a:t>
            </a:r>
            <a:r>
              <a:rPr lang="pt-PT" u="none" dirty="0">
                <a:solidFill>
                  <a:srgbClr val="003366"/>
                </a:solidFill>
              </a:rPr>
              <a:t> ou </a:t>
            </a:r>
            <a:r>
              <a:rPr lang="pt-PT" u="none" dirty="0">
                <a:solidFill>
                  <a:srgbClr val="A50021"/>
                </a:solidFill>
              </a:rPr>
              <a:t>1</a:t>
            </a:r>
            <a:r>
              <a:rPr lang="pt-PT" u="none" dirty="0">
                <a:solidFill>
                  <a:srgbClr val="003366"/>
                </a:solidFill>
              </a:rPr>
              <a:t>,</a:t>
            </a:r>
            <a:r>
              <a:rPr lang="pt-PT" dirty="0">
                <a:solidFill>
                  <a:srgbClr val="003366"/>
                </a:solidFill>
              </a:rPr>
              <a:t> </a:t>
            </a:r>
            <a:r>
              <a:rPr lang="pt-PT" u="none" dirty="0">
                <a:solidFill>
                  <a:srgbClr val="003366"/>
                </a:solidFill>
              </a:rPr>
              <a:t>respetivamente, na i-</a:t>
            </a:r>
            <a:r>
              <a:rPr lang="pt-PT" u="none" dirty="0" err="1">
                <a:solidFill>
                  <a:srgbClr val="003366"/>
                </a:solidFill>
              </a:rPr>
              <a:t>ésima</a:t>
            </a:r>
            <a:r>
              <a:rPr lang="pt-PT" u="none" dirty="0">
                <a:solidFill>
                  <a:srgbClr val="003366"/>
                </a:solidFill>
              </a:rPr>
              <a:t> combinação das variáveis independentes.</a:t>
            </a:r>
            <a:endParaRPr lang="en-US" sz="2000" u="none" dirty="0"/>
          </a:p>
        </p:txBody>
      </p:sp>
      <p:graphicFrame>
        <p:nvGraphicFramePr>
          <p:cNvPr id="47120" name="Object 16"/>
          <p:cNvGraphicFramePr>
            <a:graphicFrameLocks noChangeAspect="1"/>
          </p:cNvGraphicFramePr>
          <p:nvPr/>
        </p:nvGraphicFramePr>
        <p:xfrm>
          <a:off x="793750" y="3789363"/>
          <a:ext cx="2093913" cy="211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Document" r:id="rId4" imgW="6211080" imgH="4067280" progId="Word.Document.8">
                  <p:embed/>
                </p:oleObj>
              </mc:Choice>
              <mc:Fallback>
                <p:oleObj name="Document" r:id="rId4" imgW="6211080" imgH="4067280" progId="Word.Document.8">
                  <p:embed/>
                  <p:pic>
                    <p:nvPicPr>
                      <p:cNvPr id="4712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55063" b="57532"/>
                      <a:stretch>
                        <a:fillRect/>
                      </a:stretch>
                    </p:blipFill>
                    <p:spPr bwMode="auto">
                      <a:xfrm>
                        <a:off x="793750" y="3789363"/>
                        <a:ext cx="2093913" cy="2116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2" name="Object 18"/>
          <p:cNvGraphicFramePr>
            <a:graphicFrameLocks noChangeAspect="1"/>
          </p:cNvGraphicFramePr>
          <p:nvPr/>
        </p:nvGraphicFramePr>
        <p:xfrm>
          <a:off x="3602038" y="3973513"/>
          <a:ext cx="13239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6" imgW="774360" imgH="228600" progId="Equation.3">
                  <p:embed/>
                </p:oleObj>
              </mc:Choice>
              <mc:Fallback>
                <p:oleObj name="Equation" r:id="rId6" imgW="774360" imgH="228600" progId="Equation.3">
                  <p:embed/>
                  <p:pic>
                    <p:nvPicPr>
                      <p:cNvPr id="4712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2038" y="3973513"/>
                        <a:ext cx="1323975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3" name="Object 19"/>
          <p:cNvGraphicFramePr>
            <a:graphicFrameLocks noChangeAspect="1"/>
          </p:cNvGraphicFramePr>
          <p:nvPr/>
        </p:nvGraphicFramePr>
        <p:xfrm>
          <a:off x="793750" y="3789363"/>
          <a:ext cx="2093913" cy="211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Document" r:id="rId8" imgW="6211080" imgH="4067280" progId="Word.Document.8">
                  <p:embed/>
                </p:oleObj>
              </mc:Choice>
              <mc:Fallback>
                <p:oleObj name="Document" r:id="rId8" imgW="6211080" imgH="4067280" progId="Word.Document.8">
                  <p:embed/>
                  <p:pic>
                    <p:nvPicPr>
                      <p:cNvPr id="4712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55063" b="57532"/>
                      <a:stretch>
                        <a:fillRect/>
                      </a:stretch>
                    </p:blipFill>
                    <p:spPr bwMode="auto">
                      <a:xfrm>
                        <a:off x="793750" y="3789363"/>
                        <a:ext cx="2093913" cy="2116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4" name="Object 20"/>
          <p:cNvGraphicFramePr>
            <a:graphicFrameLocks noChangeAspect="1"/>
          </p:cNvGraphicFramePr>
          <p:nvPr/>
        </p:nvGraphicFramePr>
        <p:xfrm>
          <a:off x="793750" y="3789363"/>
          <a:ext cx="2093913" cy="211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Document" r:id="rId10" imgW="6211080" imgH="4067280" progId="Word.Document.8">
                  <p:embed/>
                </p:oleObj>
              </mc:Choice>
              <mc:Fallback>
                <p:oleObj name="Document" r:id="rId10" imgW="6211080" imgH="4067280" progId="Word.Document.8">
                  <p:embed/>
                  <p:pic>
                    <p:nvPicPr>
                      <p:cNvPr id="4712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55063" b="57532"/>
                      <a:stretch>
                        <a:fillRect/>
                      </a:stretch>
                    </p:blipFill>
                    <p:spPr bwMode="auto">
                      <a:xfrm>
                        <a:off x="793750" y="3789363"/>
                        <a:ext cx="2093913" cy="2116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5" name="Object 21"/>
          <p:cNvGraphicFramePr>
            <a:graphicFrameLocks noChangeAspect="1"/>
          </p:cNvGraphicFramePr>
          <p:nvPr/>
        </p:nvGraphicFramePr>
        <p:xfrm>
          <a:off x="5688013" y="3973513"/>
          <a:ext cx="156368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12" imgW="914400" imgH="228600" progId="Equation.3">
                  <p:embed/>
                </p:oleObj>
              </mc:Choice>
              <mc:Fallback>
                <p:oleObj name="Equation" r:id="rId12" imgW="914400" imgH="228600" progId="Equation.3">
                  <p:embed/>
                  <p:pic>
                    <p:nvPicPr>
                      <p:cNvPr id="4712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3973513"/>
                        <a:ext cx="1563687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6" name="Object 22"/>
          <p:cNvGraphicFramePr>
            <a:graphicFrameLocks noChangeAspect="1"/>
          </p:cNvGraphicFramePr>
          <p:nvPr/>
        </p:nvGraphicFramePr>
        <p:xfrm>
          <a:off x="3613150" y="4581525"/>
          <a:ext cx="13017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14" imgW="761760" imgH="228600" progId="Equation.3">
                  <p:embed/>
                </p:oleObj>
              </mc:Choice>
              <mc:Fallback>
                <p:oleObj name="Equation" r:id="rId14" imgW="761760" imgH="228600" progId="Equation.3">
                  <p:embed/>
                  <p:pic>
                    <p:nvPicPr>
                      <p:cNvPr id="4712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4581525"/>
                        <a:ext cx="130175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7" name="Object 23"/>
          <p:cNvGraphicFramePr>
            <a:graphicFrameLocks noChangeAspect="1"/>
          </p:cNvGraphicFramePr>
          <p:nvPr/>
        </p:nvGraphicFramePr>
        <p:xfrm>
          <a:off x="5675313" y="4581525"/>
          <a:ext cx="15875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Equation" r:id="rId16" imgW="927000" imgH="228600" progId="Equation.3">
                  <p:embed/>
                </p:oleObj>
              </mc:Choice>
              <mc:Fallback>
                <p:oleObj name="Equation" r:id="rId16" imgW="927000" imgH="228600" progId="Equation.3">
                  <p:embed/>
                  <p:pic>
                    <p:nvPicPr>
                      <p:cNvPr id="4712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5313" y="4581525"/>
                        <a:ext cx="15875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8" name="Object 24"/>
          <p:cNvGraphicFramePr>
            <a:graphicFrameLocks noChangeAspect="1"/>
          </p:cNvGraphicFramePr>
          <p:nvPr/>
        </p:nvGraphicFramePr>
        <p:xfrm>
          <a:off x="361950" y="3800475"/>
          <a:ext cx="2097088" cy="211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Document" r:id="rId18" imgW="6223680" imgH="4067280" progId="Word.Document.8">
                  <p:embed/>
                </p:oleObj>
              </mc:Choice>
              <mc:Fallback>
                <p:oleObj name="Document" r:id="rId18" imgW="6223680" imgH="4067280" progId="Word.Document.8">
                  <p:embed/>
                  <p:pic>
                    <p:nvPicPr>
                      <p:cNvPr id="4712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55063" b="57532"/>
                      <a:stretch>
                        <a:fillRect/>
                      </a:stretch>
                    </p:blipFill>
                    <p:spPr bwMode="auto">
                      <a:xfrm>
                        <a:off x="361950" y="3800475"/>
                        <a:ext cx="2097088" cy="2116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9" name="Object 25"/>
          <p:cNvGraphicFramePr>
            <a:graphicFrameLocks noChangeAspect="1"/>
          </p:cNvGraphicFramePr>
          <p:nvPr/>
        </p:nvGraphicFramePr>
        <p:xfrm>
          <a:off x="3708400" y="5300663"/>
          <a:ext cx="3386138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Equation" r:id="rId20" imgW="1688760" imgH="253800" progId="Equation.3">
                  <p:embed/>
                </p:oleObj>
              </mc:Choice>
              <mc:Fallback>
                <p:oleObj name="Equation" r:id="rId20" imgW="1688760" imgH="253800" progId="Equation.3">
                  <p:embed/>
                  <p:pic>
                    <p:nvPicPr>
                      <p:cNvPr id="4712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5300663"/>
                        <a:ext cx="3386138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362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7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47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7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47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20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7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7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 fill="hold"/>
                                        <p:tgtEl>
                                          <p:spTgt spid="47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7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7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7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/>
      <p:bldP spid="471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4895850" cy="5762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Expansão de Shannon</a:t>
            </a: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447675" y="1050925"/>
            <a:ext cx="8085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</a:pPr>
            <a:r>
              <a:rPr lang="pt-PT" u="none">
                <a:solidFill>
                  <a:srgbClr val="003366"/>
                </a:solidFill>
              </a:rPr>
              <a:t>Qualquer função </a:t>
            </a:r>
            <a:r>
              <a:rPr lang="pt-PT" u="none">
                <a:solidFill>
                  <a:srgbClr val="A50021"/>
                </a:solidFill>
              </a:rPr>
              <a:t>f(x</a:t>
            </a:r>
            <a:r>
              <a:rPr lang="pt-PT" u="none" baseline="-25000">
                <a:solidFill>
                  <a:srgbClr val="A50021"/>
                </a:solidFill>
              </a:rPr>
              <a:t>0</a:t>
            </a:r>
            <a:r>
              <a:rPr lang="pt-PT" u="none">
                <a:solidFill>
                  <a:srgbClr val="A50021"/>
                </a:solidFill>
              </a:rPr>
              <a:t>, x</a:t>
            </a:r>
            <a:r>
              <a:rPr lang="pt-PT" u="none" baseline="-25000">
                <a:solidFill>
                  <a:srgbClr val="A50021"/>
                </a:solidFill>
              </a:rPr>
              <a:t>1</a:t>
            </a:r>
            <a:r>
              <a:rPr lang="pt-PT" u="none">
                <a:solidFill>
                  <a:srgbClr val="A50021"/>
                </a:solidFill>
              </a:rPr>
              <a:t>,...,x</a:t>
            </a:r>
            <a:r>
              <a:rPr lang="pt-PT" u="none" baseline="-25000">
                <a:solidFill>
                  <a:srgbClr val="A50021"/>
                </a:solidFill>
              </a:rPr>
              <a:t>n-1</a:t>
            </a:r>
            <a:r>
              <a:rPr lang="pt-PT" u="none">
                <a:solidFill>
                  <a:srgbClr val="A50021"/>
                </a:solidFill>
              </a:rPr>
              <a:t>)</a:t>
            </a:r>
            <a:r>
              <a:rPr lang="pt-PT" u="none">
                <a:solidFill>
                  <a:srgbClr val="003366"/>
                </a:solidFill>
              </a:rPr>
              <a:t> pode ser representada na forma seguinte:</a:t>
            </a:r>
            <a:endParaRPr lang="en-US" u="none">
              <a:solidFill>
                <a:srgbClr val="003366"/>
              </a:solidFill>
            </a:endParaRPr>
          </a:p>
        </p:txBody>
      </p:sp>
      <p:graphicFrame>
        <p:nvGraphicFramePr>
          <p:cNvPr id="46119" name="Object 39"/>
          <p:cNvGraphicFramePr>
            <a:graphicFrameLocks noChangeAspect="1"/>
          </p:cNvGraphicFramePr>
          <p:nvPr/>
        </p:nvGraphicFramePr>
        <p:xfrm>
          <a:off x="684213" y="1555750"/>
          <a:ext cx="756126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4" imgW="3479760" imgH="228600" progId="Equation.3">
                  <p:embed/>
                </p:oleObj>
              </mc:Choice>
              <mc:Fallback>
                <p:oleObj name="Equation" r:id="rId4" imgW="3479760" imgH="228600" progId="Equation.3">
                  <p:embed/>
                  <p:pic>
                    <p:nvPicPr>
                      <p:cNvPr id="46119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555750"/>
                        <a:ext cx="7561262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20" name="Text Box 40"/>
          <p:cNvSpPr txBox="1">
            <a:spLocks noChangeArrowheads="1"/>
          </p:cNvSpPr>
          <p:nvPr/>
        </p:nvSpPr>
        <p:spPr bwMode="auto">
          <a:xfrm>
            <a:off x="395288" y="2630488"/>
            <a:ext cx="188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660066"/>
                </a:solidFill>
              </a:rPr>
              <a:t>Indução perfeita:</a:t>
            </a:r>
            <a:endParaRPr lang="en-US" u="none">
              <a:solidFill>
                <a:srgbClr val="660066"/>
              </a:solidFill>
            </a:endParaRPr>
          </a:p>
        </p:txBody>
      </p:sp>
      <p:graphicFrame>
        <p:nvGraphicFramePr>
          <p:cNvPr id="46121" name="Object 41"/>
          <p:cNvGraphicFramePr>
            <a:graphicFrameLocks noChangeAspect="1"/>
          </p:cNvGraphicFramePr>
          <p:nvPr/>
        </p:nvGraphicFramePr>
        <p:xfrm>
          <a:off x="2428875" y="3175000"/>
          <a:ext cx="6391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6" imgW="3263760" imgH="228600" progId="Equation.3">
                  <p:embed/>
                </p:oleObj>
              </mc:Choice>
              <mc:Fallback>
                <p:oleObj name="Equation" r:id="rId6" imgW="3263760" imgH="228600" progId="Equation.3">
                  <p:embed/>
                  <p:pic>
                    <p:nvPicPr>
                      <p:cNvPr id="46121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3175000"/>
                        <a:ext cx="6391275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22" name="Text Box 42"/>
          <p:cNvSpPr txBox="1">
            <a:spLocks noChangeArrowheads="1"/>
          </p:cNvSpPr>
          <p:nvPr/>
        </p:nvSpPr>
        <p:spPr bwMode="auto">
          <a:xfrm>
            <a:off x="323850" y="3213100"/>
            <a:ext cx="1862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0066"/>
                </a:solidFill>
              </a:rPr>
              <a:t>Se x</a:t>
            </a:r>
            <a:r>
              <a:rPr lang="pt-PT" u="none" baseline="-25000">
                <a:solidFill>
                  <a:srgbClr val="000066"/>
                </a:solidFill>
              </a:rPr>
              <a:t>0</a:t>
            </a:r>
            <a:r>
              <a:rPr lang="pt-PT" u="none">
                <a:solidFill>
                  <a:srgbClr val="000066"/>
                </a:solidFill>
              </a:rPr>
              <a:t> = 0 temos:</a:t>
            </a:r>
            <a:endParaRPr lang="en-US" u="none">
              <a:solidFill>
                <a:srgbClr val="000066"/>
              </a:solidFill>
            </a:endParaRPr>
          </a:p>
        </p:txBody>
      </p:sp>
      <p:graphicFrame>
        <p:nvGraphicFramePr>
          <p:cNvPr id="46123" name="Object 43"/>
          <p:cNvGraphicFramePr>
            <a:graphicFrameLocks noChangeAspect="1"/>
          </p:cNvGraphicFramePr>
          <p:nvPr/>
        </p:nvGraphicFramePr>
        <p:xfrm>
          <a:off x="2408238" y="3773488"/>
          <a:ext cx="63420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8" imgW="3238200" imgH="228600" progId="Equation.3">
                  <p:embed/>
                </p:oleObj>
              </mc:Choice>
              <mc:Fallback>
                <p:oleObj name="Equation" r:id="rId8" imgW="3238200" imgH="228600" progId="Equation.3">
                  <p:embed/>
                  <p:pic>
                    <p:nvPicPr>
                      <p:cNvPr id="46123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8" y="3773488"/>
                        <a:ext cx="6342062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24" name="Text Box 44"/>
          <p:cNvSpPr txBox="1">
            <a:spLocks noChangeArrowheads="1"/>
          </p:cNvSpPr>
          <p:nvPr/>
        </p:nvSpPr>
        <p:spPr bwMode="auto">
          <a:xfrm>
            <a:off x="323850" y="3811588"/>
            <a:ext cx="18621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0066"/>
                </a:solidFill>
              </a:rPr>
              <a:t>Se x</a:t>
            </a:r>
            <a:r>
              <a:rPr lang="pt-PT" u="none" baseline="-25000">
                <a:solidFill>
                  <a:srgbClr val="000066"/>
                </a:solidFill>
              </a:rPr>
              <a:t>0</a:t>
            </a:r>
            <a:r>
              <a:rPr lang="pt-PT" u="none">
                <a:solidFill>
                  <a:srgbClr val="000066"/>
                </a:solidFill>
              </a:rPr>
              <a:t> = 1 temos:</a:t>
            </a:r>
            <a:endParaRPr lang="en-US" u="none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6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6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46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6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6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decel="100000" fill="hold"/>
                                        <p:tgtEl>
                                          <p:spTgt spid="46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6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6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6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decel="100000" fill="hold"/>
                                        <p:tgtEl>
                                          <p:spTgt spid="46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6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46120" grpId="0"/>
      <p:bldP spid="46122" grpId="0"/>
      <p:bldP spid="461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424815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1ª forma canónica</a:t>
            </a:r>
          </a:p>
        </p:txBody>
      </p:sp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447675" y="1052513"/>
            <a:ext cx="34766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</a:pPr>
            <a:r>
              <a:rPr lang="pt-PT" u="none">
                <a:solidFill>
                  <a:srgbClr val="003366"/>
                </a:solidFill>
              </a:rPr>
              <a:t>Estendendo para </a:t>
            </a:r>
            <a:r>
              <a:rPr lang="pt-PT" u="none">
                <a:solidFill>
                  <a:srgbClr val="A50021"/>
                </a:solidFill>
              </a:rPr>
              <a:t>2</a:t>
            </a:r>
            <a:r>
              <a:rPr lang="pt-PT" u="none">
                <a:solidFill>
                  <a:srgbClr val="003366"/>
                </a:solidFill>
              </a:rPr>
              <a:t> variáveis:</a:t>
            </a:r>
            <a:endParaRPr lang="en-US" u="none">
              <a:solidFill>
                <a:srgbClr val="003366"/>
              </a:solidFill>
            </a:endParaRPr>
          </a:p>
        </p:txBody>
      </p:sp>
      <p:graphicFrame>
        <p:nvGraphicFramePr>
          <p:cNvPr id="62470" name="Object 6"/>
          <p:cNvGraphicFramePr>
            <a:graphicFrameLocks noChangeAspect="1"/>
          </p:cNvGraphicFramePr>
          <p:nvPr/>
        </p:nvGraphicFramePr>
        <p:xfrm>
          <a:off x="395288" y="1628775"/>
          <a:ext cx="70358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4" imgW="3593880" imgH="228600" progId="Equation.3">
                  <p:embed/>
                </p:oleObj>
              </mc:Choice>
              <mc:Fallback>
                <p:oleObj name="Equation" r:id="rId4" imgW="3593880" imgH="228600" progId="Equation.3">
                  <p:embed/>
                  <p:pic>
                    <p:nvPicPr>
                      <p:cNvPr id="624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628775"/>
                        <a:ext cx="7035800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4" name="Object 10"/>
          <p:cNvGraphicFramePr>
            <a:graphicFrameLocks noChangeAspect="1"/>
          </p:cNvGraphicFramePr>
          <p:nvPr/>
        </p:nvGraphicFramePr>
        <p:xfrm>
          <a:off x="2339975" y="2189163"/>
          <a:ext cx="61928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6" imgW="3162240" imgH="228600" progId="Equation.3">
                  <p:embed/>
                </p:oleObj>
              </mc:Choice>
              <mc:Fallback>
                <p:oleObj name="Equation" r:id="rId6" imgW="3162240" imgH="228600" progId="Equation.3">
                  <p:embed/>
                  <p:pic>
                    <p:nvPicPr>
                      <p:cNvPr id="624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189163"/>
                        <a:ext cx="6192838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6" name="Object 12"/>
          <p:cNvGraphicFramePr>
            <a:graphicFrameLocks noChangeAspect="1"/>
          </p:cNvGraphicFramePr>
          <p:nvPr/>
        </p:nvGraphicFramePr>
        <p:xfrm>
          <a:off x="1403350" y="4117975"/>
          <a:ext cx="32829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8" imgW="1676160" imgH="457200" progId="Equation.3">
                  <p:embed/>
                </p:oleObj>
              </mc:Choice>
              <mc:Fallback>
                <p:oleObj name="Equation" r:id="rId8" imgW="1676160" imgH="457200" progId="Equation.3">
                  <p:embed/>
                  <p:pic>
                    <p:nvPicPr>
                      <p:cNvPr id="624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117975"/>
                        <a:ext cx="328295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7" name="Text Box 13"/>
          <p:cNvSpPr txBox="1">
            <a:spLocks noChangeArrowheads="1"/>
          </p:cNvSpPr>
          <p:nvPr/>
        </p:nvSpPr>
        <p:spPr bwMode="auto">
          <a:xfrm>
            <a:off x="395288" y="3573463"/>
            <a:ext cx="72009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000066"/>
                </a:solidFill>
              </a:rPr>
              <a:t>Continuando a expansão até </a:t>
            </a:r>
            <a:r>
              <a:rPr lang="pt-PT" u="none" dirty="0">
                <a:solidFill>
                  <a:srgbClr val="A50021"/>
                </a:solidFill>
              </a:rPr>
              <a:t>x</a:t>
            </a:r>
            <a:r>
              <a:rPr lang="pt-PT" u="none" baseline="-25000" dirty="0">
                <a:solidFill>
                  <a:srgbClr val="A50021"/>
                </a:solidFill>
              </a:rPr>
              <a:t>n-1</a:t>
            </a:r>
            <a:r>
              <a:rPr lang="pt-PT" u="none" dirty="0">
                <a:solidFill>
                  <a:srgbClr val="000066"/>
                </a:solidFill>
              </a:rPr>
              <a:t> pode-se obter a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1ª forma canónica</a:t>
            </a:r>
            <a:r>
              <a:rPr lang="pt-PT" u="none" dirty="0">
                <a:solidFill>
                  <a:srgbClr val="000066"/>
                </a:solidFill>
              </a:rPr>
              <a:t>:</a:t>
            </a:r>
            <a:endParaRPr lang="en-US" u="none" dirty="0">
              <a:solidFill>
                <a:srgbClr val="000066"/>
              </a:solidFill>
            </a:endParaRPr>
          </a:p>
        </p:txBody>
      </p:sp>
      <p:graphicFrame>
        <p:nvGraphicFramePr>
          <p:cNvPr id="62480" name="Object 16"/>
          <p:cNvGraphicFramePr>
            <a:graphicFrameLocks noChangeAspect="1"/>
          </p:cNvGraphicFramePr>
          <p:nvPr/>
        </p:nvGraphicFramePr>
        <p:xfrm>
          <a:off x="2339975" y="2690813"/>
          <a:ext cx="58674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10" imgW="2997000" imgH="228600" progId="Equation.3">
                  <p:embed/>
                </p:oleObj>
              </mc:Choice>
              <mc:Fallback>
                <p:oleObj name="Equation" r:id="rId10" imgW="2997000" imgH="228600" progId="Equation.3">
                  <p:embed/>
                  <p:pic>
                    <p:nvPicPr>
                      <p:cNvPr id="624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690813"/>
                        <a:ext cx="5867400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1" name="Text Box 17"/>
          <p:cNvSpPr txBox="1">
            <a:spLocks noChangeArrowheads="1"/>
          </p:cNvSpPr>
          <p:nvPr/>
        </p:nvSpPr>
        <p:spPr bwMode="auto">
          <a:xfrm>
            <a:off x="1085850" y="5373688"/>
            <a:ext cx="2622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Forma normal disjuntiva</a:t>
            </a:r>
          </a:p>
        </p:txBody>
      </p:sp>
      <p:sp>
        <p:nvSpPr>
          <p:cNvPr id="62482" name="Text Box 18"/>
          <p:cNvSpPr txBox="1">
            <a:spLocks noChangeArrowheads="1"/>
          </p:cNvSpPr>
          <p:nvPr/>
        </p:nvSpPr>
        <p:spPr bwMode="auto">
          <a:xfrm>
            <a:off x="4757738" y="5373688"/>
            <a:ext cx="3257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DNF – </a:t>
            </a:r>
            <a:r>
              <a:rPr lang="en-US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disjunctive normal form</a:t>
            </a:r>
          </a:p>
        </p:txBody>
      </p:sp>
      <p:graphicFrame>
        <p:nvGraphicFramePr>
          <p:cNvPr id="62483" name="Object 19"/>
          <p:cNvGraphicFramePr>
            <a:graphicFrameLocks noChangeAspect="1"/>
          </p:cNvGraphicFramePr>
          <p:nvPr/>
        </p:nvGraphicFramePr>
        <p:xfrm>
          <a:off x="5276850" y="4341813"/>
          <a:ext cx="30083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2" imgW="1536480" imgH="228600" progId="Equation.3">
                  <p:embed/>
                </p:oleObj>
              </mc:Choice>
              <mc:Fallback>
                <p:oleObj name="Equation" r:id="rId12" imgW="1536480" imgH="228600" progId="Equation.3">
                  <p:embed/>
                  <p:pic>
                    <p:nvPicPr>
                      <p:cNvPr id="6248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6850" y="4341813"/>
                        <a:ext cx="3008313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663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2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62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24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2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62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2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62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2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2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62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/>
      <p:bldP spid="62477" grpId="0"/>
      <p:bldP spid="62481" grpId="0"/>
      <p:bldP spid="6248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446405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Formas canónicas</a:t>
            </a: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447675" y="1052513"/>
            <a:ext cx="34766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Aft>
                <a:spcPct val="30000"/>
              </a:spcAft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2ª forma canónica:</a:t>
            </a:r>
            <a:endParaRPr lang="en-US" u="none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622300" y="1381125"/>
          <a:ext cx="73342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4" imgW="3746160" imgH="482400" progId="Equation.3">
                  <p:embed/>
                </p:oleObj>
              </mc:Choice>
              <mc:Fallback>
                <p:oleObj name="Equation" r:id="rId4" imgW="3746160" imgH="482400" progId="Equation.3">
                  <p:embed/>
                  <p:pic>
                    <p:nvPicPr>
                      <p:cNvPr id="645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1381125"/>
                        <a:ext cx="7334250" cy="94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4" name="Text Box 12"/>
          <p:cNvSpPr txBox="1">
            <a:spLocks noChangeArrowheads="1"/>
          </p:cNvSpPr>
          <p:nvPr/>
        </p:nvSpPr>
        <p:spPr bwMode="auto">
          <a:xfrm>
            <a:off x="1098550" y="2492375"/>
            <a:ext cx="2698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Forma normal conjuntiva</a:t>
            </a:r>
          </a:p>
        </p:txBody>
      </p:sp>
      <p:sp>
        <p:nvSpPr>
          <p:cNvPr id="64525" name="Text Box 13"/>
          <p:cNvSpPr txBox="1">
            <a:spLocks noChangeArrowheads="1"/>
          </p:cNvSpPr>
          <p:nvPr/>
        </p:nvSpPr>
        <p:spPr bwMode="auto">
          <a:xfrm>
            <a:off x="4770438" y="2492375"/>
            <a:ext cx="3333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CNF – </a:t>
            </a:r>
            <a:r>
              <a:rPr lang="en-US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conjunctive normal form</a:t>
            </a:r>
          </a:p>
        </p:txBody>
      </p:sp>
      <p:sp>
        <p:nvSpPr>
          <p:cNvPr id="64526" name="Text Box 14"/>
          <p:cNvSpPr txBox="1">
            <a:spLocks noChangeArrowheads="1"/>
          </p:cNvSpPr>
          <p:nvPr/>
        </p:nvSpPr>
        <p:spPr bwMode="auto">
          <a:xfrm>
            <a:off x="468313" y="3213100"/>
            <a:ext cx="3476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Aft>
                <a:spcPct val="30000"/>
              </a:spcAft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3ª forma canónica:</a:t>
            </a:r>
            <a:endParaRPr lang="en-US" u="none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64527" name="Object 15"/>
          <p:cNvGraphicFramePr>
            <a:graphicFrameLocks noChangeAspect="1"/>
          </p:cNvGraphicFramePr>
          <p:nvPr/>
        </p:nvGraphicFramePr>
        <p:xfrm>
          <a:off x="684213" y="3621088"/>
          <a:ext cx="6862762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6" imgW="3504960" imgH="507960" progId="Equation.3">
                  <p:embed/>
                </p:oleObj>
              </mc:Choice>
              <mc:Fallback>
                <p:oleObj name="Equation" r:id="rId6" imgW="3504960" imgH="507960" progId="Equation.3">
                  <p:embed/>
                  <p:pic>
                    <p:nvPicPr>
                      <p:cNvPr id="6452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621088"/>
                        <a:ext cx="6862762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8" name="Text Box 16"/>
          <p:cNvSpPr txBox="1">
            <a:spLocks noChangeArrowheads="1"/>
          </p:cNvSpPr>
          <p:nvPr/>
        </p:nvSpPr>
        <p:spPr bwMode="auto">
          <a:xfrm>
            <a:off x="468313" y="4797425"/>
            <a:ext cx="3476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Aft>
                <a:spcPct val="30000"/>
              </a:spcAft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4ª forma canónica:</a:t>
            </a:r>
            <a:endParaRPr lang="en-US" u="none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64529" name="Object 17"/>
          <p:cNvGraphicFramePr>
            <a:graphicFrameLocks noChangeAspect="1"/>
          </p:cNvGraphicFramePr>
          <p:nvPr/>
        </p:nvGraphicFramePr>
        <p:xfrm>
          <a:off x="658813" y="5099050"/>
          <a:ext cx="7259637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ção" r:id="rId8" imgW="3708360" imgH="507960" progId="Equation.3">
                  <p:embed/>
                </p:oleObj>
              </mc:Choice>
              <mc:Fallback>
                <p:oleObj name="Equação" r:id="rId8" imgW="3708360" imgH="507960" progId="Equation.3">
                  <p:embed/>
                  <p:pic>
                    <p:nvPicPr>
                      <p:cNvPr id="6452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3" y="5099050"/>
                        <a:ext cx="7259637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399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4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64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4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4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 fill="hold"/>
                                        <p:tgtEl>
                                          <p:spTgt spid="64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/>
      <p:bldP spid="64524" grpId="0"/>
      <p:bldP spid="64525" grpId="0"/>
      <p:bldP spid="64526" grpId="0"/>
      <p:bldP spid="645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WordArt 2"/>
          <p:cNvSpPr>
            <a:spLocks noChangeArrowheads="1" noChangeShapeType="1" noTextEdit="1"/>
          </p:cNvSpPr>
          <p:nvPr/>
        </p:nvSpPr>
        <p:spPr bwMode="auto">
          <a:xfrm>
            <a:off x="468313" y="227013"/>
            <a:ext cx="5888037" cy="5937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Implementação de funções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447675" y="1044575"/>
            <a:ext cx="6145213" cy="4760913"/>
            <a:chOff x="282" y="658"/>
            <a:chExt cx="3871" cy="2999"/>
          </a:xfrm>
        </p:grpSpPr>
        <p:graphicFrame>
          <p:nvGraphicFramePr>
            <p:cNvPr id="6146" name="Object 11"/>
            <p:cNvGraphicFramePr>
              <a:graphicFrameLocks noChangeAspect="1"/>
            </p:cNvGraphicFramePr>
            <p:nvPr/>
          </p:nvGraphicFramePr>
          <p:xfrm>
            <a:off x="1841" y="658"/>
            <a:ext cx="2068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4" name="Equation" r:id="rId4" imgW="1676160" imgH="457200" progId="Equation.3">
                    <p:embed/>
                  </p:oleObj>
                </mc:Choice>
                <mc:Fallback>
                  <p:oleObj name="Equation" r:id="rId4" imgW="1676160" imgH="457200" progId="Equation.3">
                    <p:embed/>
                    <p:pic>
                      <p:nvPicPr>
                        <p:cNvPr id="614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1" y="658"/>
                          <a:ext cx="2068" cy="5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15" name="Text Box 3"/>
            <p:cNvSpPr txBox="1">
              <a:spLocks noChangeArrowheads="1"/>
            </p:cNvSpPr>
            <p:nvPr/>
          </p:nvSpPr>
          <p:spPr bwMode="auto">
            <a:xfrm>
              <a:off x="282" y="1652"/>
              <a:ext cx="219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Aft>
                  <a:spcPct val="30000"/>
                </a:spcAft>
                <a:defRPr/>
              </a:pPr>
              <a:r>
                <a:rPr lang="pt-PT" u="none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2ª forma canónica:</a:t>
              </a:r>
              <a:endParaRPr lang="en-US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6147" name="Object 4"/>
            <p:cNvGraphicFramePr>
              <a:graphicFrameLocks noChangeAspect="1"/>
            </p:cNvGraphicFramePr>
            <p:nvPr/>
          </p:nvGraphicFramePr>
          <p:xfrm>
            <a:off x="1789" y="1475"/>
            <a:ext cx="2364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5" name="Equation" r:id="rId6" imgW="1917360" imgH="457200" progId="Equation.3">
                    <p:embed/>
                  </p:oleObj>
                </mc:Choice>
                <mc:Fallback>
                  <p:oleObj name="Equation" r:id="rId6" imgW="1917360" imgH="457200" progId="Equation.3">
                    <p:embed/>
                    <p:pic>
                      <p:nvPicPr>
                        <p:cNvPr id="6147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9" y="1475"/>
                          <a:ext cx="2364" cy="5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19" name="Text Box 7"/>
            <p:cNvSpPr txBox="1">
              <a:spLocks noChangeArrowheads="1"/>
            </p:cNvSpPr>
            <p:nvPr/>
          </p:nvSpPr>
          <p:spPr bwMode="auto">
            <a:xfrm>
              <a:off x="295" y="2473"/>
              <a:ext cx="219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Aft>
                  <a:spcPct val="30000"/>
                </a:spcAft>
                <a:defRPr/>
              </a:pPr>
              <a:r>
                <a:rPr lang="pt-PT" u="none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3ª forma canónica:</a:t>
              </a:r>
              <a:endParaRPr lang="en-US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6148" name="Object 8"/>
            <p:cNvGraphicFramePr>
              <a:graphicFrameLocks noChangeAspect="1"/>
            </p:cNvGraphicFramePr>
            <p:nvPr/>
          </p:nvGraphicFramePr>
          <p:xfrm>
            <a:off x="1782" y="2246"/>
            <a:ext cx="2115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6" name="Equation" r:id="rId8" imgW="1714320" imgH="482400" progId="Equation.3">
                    <p:embed/>
                  </p:oleObj>
                </mc:Choice>
                <mc:Fallback>
                  <p:oleObj name="Equation" r:id="rId8" imgW="1714320" imgH="482400" progId="Equation.3">
                    <p:embed/>
                    <p:pic>
                      <p:nvPicPr>
                        <p:cNvPr id="614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2" y="2246"/>
                          <a:ext cx="2115" cy="5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21" name="Text Box 9"/>
            <p:cNvSpPr txBox="1">
              <a:spLocks noChangeArrowheads="1"/>
            </p:cNvSpPr>
            <p:nvPr/>
          </p:nvSpPr>
          <p:spPr bwMode="auto">
            <a:xfrm>
              <a:off x="295" y="3285"/>
              <a:ext cx="219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Aft>
                  <a:spcPct val="30000"/>
                </a:spcAft>
                <a:defRPr/>
              </a:pPr>
              <a:r>
                <a:rPr lang="pt-PT" u="none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4ª forma canónica:</a:t>
              </a:r>
              <a:endParaRPr lang="en-US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6149" name="Object 10"/>
            <p:cNvGraphicFramePr>
              <a:graphicFrameLocks noChangeAspect="1"/>
            </p:cNvGraphicFramePr>
            <p:nvPr/>
          </p:nvGraphicFramePr>
          <p:xfrm>
            <a:off x="1793" y="3062"/>
            <a:ext cx="2209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7" name="Equation" r:id="rId10" imgW="1790640" imgH="482400" progId="Equation.3">
                    <p:embed/>
                  </p:oleObj>
                </mc:Choice>
                <mc:Fallback>
                  <p:oleObj name="Equation" r:id="rId10" imgW="1790640" imgH="482400" progId="Equation.3">
                    <p:embed/>
                    <p:pic>
                      <p:nvPicPr>
                        <p:cNvPr id="6149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3" y="3062"/>
                          <a:ext cx="2209" cy="5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25" name="Text Box 13"/>
            <p:cNvSpPr txBox="1">
              <a:spLocks noChangeArrowheads="1"/>
            </p:cNvSpPr>
            <p:nvPr/>
          </p:nvSpPr>
          <p:spPr bwMode="auto">
            <a:xfrm>
              <a:off x="295" y="836"/>
              <a:ext cx="219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Aft>
                  <a:spcPct val="30000"/>
                </a:spcAft>
                <a:defRPr/>
              </a:pPr>
              <a:r>
                <a:rPr lang="pt-PT" u="none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1ª forma canónica:</a:t>
              </a:r>
              <a:endParaRPr lang="en-US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90128" name="Text Box 16"/>
          <p:cNvSpPr txBox="1">
            <a:spLocks noChangeArrowheads="1"/>
          </p:cNvSpPr>
          <p:nvPr/>
        </p:nvSpPr>
        <p:spPr bwMode="auto">
          <a:xfrm>
            <a:off x="7092950" y="1333500"/>
            <a:ext cx="1085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AND-OR</a:t>
            </a:r>
            <a:endParaRPr lang="en-US" u="none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0129" name="Text Box 17"/>
          <p:cNvSpPr txBox="1">
            <a:spLocks noChangeArrowheads="1"/>
          </p:cNvSpPr>
          <p:nvPr/>
        </p:nvSpPr>
        <p:spPr bwMode="auto">
          <a:xfrm>
            <a:off x="7092950" y="2563813"/>
            <a:ext cx="1085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OR-AND</a:t>
            </a:r>
            <a:endParaRPr lang="en-US" u="none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0130" name="Text Box 18"/>
          <p:cNvSpPr txBox="1">
            <a:spLocks noChangeArrowheads="1"/>
          </p:cNvSpPr>
          <p:nvPr/>
        </p:nvSpPr>
        <p:spPr bwMode="auto">
          <a:xfrm>
            <a:off x="7092950" y="3854450"/>
            <a:ext cx="155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NAND-NAND</a:t>
            </a:r>
            <a:endParaRPr lang="en-US" u="none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0131" name="Text Box 19"/>
          <p:cNvSpPr txBox="1">
            <a:spLocks noChangeArrowheads="1"/>
          </p:cNvSpPr>
          <p:nvPr/>
        </p:nvSpPr>
        <p:spPr bwMode="auto">
          <a:xfrm>
            <a:off x="7092950" y="5149850"/>
            <a:ext cx="1276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NOR-NOR</a:t>
            </a:r>
            <a:endParaRPr lang="en-US" u="none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4536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0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0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0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0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0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0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0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0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0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0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8" grpId="0"/>
      <p:bldP spid="90129" grpId="0"/>
      <p:bldP spid="90130" grpId="0"/>
      <p:bldP spid="9013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2843213" y="2163763"/>
            <a:ext cx="2146300" cy="388937"/>
            <a:chOff x="1791" y="2024"/>
            <a:chExt cx="1352" cy="245"/>
          </a:xfrm>
        </p:grpSpPr>
        <p:sp>
          <p:nvSpPr>
            <p:cNvPr id="7193" name="Oval 18"/>
            <p:cNvSpPr>
              <a:spLocks noChangeArrowheads="1"/>
            </p:cNvSpPr>
            <p:nvPr/>
          </p:nvSpPr>
          <p:spPr bwMode="auto">
            <a:xfrm>
              <a:off x="2508" y="2024"/>
              <a:ext cx="635" cy="227"/>
            </a:xfrm>
            <a:prstGeom prst="ellipse">
              <a:avLst/>
            </a:prstGeom>
            <a:solidFill>
              <a:srgbClr val="FFCC99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4" name="Oval 17"/>
            <p:cNvSpPr>
              <a:spLocks noChangeArrowheads="1"/>
            </p:cNvSpPr>
            <p:nvPr/>
          </p:nvSpPr>
          <p:spPr bwMode="auto">
            <a:xfrm>
              <a:off x="1791" y="2042"/>
              <a:ext cx="635" cy="227"/>
            </a:xfrm>
            <a:prstGeom prst="ellipse">
              <a:avLst/>
            </a:prstGeom>
            <a:solidFill>
              <a:srgbClr val="FFCC99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5538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6408737" cy="5762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Formas canónicas (cont.)</a:t>
            </a:r>
          </a:p>
        </p:txBody>
      </p:sp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447675" y="981075"/>
            <a:ext cx="3476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</a:pPr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65547" name="Text Box 11"/>
          <p:cNvSpPr txBox="1">
            <a:spLocks noChangeArrowheads="1"/>
          </p:cNvSpPr>
          <p:nvPr/>
        </p:nvSpPr>
        <p:spPr bwMode="auto">
          <a:xfrm>
            <a:off x="1760538" y="981075"/>
            <a:ext cx="55483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Determinar as formas canónicas da função f(x,y,z)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65548" name="Object 12"/>
          <p:cNvGraphicFramePr>
            <a:graphicFrameLocks noChangeAspect="1"/>
          </p:cNvGraphicFramePr>
          <p:nvPr/>
        </p:nvGraphicFramePr>
        <p:xfrm>
          <a:off x="2954338" y="1341438"/>
          <a:ext cx="2514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4" imgW="1218960" imgH="203040" progId="Equation.3">
                  <p:embed/>
                </p:oleObj>
              </mc:Choice>
              <mc:Fallback>
                <p:oleObj name="Equation" r:id="rId4" imgW="1218960" imgH="203040" progId="Equation.3">
                  <p:embed/>
                  <p:pic>
                    <p:nvPicPr>
                      <p:cNvPr id="6554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338" y="1341438"/>
                        <a:ext cx="25146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9" name="Text Box 13"/>
          <p:cNvSpPr txBox="1">
            <a:spLocks noChangeArrowheads="1"/>
          </p:cNvSpPr>
          <p:nvPr/>
        </p:nvSpPr>
        <p:spPr bwMode="auto">
          <a:xfrm>
            <a:off x="584200" y="1828800"/>
            <a:ext cx="561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none">
                <a:solidFill>
                  <a:srgbClr val="003366"/>
                </a:solidFill>
                <a:latin typeface="Comic Sans MS" pitchFamily="66" charset="0"/>
              </a:rPr>
              <a:t>1ª:</a:t>
            </a:r>
          </a:p>
        </p:txBody>
      </p:sp>
      <p:graphicFrame>
        <p:nvGraphicFramePr>
          <p:cNvPr id="65550" name="Object 14"/>
          <p:cNvGraphicFramePr>
            <a:graphicFrameLocks noChangeAspect="1"/>
          </p:cNvGraphicFramePr>
          <p:nvPr/>
        </p:nvGraphicFramePr>
        <p:xfrm>
          <a:off x="1476375" y="1816100"/>
          <a:ext cx="57356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6" imgW="2781000" imgH="203040" progId="Equation.3">
                  <p:embed/>
                </p:oleObj>
              </mc:Choice>
              <mc:Fallback>
                <p:oleObj name="Equation" r:id="rId6" imgW="2781000" imgH="203040" progId="Equation.3">
                  <p:embed/>
                  <p:pic>
                    <p:nvPicPr>
                      <p:cNvPr id="6555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816100"/>
                        <a:ext cx="5735638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1" name="Object 15"/>
          <p:cNvGraphicFramePr>
            <a:graphicFrameLocks noChangeAspect="1"/>
          </p:cNvGraphicFramePr>
          <p:nvPr/>
        </p:nvGraphicFramePr>
        <p:xfrm>
          <a:off x="1573213" y="2189163"/>
          <a:ext cx="68881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8" imgW="3340080" imgH="190440" progId="Equation.3">
                  <p:embed/>
                </p:oleObj>
              </mc:Choice>
              <mc:Fallback>
                <p:oleObj name="Equation" r:id="rId8" imgW="3340080" imgH="190440" progId="Equation.3">
                  <p:embed/>
                  <p:pic>
                    <p:nvPicPr>
                      <p:cNvPr id="6555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213" y="2189163"/>
                        <a:ext cx="6888162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2" name="Object 16"/>
          <p:cNvGraphicFramePr>
            <a:graphicFrameLocks noChangeAspect="1"/>
          </p:cNvGraphicFramePr>
          <p:nvPr/>
        </p:nvGraphicFramePr>
        <p:xfrm>
          <a:off x="1619250" y="2562225"/>
          <a:ext cx="55514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10" imgW="2692080" imgH="190440" progId="Equation.3">
                  <p:embed/>
                </p:oleObj>
              </mc:Choice>
              <mc:Fallback>
                <p:oleObj name="Equation" r:id="rId10" imgW="2692080" imgH="190440" progId="Equation.3">
                  <p:embed/>
                  <p:pic>
                    <p:nvPicPr>
                      <p:cNvPr id="6555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562225"/>
                        <a:ext cx="5551488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1763713" y="3446463"/>
            <a:ext cx="4321175" cy="387350"/>
            <a:chOff x="1111" y="2198"/>
            <a:chExt cx="2722" cy="244"/>
          </a:xfrm>
        </p:grpSpPr>
        <p:sp>
          <p:nvSpPr>
            <p:cNvPr id="7191" name="Oval 27"/>
            <p:cNvSpPr>
              <a:spLocks noChangeArrowheads="1"/>
            </p:cNvSpPr>
            <p:nvPr/>
          </p:nvSpPr>
          <p:spPr bwMode="auto">
            <a:xfrm>
              <a:off x="2909" y="2198"/>
              <a:ext cx="924" cy="227"/>
            </a:xfrm>
            <a:prstGeom prst="ellipse">
              <a:avLst/>
            </a:prstGeom>
            <a:solidFill>
              <a:srgbClr val="FFCC99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2" name="Oval 22"/>
            <p:cNvSpPr>
              <a:spLocks noChangeArrowheads="1"/>
            </p:cNvSpPr>
            <p:nvPr/>
          </p:nvSpPr>
          <p:spPr bwMode="auto">
            <a:xfrm>
              <a:off x="1111" y="2215"/>
              <a:ext cx="924" cy="227"/>
            </a:xfrm>
            <a:prstGeom prst="ellipse">
              <a:avLst/>
            </a:prstGeom>
            <a:solidFill>
              <a:srgbClr val="FFCC99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5559" name="Text Box 23"/>
          <p:cNvSpPr txBox="1">
            <a:spLocks noChangeArrowheads="1"/>
          </p:cNvSpPr>
          <p:nvPr/>
        </p:nvSpPr>
        <p:spPr bwMode="auto">
          <a:xfrm>
            <a:off x="539750" y="3081338"/>
            <a:ext cx="561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none">
                <a:solidFill>
                  <a:srgbClr val="003366"/>
                </a:solidFill>
                <a:latin typeface="Comic Sans MS" pitchFamily="66" charset="0"/>
              </a:rPr>
              <a:t>2ª:</a:t>
            </a:r>
          </a:p>
        </p:txBody>
      </p:sp>
      <p:graphicFrame>
        <p:nvGraphicFramePr>
          <p:cNvPr id="65560" name="Object 24"/>
          <p:cNvGraphicFramePr>
            <a:graphicFrameLocks noChangeAspect="1"/>
          </p:cNvGraphicFramePr>
          <p:nvPr/>
        </p:nvGraphicFramePr>
        <p:xfrm>
          <a:off x="1547813" y="3068638"/>
          <a:ext cx="36401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12" imgW="1765080" imgH="203040" progId="Equation.3">
                  <p:embed/>
                </p:oleObj>
              </mc:Choice>
              <mc:Fallback>
                <p:oleObj name="Equation" r:id="rId12" imgW="1765080" imgH="203040" progId="Equation.3">
                  <p:embed/>
                  <p:pic>
                    <p:nvPicPr>
                      <p:cNvPr id="6556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068638"/>
                        <a:ext cx="3640137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1" name="Object 25"/>
          <p:cNvGraphicFramePr>
            <a:graphicFrameLocks noChangeAspect="1"/>
          </p:cNvGraphicFramePr>
          <p:nvPr/>
        </p:nvGraphicFramePr>
        <p:xfrm>
          <a:off x="1547813" y="3429000"/>
          <a:ext cx="62071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14" imgW="3009600" imgH="203040" progId="Equation.3">
                  <p:embed/>
                </p:oleObj>
              </mc:Choice>
              <mc:Fallback>
                <p:oleObj name="Equation" r:id="rId14" imgW="3009600" imgH="203040" progId="Equation.3">
                  <p:embed/>
                  <p:pic>
                    <p:nvPicPr>
                      <p:cNvPr id="6556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429000"/>
                        <a:ext cx="6207125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2" name="Object 26"/>
          <p:cNvGraphicFramePr>
            <a:graphicFrameLocks noChangeAspect="1"/>
          </p:cNvGraphicFramePr>
          <p:nvPr/>
        </p:nvGraphicFramePr>
        <p:xfrm>
          <a:off x="1547813" y="3802063"/>
          <a:ext cx="4529137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16" imgW="2197080" imgH="203040" progId="Equation.3">
                  <p:embed/>
                </p:oleObj>
              </mc:Choice>
              <mc:Fallback>
                <p:oleObj name="Equation" r:id="rId16" imgW="2197080" imgH="203040" progId="Equation.3">
                  <p:embed/>
                  <p:pic>
                    <p:nvPicPr>
                      <p:cNvPr id="6556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802063"/>
                        <a:ext cx="4529137" cy="420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7" name="Text Box 31"/>
          <p:cNvSpPr txBox="1">
            <a:spLocks noChangeArrowheads="1"/>
          </p:cNvSpPr>
          <p:nvPr/>
        </p:nvSpPr>
        <p:spPr bwMode="auto">
          <a:xfrm>
            <a:off x="611188" y="4298950"/>
            <a:ext cx="561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none">
                <a:solidFill>
                  <a:srgbClr val="003366"/>
                </a:solidFill>
                <a:latin typeface="Comic Sans MS" pitchFamily="66" charset="0"/>
              </a:rPr>
              <a:t>3ª:</a:t>
            </a:r>
          </a:p>
        </p:txBody>
      </p:sp>
      <p:graphicFrame>
        <p:nvGraphicFramePr>
          <p:cNvPr id="65568" name="Object 32"/>
          <p:cNvGraphicFramePr>
            <a:graphicFrameLocks noChangeAspect="1"/>
          </p:cNvGraphicFramePr>
          <p:nvPr/>
        </p:nvGraphicFramePr>
        <p:xfrm>
          <a:off x="1414463" y="4221163"/>
          <a:ext cx="704532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18" imgW="3416040" imgH="266400" progId="Equation.3">
                  <p:embed/>
                </p:oleObj>
              </mc:Choice>
              <mc:Fallback>
                <p:oleObj name="Equation" r:id="rId18" imgW="3416040" imgH="266400" progId="Equation.3">
                  <p:embed/>
                  <p:pic>
                    <p:nvPicPr>
                      <p:cNvPr id="6556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463" y="4221163"/>
                        <a:ext cx="7045325" cy="55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71" name="Object 35"/>
          <p:cNvGraphicFramePr>
            <a:graphicFrameLocks noChangeAspect="1"/>
          </p:cNvGraphicFramePr>
          <p:nvPr/>
        </p:nvGraphicFramePr>
        <p:xfrm>
          <a:off x="1514475" y="4759325"/>
          <a:ext cx="612933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ção" r:id="rId20" imgW="2971800" imgH="266400" progId="Equation.3">
                  <p:embed/>
                </p:oleObj>
              </mc:Choice>
              <mc:Fallback>
                <p:oleObj name="Equação" r:id="rId20" imgW="2971800" imgH="266400" progId="Equation.3">
                  <p:embed/>
                  <p:pic>
                    <p:nvPicPr>
                      <p:cNvPr id="65571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475" y="4759325"/>
                        <a:ext cx="6129338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74" name="Text Box 38"/>
          <p:cNvSpPr txBox="1">
            <a:spLocks noChangeArrowheads="1"/>
          </p:cNvSpPr>
          <p:nvPr/>
        </p:nvSpPr>
        <p:spPr bwMode="auto">
          <a:xfrm>
            <a:off x="539750" y="5464175"/>
            <a:ext cx="561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none">
                <a:solidFill>
                  <a:srgbClr val="003366"/>
                </a:solidFill>
                <a:latin typeface="Comic Sans MS" pitchFamily="66" charset="0"/>
              </a:rPr>
              <a:t>4ª:</a:t>
            </a:r>
          </a:p>
        </p:txBody>
      </p:sp>
      <p:graphicFrame>
        <p:nvGraphicFramePr>
          <p:cNvPr id="65575" name="Object 39"/>
          <p:cNvGraphicFramePr>
            <a:graphicFrameLocks noChangeAspect="1"/>
          </p:cNvGraphicFramePr>
          <p:nvPr/>
        </p:nvGraphicFramePr>
        <p:xfrm>
          <a:off x="1331913" y="5300663"/>
          <a:ext cx="59975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Equation" r:id="rId22" imgW="2908080" imgH="266400" progId="Equation.3">
                  <p:embed/>
                </p:oleObj>
              </mc:Choice>
              <mc:Fallback>
                <p:oleObj name="Equation" r:id="rId22" imgW="2908080" imgH="266400" progId="Equation.3">
                  <p:embed/>
                  <p:pic>
                    <p:nvPicPr>
                      <p:cNvPr id="65575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300663"/>
                        <a:ext cx="5997575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78" name="Object 42"/>
          <p:cNvGraphicFramePr>
            <a:graphicFrameLocks noChangeAspect="1"/>
          </p:cNvGraphicFramePr>
          <p:nvPr/>
        </p:nvGraphicFramePr>
        <p:xfrm>
          <a:off x="1476375" y="5795963"/>
          <a:ext cx="476726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Equation" r:id="rId24" imgW="2311200" imgH="266400" progId="Equation.3">
                  <p:embed/>
                </p:oleObj>
              </mc:Choice>
              <mc:Fallback>
                <p:oleObj name="Equation" r:id="rId24" imgW="2311200" imgH="266400" progId="Equation.3">
                  <p:embed/>
                  <p:pic>
                    <p:nvPicPr>
                      <p:cNvPr id="65578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795963"/>
                        <a:ext cx="4767263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261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5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65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5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65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55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5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900" decel="100000" fill="hold"/>
                                        <p:tgtEl>
                                          <p:spTgt spid="65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2" dur="500"/>
                                        <p:tgtEl>
                                          <p:spTgt spid="6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5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5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900" decel="100000" fill="hold"/>
                                        <p:tgtEl>
                                          <p:spTgt spid="65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5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5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5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900" decel="100000" fill="hold"/>
                                        <p:tgtEl>
                                          <p:spTgt spid="65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5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5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5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900" decel="100000" fill="hold"/>
                                        <p:tgtEl>
                                          <p:spTgt spid="65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5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5" dur="500"/>
                                        <p:tgtEl>
                                          <p:spTgt spid="65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65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5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900" decel="100000" fill="hold"/>
                                        <p:tgtEl>
                                          <p:spTgt spid="65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5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65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5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900" decel="100000" fill="hold"/>
                                        <p:tgtEl>
                                          <p:spTgt spid="65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5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5" dur="500"/>
                                        <p:tgtEl>
                                          <p:spTgt spid="6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655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5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900" decel="100000" fill="hold"/>
                                        <p:tgtEl>
                                          <p:spTgt spid="65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5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655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65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900" decel="100000" fill="hold"/>
                                        <p:tgtEl>
                                          <p:spTgt spid="65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5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/>
      <p:bldP spid="65547" grpId="0"/>
      <p:bldP spid="65549" grpId="0"/>
      <p:bldP spid="65559" grpId="0"/>
      <p:bldP spid="65567" grpId="0"/>
      <p:bldP spid="6557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92" name="Oval 32"/>
          <p:cNvSpPr>
            <a:spLocks noChangeArrowheads="1"/>
          </p:cNvSpPr>
          <p:nvPr/>
        </p:nvSpPr>
        <p:spPr bwMode="auto">
          <a:xfrm>
            <a:off x="5205413" y="1557338"/>
            <a:ext cx="288925" cy="431800"/>
          </a:xfrm>
          <a:prstGeom prst="ellipse">
            <a:avLst/>
          </a:prstGeom>
          <a:solidFill>
            <a:srgbClr val="FFCC9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7" name="Oval 27"/>
          <p:cNvSpPr>
            <a:spLocks noChangeArrowheads="1"/>
          </p:cNvSpPr>
          <p:nvPr/>
        </p:nvSpPr>
        <p:spPr bwMode="auto">
          <a:xfrm>
            <a:off x="4456113" y="1512888"/>
            <a:ext cx="576262" cy="504825"/>
          </a:xfrm>
          <a:prstGeom prst="ellipse">
            <a:avLst/>
          </a:prstGeom>
          <a:solidFill>
            <a:srgbClr val="FFCC9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65" name="WordArt 5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648017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Formas canónicas (cont.)</a:t>
            </a:r>
          </a:p>
        </p:txBody>
      </p:sp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447675" y="981075"/>
            <a:ext cx="3476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</a:pPr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1760538" y="981075"/>
            <a:ext cx="55483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Determinar as formas canónicas da função f(x,y,z)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66568" name="Object 8"/>
          <p:cNvGraphicFramePr>
            <a:graphicFrameLocks noChangeAspect="1"/>
          </p:cNvGraphicFramePr>
          <p:nvPr/>
        </p:nvGraphicFramePr>
        <p:xfrm>
          <a:off x="2954338" y="1570038"/>
          <a:ext cx="2514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4" imgW="1218960" imgH="203040" progId="Equation.3">
                  <p:embed/>
                </p:oleObj>
              </mc:Choice>
              <mc:Fallback>
                <p:oleObj name="Equation" r:id="rId4" imgW="1218960" imgH="203040" progId="Equation.3">
                  <p:embed/>
                  <p:pic>
                    <p:nvPicPr>
                      <p:cNvPr id="665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338" y="1570038"/>
                        <a:ext cx="25146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9" name="Text Box 9"/>
          <p:cNvSpPr txBox="1">
            <a:spLocks noChangeArrowheads="1"/>
          </p:cNvSpPr>
          <p:nvPr/>
        </p:nvSpPr>
        <p:spPr bwMode="auto">
          <a:xfrm>
            <a:off x="3968750" y="2301875"/>
            <a:ext cx="561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none">
                <a:solidFill>
                  <a:srgbClr val="003366"/>
                </a:solidFill>
                <a:latin typeface="Comic Sans MS" pitchFamily="66" charset="0"/>
              </a:rPr>
              <a:t>1ª:</a:t>
            </a:r>
          </a:p>
        </p:txBody>
      </p:sp>
      <p:graphicFrame>
        <p:nvGraphicFramePr>
          <p:cNvPr id="66570" name="Object 10"/>
          <p:cNvGraphicFramePr>
            <a:graphicFrameLocks noChangeAspect="1"/>
          </p:cNvGraphicFramePr>
          <p:nvPr/>
        </p:nvGraphicFramePr>
        <p:xfrm>
          <a:off x="4746625" y="2236788"/>
          <a:ext cx="34829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6" imgW="1688760" imgH="253800" progId="Equation.3">
                  <p:embed/>
                </p:oleObj>
              </mc:Choice>
              <mc:Fallback>
                <p:oleObj name="Equation" r:id="rId6" imgW="1688760" imgH="253800" progId="Equation.3">
                  <p:embed/>
                  <p:pic>
                    <p:nvPicPr>
                      <p:cNvPr id="6657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625" y="2236788"/>
                        <a:ext cx="348297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6" name="Text Box 16"/>
          <p:cNvSpPr txBox="1">
            <a:spLocks noChangeArrowheads="1"/>
          </p:cNvSpPr>
          <p:nvPr/>
        </p:nvSpPr>
        <p:spPr bwMode="auto">
          <a:xfrm>
            <a:off x="3924300" y="3336925"/>
            <a:ext cx="561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none">
                <a:solidFill>
                  <a:srgbClr val="003366"/>
                </a:solidFill>
                <a:latin typeface="Comic Sans MS" pitchFamily="66" charset="0"/>
              </a:rPr>
              <a:t>2ª:</a:t>
            </a:r>
          </a:p>
        </p:txBody>
      </p:sp>
      <p:sp>
        <p:nvSpPr>
          <p:cNvPr id="66580" name="Text Box 20"/>
          <p:cNvSpPr txBox="1">
            <a:spLocks noChangeArrowheads="1"/>
          </p:cNvSpPr>
          <p:nvPr/>
        </p:nvSpPr>
        <p:spPr bwMode="auto">
          <a:xfrm>
            <a:off x="3995738" y="4357688"/>
            <a:ext cx="561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none">
                <a:solidFill>
                  <a:srgbClr val="003366"/>
                </a:solidFill>
                <a:latin typeface="Comic Sans MS" pitchFamily="66" charset="0"/>
              </a:rPr>
              <a:t>3ª:</a:t>
            </a:r>
          </a:p>
        </p:txBody>
      </p:sp>
      <p:sp>
        <p:nvSpPr>
          <p:cNvPr id="66583" name="Text Box 23"/>
          <p:cNvSpPr txBox="1">
            <a:spLocks noChangeArrowheads="1"/>
          </p:cNvSpPr>
          <p:nvPr/>
        </p:nvSpPr>
        <p:spPr bwMode="auto">
          <a:xfrm>
            <a:off x="3924300" y="5373688"/>
            <a:ext cx="561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none">
                <a:solidFill>
                  <a:srgbClr val="003366"/>
                </a:solidFill>
                <a:latin typeface="Comic Sans MS" pitchFamily="66" charset="0"/>
              </a:rPr>
              <a:t>4ª:</a:t>
            </a:r>
          </a:p>
        </p:txBody>
      </p:sp>
      <p:graphicFrame>
        <p:nvGraphicFramePr>
          <p:cNvPr id="66586" name="Object 26"/>
          <p:cNvGraphicFramePr>
            <a:graphicFrameLocks noChangeAspect="1"/>
          </p:cNvGraphicFramePr>
          <p:nvPr/>
        </p:nvGraphicFramePr>
        <p:xfrm>
          <a:off x="754063" y="2338388"/>
          <a:ext cx="2462212" cy="330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Document" r:id="rId8" imgW="6231960" imgH="4064040" progId="Word.Document.8">
                  <p:embed/>
                </p:oleObj>
              </mc:Choice>
              <mc:Fallback>
                <p:oleObj name="Document" r:id="rId8" imgW="6231960" imgH="4064040" progId="Word.Document.8">
                  <p:embed/>
                  <p:pic>
                    <p:nvPicPr>
                      <p:cNvPr id="6658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218" r="54878" b="48720"/>
                      <a:stretch>
                        <a:fillRect/>
                      </a:stretch>
                    </p:blipFill>
                    <p:spPr bwMode="auto">
                      <a:xfrm>
                        <a:off x="754063" y="2338388"/>
                        <a:ext cx="2462212" cy="330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9" name="Object 29"/>
          <p:cNvGraphicFramePr>
            <a:graphicFrameLocks noChangeAspect="1"/>
          </p:cNvGraphicFramePr>
          <p:nvPr/>
        </p:nvGraphicFramePr>
        <p:xfrm>
          <a:off x="754063" y="2338388"/>
          <a:ext cx="2462212" cy="330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Document" r:id="rId10" imgW="6231960" imgH="4064040" progId="Word.Document.8">
                  <p:embed/>
                </p:oleObj>
              </mc:Choice>
              <mc:Fallback>
                <p:oleObj name="Document" r:id="rId10" imgW="6231960" imgH="4064040" progId="Word.Document.8">
                  <p:embed/>
                  <p:pic>
                    <p:nvPicPr>
                      <p:cNvPr id="6658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218" r="54878" b="48720"/>
                      <a:stretch>
                        <a:fillRect/>
                      </a:stretch>
                    </p:blipFill>
                    <p:spPr bwMode="auto">
                      <a:xfrm>
                        <a:off x="754063" y="2338388"/>
                        <a:ext cx="2462212" cy="330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91" name="Object 31"/>
          <p:cNvGraphicFramePr>
            <a:graphicFrameLocks noChangeAspect="1"/>
          </p:cNvGraphicFramePr>
          <p:nvPr/>
        </p:nvGraphicFramePr>
        <p:xfrm>
          <a:off x="752475" y="2338388"/>
          <a:ext cx="2462213" cy="330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Document" r:id="rId12" imgW="6231960" imgH="4064040" progId="Word.Document.8">
                  <p:embed/>
                </p:oleObj>
              </mc:Choice>
              <mc:Fallback>
                <p:oleObj name="Document" r:id="rId12" imgW="6231960" imgH="4064040" progId="Word.Document.8">
                  <p:embed/>
                  <p:pic>
                    <p:nvPicPr>
                      <p:cNvPr id="6659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218" r="54878" b="48720"/>
                      <a:stretch>
                        <a:fillRect/>
                      </a:stretch>
                    </p:blipFill>
                    <p:spPr bwMode="auto">
                      <a:xfrm>
                        <a:off x="752475" y="2338388"/>
                        <a:ext cx="2462213" cy="330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93" name="Object 33"/>
          <p:cNvGraphicFramePr>
            <a:graphicFrameLocks noChangeAspect="1"/>
          </p:cNvGraphicFramePr>
          <p:nvPr/>
        </p:nvGraphicFramePr>
        <p:xfrm>
          <a:off x="752475" y="2338388"/>
          <a:ext cx="2462213" cy="330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Document" r:id="rId14" imgW="6231960" imgH="4064040" progId="Word.Document.8">
                  <p:embed/>
                </p:oleObj>
              </mc:Choice>
              <mc:Fallback>
                <p:oleObj name="Document" r:id="rId14" imgW="6231960" imgH="4064040" progId="Word.Document.8">
                  <p:embed/>
                  <p:pic>
                    <p:nvPicPr>
                      <p:cNvPr id="6659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218" r="54878" b="48720"/>
                      <a:stretch>
                        <a:fillRect/>
                      </a:stretch>
                    </p:blipFill>
                    <p:spPr bwMode="auto">
                      <a:xfrm>
                        <a:off x="752475" y="2338388"/>
                        <a:ext cx="2462213" cy="330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94" name="Object 34"/>
          <p:cNvGraphicFramePr>
            <a:graphicFrameLocks noChangeAspect="1"/>
          </p:cNvGraphicFramePr>
          <p:nvPr/>
        </p:nvGraphicFramePr>
        <p:xfrm>
          <a:off x="752475" y="2338388"/>
          <a:ext cx="2462213" cy="330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Document" r:id="rId16" imgW="6231960" imgH="4064040" progId="Word.Document.8">
                  <p:embed/>
                </p:oleObj>
              </mc:Choice>
              <mc:Fallback>
                <p:oleObj name="Document" r:id="rId16" imgW="6231960" imgH="4064040" progId="Word.Document.8">
                  <p:embed/>
                  <p:pic>
                    <p:nvPicPr>
                      <p:cNvPr id="66594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218" r="54878" b="48720"/>
                      <a:stretch>
                        <a:fillRect/>
                      </a:stretch>
                    </p:blipFill>
                    <p:spPr bwMode="auto">
                      <a:xfrm>
                        <a:off x="752475" y="2338388"/>
                        <a:ext cx="2462213" cy="330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95" name="Object 35"/>
          <p:cNvGraphicFramePr>
            <a:graphicFrameLocks noChangeAspect="1"/>
          </p:cNvGraphicFramePr>
          <p:nvPr/>
        </p:nvGraphicFramePr>
        <p:xfrm>
          <a:off x="752475" y="2338388"/>
          <a:ext cx="2462213" cy="330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Document" r:id="rId18" imgW="6231960" imgH="4064040" progId="Word.Document.8">
                  <p:embed/>
                </p:oleObj>
              </mc:Choice>
              <mc:Fallback>
                <p:oleObj name="Document" r:id="rId18" imgW="6231960" imgH="4064040" progId="Word.Document.8">
                  <p:embed/>
                  <p:pic>
                    <p:nvPicPr>
                      <p:cNvPr id="66595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218" r="54878" b="48720"/>
                      <a:stretch>
                        <a:fillRect/>
                      </a:stretch>
                    </p:blipFill>
                    <p:spPr bwMode="auto">
                      <a:xfrm>
                        <a:off x="752475" y="2338388"/>
                        <a:ext cx="2462213" cy="330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96" name="Object 36"/>
          <p:cNvGraphicFramePr>
            <a:graphicFrameLocks noChangeAspect="1"/>
          </p:cNvGraphicFramePr>
          <p:nvPr/>
        </p:nvGraphicFramePr>
        <p:xfrm>
          <a:off x="304800" y="2338388"/>
          <a:ext cx="3043238" cy="330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Document" r:id="rId20" imgW="6238080" imgH="4064040" progId="Word.Document.8">
                  <p:embed/>
                </p:oleObj>
              </mc:Choice>
              <mc:Fallback>
                <p:oleObj name="Document" r:id="rId20" imgW="6238080" imgH="4064040" progId="Word.Document.8">
                  <p:embed/>
                  <p:pic>
                    <p:nvPicPr>
                      <p:cNvPr id="66596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198" r="49054" b="48720"/>
                      <a:stretch>
                        <a:fillRect/>
                      </a:stretch>
                    </p:blipFill>
                    <p:spPr bwMode="auto">
                      <a:xfrm>
                        <a:off x="304800" y="2338388"/>
                        <a:ext cx="3043238" cy="330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97" name="Object 37"/>
          <p:cNvGraphicFramePr>
            <a:graphicFrameLocks noChangeAspect="1"/>
          </p:cNvGraphicFramePr>
          <p:nvPr/>
        </p:nvGraphicFramePr>
        <p:xfrm>
          <a:off x="4773613" y="3192463"/>
          <a:ext cx="30638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Equation" r:id="rId22" imgW="1485720" imgH="253800" progId="Equation.3">
                  <p:embed/>
                </p:oleObj>
              </mc:Choice>
              <mc:Fallback>
                <p:oleObj name="Equation" r:id="rId22" imgW="1485720" imgH="253800" progId="Equation.3">
                  <p:embed/>
                  <p:pic>
                    <p:nvPicPr>
                      <p:cNvPr id="66597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3613" y="3192463"/>
                        <a:ext cx="306387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98" name="Object 38"/>
          <p:cNvGraphicFramePr>
            <a:graphicFrameLocks noChangeAspect="1"/>
          </p:cNvGraphicFramePr>
          <p:nvPr/>
        </p:nvGraphicFramePr>
        <p:xfrm>
          <a:off x="4748213" y="4162425"/>
          <a:ext cx="3535362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Equation" r:id="rId24" imgW="1714320" imgH="291960" progId="Equation.3">
                  <p:embed/>
                </p:oleObj>
              </mc:Choice>
              <mc:Fallback>
                <p:oleObj name="Equation" r:id="rId24" imgW="1714320" imgH="291960" progId="Equation.3">
                  <p:embed/>
                  <p:pic>
                    <p:nvPicPr>
                      <p:cNvPr id="66598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8213" y="4162425"/>
                        <a:ext cx="3535362" cy="60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99" name="Object 39"/>
          <p:cNvGraphicFramePr>
            <a:graphicFrameLocks noChangeAspect="1"/>
          </p:cNvGraphicFramePr>
          <p:nvPr/>
        </p:nvGraphicFramePr>
        <p:xfrm>
          <a:off x="4786313" y="5262563"/>
          <a:ext cx="3038475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Equation" r:id="rId26" imgW="1473120" imgH="291960" progId="Equation.3">
                  <p:embed/>
                </p:oleObj>
              </mc:Choice>
              <mc:Fallback>
                <p:oleObj name="Equation" r:id="rId26" imgW="1473120" imgH="291960" progId="Equation.3">
                  <p:embed/>
                  <p:pic>
                    <p:nvPicPr>
                      <p:cNvPr id="66599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5262563"/>
                        <a:ext cx="3038475" cy="601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316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66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66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66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8" dur="2000"/>
                                        <p:tgtEl>
                                          <p:spTgt spid="66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66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6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66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66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2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6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900" decel="100000" fill="hold"/>
                                        <p:tgtEl>
                                          <p:spTgt spid="66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4" dur="500"/>
                                        <p:tgtEl>
                                          <p:spTgt spid="6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66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6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900" decel="100000" fill="hold"/>
                                        <p:tgtEl>
                                          <p:spTgt spid="66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6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6" dur="500"/>
                                        <p:tgtEl>
                                          <p:spTgt spid="6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66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6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900" decel="100000" fill="hold"/>
                                        <p:tgtEl>
                                          <p:spTgt spid="66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6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8" dur="500"/>
                                        <p:tgtEl>
                                          <p:spTgt spid="6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66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66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900" decel="100000" fill="hold"/>
                                        <p:tgtEl>
                                          <p:spTgt spid="66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6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92" grpId="0" animBg="1"/>
      <p:bldP spid="66587" grpId="0" animBg="1"/>
      <p:bldP spid="66566" grpId="0"/>
      <p:bldP spid="66567" grpId="0"/>
      <p:bldP spid="66569" grpId="0"/>
      <p:bldP spid="66576" grpId="0"/>
      <p:bldP spid="66580" grpId="0"/>
      <p:bldP spid="6658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3167062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Irrelevâncias</a:t>
            </a:r>
          </a:p>
        </p:txBody>
      </p:sp>
      <p:sp>
        <p:nvSpPr>
          <p:cNvPr id="9222" name="Text Box 3"/>
          <p:cNvSpPr txBox="1">
            <a:spLocks noChangeArrowheads="1"/>
          </p:cNvSpPr>
          <p:nvPr/>
        </p:nvSpPr>
        <p:spPr bwMode="auto">
          <a:xfrm>
            <a:off x="447675" y="18653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468313" y="981075"/>
            <a:ext cx="77406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Condições irrelevantes</a:t>
            </a:r>
            <a:r>
              <a:rPr lang="pt-PT" u="none">
                <a:solidFill>
                  <a:srgbClr val="000066"/>
                </a:solidFill>
              </a:rPr>
              <a:t> – combinações das variáveis de entrada para as quais a saída não se conhece ou é irrelevante.</a:t>
            </a:r>
            <a:r>
              <a:rPr lang="en-US" u="none">
                <a:solidFill>
                  <a:srgbClr val="000066"/>
                </a:solidFill>
              </a:rPr>
              <a:t> </a:t>
            </a:r>
          </a:p>
        </p:txBody>
      </p:sp>
      <p:graphicFrame>
        <p:nvGraphicFramePr>
          <p:cNvPr id="68615" name="Object 7"/>
          <p:cNvGraphicFramePr>
            <a:graphicFrameLocks noChangeAspect="1"/>
          </p:cNvGraphicFramePr>
          <p:nvPr/>
        </p:nvGraphicFramePr>
        <p:xfrm>
          <a:off x="5159375" y="1916113"/>
          <a:ext cx="3016250" cy="163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Document" r:id="rId4" imgW="6231960" imgH="4064040" progId="Word.Document.8">
                  <p:embed/>
                </p:oleObj>
              </mc:Choice>
              <mc:Fallback>
                <p:oleObj name="Document" r:id="rId4" imgW="6231960" imgH="4064040" progId="Word.Document.8">
                  <p:embed/>
                  <p:pic>
                    <p:nvPicPr>
                      <p:cNvPr id="686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64699" b="70865"/>
                      <a:stretch>
                        <a:fillRect/>
                      </a:stretch>
                    </p:blipFill>
                    <p:spPr bwMode="auto">
                      <a:xfrm>
                        <a:off x="5159375" y="1916113"/>
                        <a:ext cx="3016250" cy="163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6" name="Text Box 8"/>
          <p:cNvSpPr txBox="1">
            <a:spLocks noChangeArrowheads="1"/>
          </p:cNvSpPr>
          <p:nvPr/>
        </p:nvSpPr>
        <p:spPr bwMode="auto">
          <a:xfrm>
            <a:off x="5824538" y="3716338"/>
            <a:ext cx="1555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u="none"/>
              <a:t> </a:t>
            </a:r>
            <a:r>
              <a:rPr lang="en-US" u="none">
                <a:solidFill>
                  <a:srgbClr val="003366"/>
                </a:solidFill>
              </a:rPr>
              <a:t>– </a:t>
            </a:r>
            <a:r>
              <a:rPr lang="en-US" i="1" u="none">
                <a:solidFill>
                  <a:srgbClr val="003366"/>
                </a:solidFill>
              </a:rPr>
              <a:t>don’t care</a:t>
            </a:r>
          </a:p>
        </p:txBody>
      </p:sp>
      <p:sp>
        <p:nvSpPr>
          <p:cNvPr id="68617" name="Text Box 9"/>
          <p:cNvSpPr txBox="1">
            <a:spLocks noChangeArrowheads="1"/>
          </p:cNvSpPr>
          <p:nvPr/>
        </p:nvSpPr>
        <p:spPr bwMode="auto">
          <a:xfrm>
            <a:off x="539750" y="4443413"/>
            <a:ext cx="80645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O circuito real para todas as condições irrelevantes vai produzir nas saídas quaisquer valores válidos (0 ou 1). </a:t>
            </a:r>
          </a:p>
        </p:txBody>
      </p:sp>
      <p:sp>
        <p:nvSpPr>
          <p:cNvPr id="68618" name="Text Box 10"/>
          <p:cNvSpPr txBox="1">
            <a:spLocks noChangeArrowheads="1"/>
          </p:cNvSpPr>
          <p:nvPr/>
        </p:nvSpPr>
        <p:spPr bwMode="auto">
          <a:xfrm>
            <a:off x="539750" y="5367338"/>
            <a:ext cx="82089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O projetista tem a liberdade de atribuir valores 0 ou 1 às saídas respetivas.</a:t>
            </a:r>
          </a:p>
        </p:txBody>
      </p:sp>
      <p:graphicFrame>
        <p:nvGraphicFramePr>
          <p:cNvPr id="68619" name="Object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116013" y="1846263"/>
          <a:ext cx="3276600" cy="201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Presentation" r:id="rId6" imgW="4572139" imgH="3429175" progId="PowerPoint.Show.8">
                  <p:embed/>
                </p:oleObj>
              </mc:Choice>
              <mc:Fallback>
                <p:oleObj name="Presentation" r:id="rId6" imgW="4572139" imgH="3429175" progId="PowerPoint.Show.8">
                  <p:embed/>
                  <p:pic>
                    <p:nvPicPr>
                      <p:cNvPr id="68619" name="Object 11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3621" t="3149" r="9448" b="41992"/>
                      <a:stretch>
                        <a:fillRect/>
                      </a:stretch>
                    </p:blipFill>
                    <p:spPr bwMode="auto">
                      <a:xfrm>
                        <a:off x="1116013" y="1846263"/>
                        <a:ext cx="3276600" cy="2014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426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/>
      <p:bldP spid="68616" grpId="0"/>
      <p:bldP spid="68617" grpId="0"/>
      <p:bldP spid="686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8351837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Condições irrelevantes e formas canónicas</a:t>
            </a:r>
          </a:p>
        </p:txBody>
      </p:sp>
      <p:sp>
        <p:nvSpPr>
          <p:cNvPr id="10249" name="Text Box 3"/>
          <p:cNvSpPr txBox="1">
            <a:spLocks noChangeArrowheads="1"/>
          </p:cNvSpPr>
          <p:nvPr/>
        </p:nvSpPr>
        <p:spPr bwMode="auto">
          <a:xfrm>
            <a:off x="447675" y="18653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89093" name="Object 5"/>
          <p:cNvGraphicFramePr>
            <a:graphicFrameLocks noChangeAspect="1"/>
          </p:cNvGraphicFramePr>
          <p:nvPr/>
        </p:nvGraphicFramePr>
        <p:xfrm>
          <a:off x="2924175" y="1125538"/>
          <a:ext cx="3016250" cy="163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Document" r:id="rId4" imgW="6231960" imgH="4064040" progId="Word.Document.8">
                  <p:embed/>
                </p:oleObj>
              </mc:Choice>
              <mc:Fallback>
                <p:oleObj name="Document" r:id="rId4" imgW="6231960" imgH="4064040" progId="Word.Document.8">
                  <p:embed/>
                  <p:pic>
                    <p:nvPicPr>
                      <p:cNvPr id="890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64699" b="70865"/>
                      <a:stretch>
                        <a:fillRect/>
                      </a:stretch>
                    </p:blipFill>
                    <p:spPr bwMode="auto">
                      <a:xfrm>
                        <a:off x="2924175" y="1125538"/>
                        <a:ext cx="3016250" cy="163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8" name="Text Box 10"/>
          <p:cNvSpPr txBox="1">
            <a:spLocks noChangeArrowheads="1"/>
          </p:cNvSpPr>
          <p:nvPr/>
        </p:nvSpPr>
        <p:spPr bwMode="auto">
          <a:xfrm>
            <a:off x="655638" y="3089275"/>
            <a:ext cx="561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none">
                <a:solidFill>
                  <a:srgbClr val="003366"/>
                </a:solidFill>
                <a:latin typeface="Comic Sans MS" pitchFamily="66" charset="0"/>
              </a:rPr>
              <a:t>1ª:</a:t>
            </a:r>
          </a:p>
        </p:txBody>
      </p:sp>
      <p:graphicFrame>
        <p:nvGraphicFramePr>
          <p:cNvPr id="89099" name="Object 11"/>
          <p:cNvGraphicFramePr>
            <a:graphicFrameLocks noChangeAspect="1"/>
          </p:cNvGraphicFramePr>
          <p:nvPr/>
        </p:nvGraphicFramePr>
        <p:xfrm>
          <a:off x="1403350" y="3024188"/>
          <a:ext cx="53673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Equation" r:id="rId6" imgW="2603160" imgH="253800" progId="Equation.3">
                  <p:embed/>
                </p:oleObj>
              </mc:Choice>
              <mc:Fallback>
                <p:oleObj name="Equation" r:id="rId6" imgW="2603160" imgH="253800" progId="Equation.3">
                  <p:embed/>
                  <p:pic>
                    <p:nvPicPr>
                      <p:cNvPr id="8909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024188"/>
                        <a:ext cx="5367338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0" name="Text Box 12"/>
          <p:cNvSpPr txBox="1">
            <a:spLocks noChangeArrowheads="1"/>
          </p:cNvSpPr>
          <p:nvPr/>
        </p:nvSpPr>
        <p:spPr bwMode="auto">
          <a:xfrm>
            <a:off x="611188" y="3973513"/>
            <a:ext cx="561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none">
                <a:solidFill>
                  <a:srgbClr val="003366"/>
                </a:solidFill>
                <a:latin typeface="Comic Sans MS" pitchFamily="66" charset="0"/>
              </a:rPr>
              <a:t>2ª:</a:t>
            </a:r>
          </a:p>
        </p:txBody>
      </p:sp>
      <p:sp>
        <p:nvSpPr>
          <p:cNvPr id="89101" name="Text Box 13"/>
          <p:cNvSpPr txBox="1">
            <a:spLocks noChangeArrowheads="1"/>
          </p:cNvSpPr>
          <p:nvPr/>
        </p:nvSpPr>
        <p:spPr bwMode="auto">
          <a:xfrm>
            <a:off x="682625" y="4824413"/>
            <a:ext cx="561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none">
                <a:solidFill>
                  <a:srgbClr val="003366"/>
                </a:solidFill>
                <a:latin typeface="Comic Sans MS" pitchFamily="66" charset="0"/>
              </a:rPr>
              <a:t>3ª:</a:t>
            </a:r>
          </a:p>
        </p:txBody>
      </p:sp>
      <p:sp>
        <p:nvSpPr>
          <p:cNvPr id="89102" name="Text Box 14"/>
          <p:cNvSpPr txBox="1">
            <a:spLocks noChangeArrowheads="1"/>
          </p:cNvSpPr>
          <p:nvPr/>
        </p:nvSpPr>
        <p:spPr bwMode="auto">
          <a:xfrm>
            <a:off x="611188" y="5675313"/>
            <a:ext cx="561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none">
                <a:solidFill>
                  <a:srgbClr val="003366"/>
                </a:solidFill>
                <a:latin typeface="Comic Sans MS" pitchFamily="66" charset="0"/>
              </a:rPr>
              <a:t>4ª:</a:t>
            </a:r>
          </a:p>
        </p:txBody>
      </p:sp>
      <p:graphicFrame>
        <p:nvGraphicFramePr>
          <p:cNvPr id="89106" name="Object 18"/>
          <p:cNvGraphicFramePr>
            <a:graphicFrameLocks noChangeAspect="1"/>
          </p:cNvGraphicFramePr>
          <p:nvPr/>
        </p:nvGraphicFramePr>
        <p:xfrm>
          <a:off x="1331913" y="3913188"/>
          <a:ext cx="73564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8" imgW="3568680" imgH="253800" progId="Equation.3">
                  <p:embed/>
                </p:oleObj>
              </mc:Choice>
              <mc:Fallback>
                <p:oleObj name="Equation" r:id="rId8" imgW="3568680" imgH="253800" progId="Equation.3">
                  <p:embed/>
                  <p:pic>
                    <p:nvPicPr>
                      <p:cNvPr id="8910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913188"/>
                        <a:ext cx="735647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7" name="Object 19"/>
          <p:cNvGraphicFramePr>
            <a:graphicFrameLocks noChangeAspect="1"/>
          </p:cNvGraphicFramePr>
          <p:nvPr/>
        </p:nvGraphicFramePr>
        <p:xfrm>
          <a:off x="1331913" y="4652963"/>
          <a:ext cx="47910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10" imgW="2323800" imgH="304560" progId="Equation.3">
                  <p:embed/>
                </p:oleObj>
              </mc:Choice>
              <mc:Fallback>
                <p:oleObj name="Equation" r:id="rId10" imgW="2323800" imgH="304560" progId="Equation.3">
                  <p:embed/>
                  <p:pic>
                    <p:nvPicPr>
                      <p:cNvPr id="8910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652963"/>
                        <a:ext cx="4791075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0" name="Object 22"/>
          <p:cNvGraphicFramePr>
            <a:graphicFrameLocks noChangeAspect="1"/>
          </p:cNvGraphicFramePr>
          <p:nvPr/>
        </p:nvGraphicFramePr>
        <p:xfrm>
          <a:off x="1371600" y="5516563"/>
          <a:ext cx="727868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name="Equation" r:id="rId12" imgW="3530520" imgH="304560" progId="Equation.3">
                  <p:embed/>
                </p:oleObj>
              </mc:Choice>
              <mc:Fallback>
                <p:oleObj name="Equation" r:id="rId12" imgW="3530520" imgH="304560" progId="Equation.3">
                  <p:embed/>
                  <p:pic>
                    <p:nvPicPr>
                      <p:cNvPr id="8911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516563"/>
                        <a:ext cx="7278688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621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5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9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9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decel="100000" fill="hold"/>
                                        <p:tgtEl>
                                          <p:spTgt spid="89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5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9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decel="100000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500"/>
                                        <p:tgtEl>
                                          <p:spTgt spid="8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9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9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decel="100000" fill="hold"/>
                                        <p:tgtEl>
                                          <p:spTgt spid="89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8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9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9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0" decel="100000" fill="hold"/>
                                        <p:tgtEl>
                                          <p:spTgt spid="89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9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8" grpId="0"/>
      <p:bldP spid="89100" grpId="0"/>
      <p:bldP spid="89101" grpId="0"/>
      <p:bldP spid="8910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5688012" cy="5762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Análise de circuitos</a:t>
            </a: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519113" y="980058"/>
            <a:ext cx="83740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Quê função é realizada no circuito seguinte?</a:t>
            </a:r>
          </a:p>
        </p:txBody>
      </p:sp>
      <p:pic>
        <p:nvPicPr>
          <p:cNvPr id="12595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636" y="3438128"/>
            <a:ext cx="5752864" cy="2655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518418" y="1907540"/>
            <a:ext cx="83740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Quantos níveis de atraso tem o circuito?</a:t>
            </a: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539552" y="2420888"/>
            <a:ext cx="83740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É possível reduzir o número de níveis de atraso?</a:t>
            </a:r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539552" y="2915652"/>
            <a:ext cx="83740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É possível implementar o circuito só com portas NAND?</a:t>
            </a:r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539552" y="1412776"/>
            <a:ext cx="83740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É possível reduzir o número de componentes?</a:t>
            </a:r>
          </a:p>
        </p:txBody>
      </p:sp>
    </p:spTree>
    <p:extLst>
      <p:ext uri="{BB962C8B-B14F-4D97-AF65-F5344CB8AC3E}">
        <p14:creationId xmlns:p14="http://schemas.microsoft.com/office/powerpoint/2010/main" val="38541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/>
      <p:bldP spid="19" grpId="0"/>
      <p:bldP spid="20" grpId="0"/>
      <p:bldP spid="21" grpId="0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5688012" cy="5762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Análise de circuitos</a:t>
            </a: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519113" y="1198493"/>
            <a:ext cx="83740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Compare os circuitos seguintes em termos de custos de implementação.</a:t>
            </a:r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52" y="2231901"/>
            <a:ext cx="7560748" cy="27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518418" y="1691516"/>
            <a:ext cx="83740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Será que os </a:t>
            </a:r>
            <a:r>
              <a:rPr lang="pt-PT" u="none">
                <a:solidFill>
                  <a:srgbClr val="003366"/>
                </a:solidFill>
              </a:rPr>
              <a:t>circuitos realizam a mesma função lógica?</a:t>
            </a:r>
            <a:endParaRPr lang="pt-PT" u="none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18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2519362" cy="3825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Exercícios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250825" y="908050"/>
            <a:ext cx="83724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</a:rPr>
              <a:t>Represente nas formas canónicas a função </a:t>
            </a:r>
            <a:r>
              <a:rPr lang="pt-PT" i="1" u="none">
                <a:solidFill>
                  <a:srgbClr val="003366"/>
                </a:solidFill>
              </a:rPr>
              <a:t>f</a:t>
            </a:r>
            <a:r>
              <a:rPr lang="pt-PT" u="none">
                <a:solidFill>
                  <a:srgbClr val="003366"/>
                </a:solidFill>
              </a:rPr>
              <a:t>:</a:t>
            </a:r>
            <a:endParaRPr lang="en-US" u="none">
              <a:solidFill>
                <a:srgbClr val="003366"/>
              </a:solidFill>
            </a:endParaRPr>
          </a:p>
        </p:txBody>
      </p:sp>
      <p:graphicFrame>
        <p:nvGraphicFramePr>
          <p:cNvPr id="31770" name="Object 26"/>
          <p:cNvGraphicFramePr>
            <a:graphicFrameLocks noChangeAspect="1"/>
          </p:cNvGraphicFramePr>
          <p:nvPr/>
        </p:nvGraphicFramePr>
        <p:xfrm>
          <a:off x="5181600" y="904875"/>
          <a:ext cx="34194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4" imgW="1752480" imgH="203040" progId="Equation.3">
                  <p:embed/>
                </p:oleObj>
              </mc:Choice>
              <mc:Fallback>
                <p:oleObj name="Equation" r:id="rId4" imgW="1752480" imgH="203040" progId="Equation.3">
                  <p:embed/>
                  <p:pic>
                    <p:nvPicPr>
                      <p:cNvPr id="3177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904875"/>
                        <a:ext cx="3419475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1" name="Object 27"/>
          <p:cNvGraphicFramePr>
            <a:graphicFrameLocks noChangeAspect="1"/>
          </p:cNvGraphicFramePr>
          <p:nvPr/>
        </p:nvGraphicFramePr>
        <p:xfrm>
          <a:off x="250825" y="1565275"/>
          <a:ext cx="84280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6" imgW="4317840" imgH="253800" progId="Equation.3">
                  <p:embed/>
                </p:oleObj>
              </mc:Choice>
              <mc:Fallback>
                <p:oleObj name="Equation" r:id="rId6" imgW="4317840" imgH="253800" progId="Equation.3">
                  <p:embed/>
                  <p:pic>
                    <p:nvPicPr>
                      <p:cNvPr id="3177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565275"/>
                        <a:ext cx="8428038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3" name="Object 29"/>
          <p:cNvGraphicFramePr>
            <a:graphicFrameLocks noChangeAspect="1"/>
          </p:cNvGraphicFramePr>
          <p:nvPr/>
        </p:nvGraphicFramePr>
        <p:xfrm>
          <a:off x="215900" y="2357438"/>
          <a:ext cx="71643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8" imgW="3670200" imgH="253800" progId="Equation.3">
                  <p:embed/>
                </p:oleObj>
              </mc:Choice>
              <mc:Fallback>
                <p:oleObj name="Equation" r:id="rId8" imgW="3670200" imgH="253800" progId="Equation.3">
                  <p:embed/>
                  <p:pic>
                    <p:nvPicPr>
                      <p:cNvPr id="3177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2357438"/>
                        <a:ext cx="7164388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4" name="Object 30"/>
          <p:cNvGraphicFramePr>
            <a:graphicFrameLocks noChangeAspect="1"/>
          </p:cNvGraphicFramePr>
          <p:nvPr/>
        </p:nvGraphicFramePr>
        <p:xfrm>
          <a:off x="49213" y="3074988"/>
          <a:ext cx="9094787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ção" r:id="rId10" imgW="4660560" imgH="291960" progId="Equation.3">
                  <p:embed/>
                </p:oleObj>
              </mc:Choice>
              <mc:Fallback>
                <p:oleObj name="Equação" r:id="rId10" imgW="4660560" imgH="291960" progId="Equation.3">
                  <p:embed/>
                  <p:pic>
                    <p:nvPicPr>
                      <p:cNvPr id="3177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3" y="3074988"/>
                        <a:ext cx="9094787" cy="56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6" name="Object 32"/>
          <p:cNvGraphicFramePr>
            <a:graphicFrameLocks noChangeAspect="1"/>
          </p:cNvGraphicFramePr>
          <p:nvPr/>
        </p:nvGraphicFramePr>
        <p:xfrm>
          <a:off x="247650" y="3860800"/>
          <a:ext cx="7386638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" name="Equation" r:id="rId12" imgW="3784320" imgH="291960" progId="Equation.3">
                  <p:embed/>
                </p:oleObj>
              </mc:Choice>
              <mc:Fallback>
                <p:oleObj name="Equation" r:id="rId12" imgW="3784320" imgH="291960" progId="Equation.3">
                  <p:embed/>
                  <p:pic>
                    <p:nvPicPr>
                      <p:cNvPr id="31776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3860800"/>
                        <a:ext cx="7386638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7" name="Text Box 33"/>
          <p:cNvSpPr txBox="1">
            <a:spLocks noChangeArrowheads="1"/>
          </p:cNvSpPr>
          <p:nvPr/>
        </p:nvSpPr>
        <p:spPr bwMode="auto">
          <a:xfrm>
            <a:off x="323850" y="4732338"/>
            <a:ext cx="86407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Minimize esta função aplicando métodos de minimização algébrica que conhece.</a:t>
            </a:r>
            <a:endParaRPr lang="en-US" u="none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06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17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1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1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17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31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17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1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17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1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31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/>
      <p:bldP spid="3177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WordArt 2"/>
          <p:cNvSpPr>
            <a:spLocks noChangeArrowheads="1" noChangeShapeType="1" noTextEdit="1"/>
          </p:cNvSpPr>
          <p:nvPr/>
        </p:nvSpPr>
        <p:spPr bwMode="auto">
          <a:xfrm>
            <a:off x="468312" y="260350"/>
            <a:ext cx="3887664" cy="50435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Exercícios (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cont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.)</a:t>
            </a:r>
          </a:p>
        </p:txBody>
      </p:sp>
      <p:graphicFrame>
        <p:nvGraphicFramePr>
          <p:cNvPr id="31770" name="Object 26"/>
          <p:cNvGraphicFramePr>
            <a:graphicFrameLocks noChangeAspect="1"/>
          </p:cNvGraphicFramePr>
          <p:nvPr/>
        </p:nvGraphicFramePr>
        <p:xfrm>
          <a:off x="646113" y="1614760"/>
          <a:ext cx="493236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ção" r:id="rId4" imgW="2527200" imgH="228600" progId="Equation.3">
                  <p:embed/>
                </p:oleObj>
              </mc:Choice>
              <mc:Fallback>
                <p:oleObj name="Equação" r:id="rId4" imgW="2527200" imgH="228600" progId="Equation.3">
                  <p:embed/>
                  <p:pic>
                    <p:nvPicPr>
                      <p:cNvPr id="3177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1614760"/>
                        <a:ext cx="4932362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7" name="Text Box 33"/>
          <p:cNvSpPr txBox="1">
            <a:spLocks noChangeArrowheads="1"/>
          </p:cNvSpPr>
          <p:nvPr/>
        </p:nvSpPr>
        <p:spPr bwMode="auto">
          <a:xfrm>
            <a:off x="323850" y="997099"/>
            <a:ext cx="86407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Minimize funções seguintes aplicando métodos de minimização algébrica:</a:t>
            </a:r>
            <a:endParaRPr lang="en-US" u="none" dirty="0">
              <a:solidFill>
                <a:srgbClr val="003366"/>
              </a:solidFill>
            </a:endParaRPr>
          </a:p>
        </p:txBody>
      </p:sp>
      <p:graphicFrame>
        <p:nvGraphicFramePr>
          <p:cNvPr id="2" name="Object 26"/>
          <p:cNvGraphicFramePr>
            <a:graphicFrameLocks noChangeAspect="1"/>
          </p:cNvGraphicFramePr>
          <p:nvPr/>
        </p:nvGraphicFramePr>
        <p:xfrm>
          <a:off x="610915" y="2478088"/>
          <a:ext cx="532923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Equação" r:id="rId6" imgW="2730240" imgH="228600" progId="Equation.3">
                  <p:embed/>
                </p:oleObj>
              </mc:Choice>
              <mc:Fallback>
                <p:oleObj name="Equação" r:id="rId6" imgW="2730240" imgH="228600" progId="Equation.3">
                  <p:embed/>
                  <p:pic>
                    <p:nvPicPr>
                      <p:cNvPr id="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915" y="2478088"/>
                        <a:ext cx="5329237" cy="446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929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WordArt 7"/>
          <p:cNvSpPr>
            <a:spLocks noChangeArrowheads="1" noChangeShapeType="1" noTextEdit="1"/>
          </p:cNvSpPr>
          <p:nvPr/>
        </p:nvSpPr>
        <p:spPr bwMode="auto">
          <a:xfrm>
            <a:off x="1187450" y="3788246"/>
            <a:ext cx="6624638" cy="158497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i="1" u="none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80000"/>
                    </a:srgbClr>
                  </a:outerShdw>
                </a:effectLst>
                <a:latin typeface="Arial Black"/>
              </a:rPr>
              <a:t>Minimização de funções Booleanas</a:t>
            </a:r>
          </a:p>
          <a:p>
            <a:pPr algn="ctr">
              <a:defRPr/>
            </a:pPr>
            <a:r>
              <a:rPr lang="pt-PT" sz="3600" i="1" u="none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80000"/>
                    </a:srgbClr>
                  </a:outerShdw>
                </a:effectLst>
                <a:latin typeface="Arial Black"/>
              </a:rPr>
              <a:t>Método de </a:t>
            </a:r>
            <a:r>
              <a:rPr lang="pt-PT" sz="3600" i="1" u="none" kern="10" dirty="0" err="1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80000"/>
                    </a:srgbClr>
                  </a:outerShdw>
                </a:effectLst>
                <a:latin typeface="Arial Black"/>
              </a:rPr>
              <a:t>Karnaugh</a:t>
            </a:r>
            <a:endParaRPr lang="en-US" sz="3600" i="1" u="none" kern="10" dirty="0">
              <a:ln w="9525">
                <a:solidFill>
                  <a:srgbClr val="008000"/>
                </a:solidFill>
                <a:round/>
                <a:headEnd/>
                <a:tailEnd/>
              </a:ln>
              <a:solidFill>
                <a:srgbClr val="FFFFCC"/>
              </a:solidFill>
              <a:effectLst>
                <a:outerShdw dist="35921" dir="2700000" algn="ctr" rotWithShape="0">
                  <a:srgbClr val="808080">
                    <a:alpha val="80000"/>
                  </a:srgbClr>
                </a:outerShdw>
              </a:effectLst>
              <a:latin typeface="Arial Black"/>
            </a:endParaRPr>
          </a:p>
        </p:txBody>
      </p:sp>
      <p:sp>
        <p:nvSpPr>
          <p:cNvPr id="5" name="WordArt 4"/>
          <p:cNvSpPr>
            <a:spLocks noChangeArrowheads="1" noChangeShapeType="1" noTextEdit="1"/>
          </p:cNvSpPr>
          <p:nvPr/>
        </p:nvSpPr>
        <p:spPr bwMode="auto">
          <a:xfrm>
            <a:off x="755577" y="216024"/>
            <a:ext cx="7488832" cy="184482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Introdução</a:t>
            </a:r>
            <a:r>
              <a:rPr lang="en-US" sz="3600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aos</a:t>
            </a:r>
            <a:endParaRPr lang="en-US" sz="3600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  <a:p>
            <a:pPr algn="ctr"/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Sistemas</a:t>
            </a:r>
            <a:r>
              <a:rPr lang="en-US" sz="3600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Digitais</a:t>
            </a:r>
            <a:endParaRPr lang="en-US" sz="3600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921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5832475" cy="5762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Minimização de funções</a:t>
            </a:r>
          </a:p>
        </p:txBody>
      </p:sp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900113" y="981075"/>
          <a:ext cx="651668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4" imgW="2806560" imgH="203040" progId="Equation.3">
                  <p:embed/>
                </p:oleObj>
              </mc:Choice>
              <mc:Fallback>
                <p:oleObj name="Equation" r:id="rId4" imgW="2806560" imgH="203040" progId="Equation.3">
                  <p:embed/>
                  <p:pic>
                    <p:nvPicPr>
                      <p:cNvPr id="696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981075"/>
                        <a:ext cx="6516687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4"/>
          <p:cNvGraphicFramePr>
            <a:graphicFrameLocks noChangeAspect="1"/>
          </p:cNvGraphicFramePr>
          <p:nvPr/>
        </p:nvGraphicFramePr>
        <p:xfrm>
          <a:off x="611188" y="2146300"/>
          <a:ext cx="49244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Equation" r:id="rId6" imgW="2120760" imgH="203040" progId="Equation.3">
                  <p:embed/>
                </p:oleObj>
              </mc:Choice>
              <mc:Fallback>
                <p:oleObj name="Equation" r:id="rId6" imgW="2120760" imgH="203040" progId="Equation.3">
                  <p:embed/>
                  <p:pic>
                    <p:nvPicPr>
                      <p:cNvPr id="696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146300"/>
                        <a:ext cx="4924425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519113" y="1700213"/>
            <a:ext cx="6254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003366"/>
                </a:solidFill>
              </a:rPr>
              <a:t>Aplicando o teorema de adjacência a dois primeiros termos:</a:t>
            </a:r>
            <a:endParaRPr lang="en-US" u="none">
              <a:solidFill>
                <a:srgbClr val="003366"/>
              </a:solidFill>
            </a:endParaRPr>
          </a:p>
        </p:txBody>
      </p:sp>
      <p:graphicFrame>
        <p:nvGraphicFramePr>
          <p:cNvPr id="69640" name="Object 8"/>
          <p:cNvGraphicFramePr>
            <a:graphicFrameLocks noChangeAspect="1"/>
          </p:cNvGraphicFramePr>
          <p:nvPr/>
        </p:nvGraphicFramePr>
        <p:xfrm>
          <a:off x="539750" y="2924175"/>
          <a:ext cx="636746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8" imgW="2743200" imgH="203040" progId="Equation.3">
                  <p:embed/>
                </p:oleObj>
              </mc:Choice>
              <mc:Fallback>
                <p:oleObj name="Equation" r:id="rId8" imgW="2743200" imgH="203040" progId="Equation.3">
                  <p:embed/>
                  <p:pic>
                    <p:nvPicPr>
                      <p:cNvPr id="696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924175"/>
                        <a:ext cx="6367463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2" name="Object 10"/>
          <p:cNvGraphicFramePr>
            <a:graphicFrameLocks noChangeAspect="1"/>
          </p:cNvGraphicFramePr>
          <p:nvPr/>
        </p:nvGraphicFramePr>
        <p:xfrm>
          <a:off x="1908175" y="3387725"/>
          <a:ext cx="336073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10" imgW="1447560" imgH="203040" progId="Equation.3">
                  <p:embed/>
                </p:oleObj>
              </mc:Choice>
              <mc:Fallback>
                <p:oleObj name="Equation" r:id="rId10" imgW="1447560" imgH="203040" progId="Equation.3">
                  <p:embed/>
                  <p:pic>
                    <p:nvPicPr>
                      <p:cNvPr id="696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387725"/>
                        <a:ext cx="3360738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4" name="Text Box 12"/>
          <p:cNvSpPr txBox="1">
            <a:spLocks noChangeArrowheads="1"/>
          </p:cNvSpPr>
          <p:nvPr/>
        </p:nvSpPr>
        <p:spPr bwMode="auto">
          <a:xfrm>
            <a:off x="5786438" y="3425825"/>
            <a:ext cx="24304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sz="1600" u="none">
                <a:solidFill>
                  <a:srgbClr val="003366"/>
                </a:solidFill>
              </a:rPr>
              <a:t>(absorção, simplificação)</a:t>
            </a:r>
            <a:endParaRPr lang="en-US" sz="1600" u="none">
              <a:solidFill>
                <a:srgbClr val="003366"/>
              </a:solidFill>
            </a:endParaRPr>
          </a:p>
        </p:txBody>
      </p:sp>
      <p:graphicFrame>
        <p:nvGraphicFramePr>
          <p:cNvPr id="69645" name="Object 13"/>
          <p:cNvGraphicFramePr>
            <a:graphicFrameLocks noChangeAspect="1"/>
          </p:cNvGraphicFramePr>
          <p:nvPr/>
        </p:nvGraphicFramePr>
        <p:xfrm>
          <a:off x="1908175" y="3849688"/>
          <a:ext cx="170973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Equation" r:id="rId12" imgW="736560" imgH="190440" progId="Equation.3">
                  <p:embed/>
                </p:oleObj>
              </mc:Choice>
              <mc:Fallback>
                <p:oleObj name="Equation" r:id="rId12" imgW="736560" imgH="190440" progId="Equation.3">
                  <p:embed/>
                  <p:pic>
                    <p:nvPicPr>
                      <p:cNvPr id="6964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849688"/>
                        <a:ext cx="1709738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6" name="Text Box 14"/>
          <p:cNvSpPr txBox="1">
            <a:spLocks noChangeArrowheads="1"/>
          </p:cNvSpPr>
          <p:nvPr/>
        </p:nvSpPr>
        <p:spPr bwMode="auto">
          <a:xfrm>
            <a:off x="5795963" y="3852863"/>
            <a:ext cx="2808287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pt-PT" sz="1600" u="none">
                <a:solidFill>
                  <a:srgbClr val="003366"/>
                </a:solidFill>
              </a:rPr>
              <a:t>(complementação, elemento absorvente)</a:t>
            </a:r>
            <a:endParaRPr lang="en-US" sz="1600" u="none">
              <a:solidFill>
                <a:srgbClr val="003366"/>
              </a:solidFill>
            </a:endParaRPr>
          </a:p>
        </p:txBody>
      </p:sp>
      <p:graphicFrame>
        <p:nvGraphicFramePr>
          <p:cNvPr id="69647" name="Object 15"/>
          <p:cNvGraphicFramePr>
            <a:graphicFrameLocks noChangeAspect="1"/>
          </p:cNvGraphicFramePr>
          <p:nvPr/>
        </p:nvGraphicFramePr>
        <p:xfrm>
          <a:off x="1908175" y="4297363"/>
          <a:ext cx="109061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14" imgW="469800" imgH="177480" progId="Equation.3">
                  <p:embed/>
                </p:oleObj>
              </mc:Choice>
              <mc:Fallback>
                <p:oleObj name="Equation" r:id="rId14" imgW="469800" imgH="177480" progId="Equation.3">
                  <p:embed/>
                  <p:pic>
                    <p:nvPicPr>
                      <p:cNvPr id="6964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297363"/>
                        <a:ext cx="1090613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8" name="Text Box 16"/>
          <p:cNvSpPr txBox="1">
            <a:spLocks noChangeArrowheads="1"/>
          </p:cNvSpPr>
          <p:nvPr/>
        </p:nvSpPr>
        <p:spPr bwMode="auto">
          <a:xfrm>
            <a:off x="5795963" y="4314825"/>
            <a:ext cx="14811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sz="1600" u="none">
                <a:solidFill>
                  <a:srgbClr val="003366"/>
                </a:solidFill>
              </a:rPr>
              <a:t>(simplificação)</a:t>
            </a:r>
            <a:endParaRPr lang="en-US" sz="1600" u="none">
              <a:solidFill>
                <a:srgbClr val="003366"/>
              </a:solidFill>
            </a:endParaRPr>
          </a:p>
        </p:txBody>
      </p:sp>
      <p:sp>
        <p:nvSpPr>
          <p:cNvPr id="69650" name="Text Box 18"/>
          <p:cNvSpPr txBox="1">
            <a:spLocks noChangeArrowheads="1"/>
          </p:cNvSpPr>
          <p:nvPr/>
        </p:nvSpPr>
        <p:spPr bwMode="auto">
          <a:xfrm>
            <a:off x="5834063" y="2206625"/>
            <a:ext cx="2051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</a:rPr>
              <a:t>4 termos, 8 literais</a:t>
            </a:r>
            <a:endParaRPr lang="en-US" u="none">
              <a:solidFill>
                <a:srgbClr val="A50021"/>
              </a:solidFill>
            </a:endParaRPr>
          </a:p>
        </p:txBody>
      </p:sp>
      <p:sp>
        <p:nvSpPr>
          <p:cNvPr id="69651" name="Text Box 19"/>
          <p:cNvSpPr txBox="1">
            <a:spLocks noChangeArrowheads="1"/>
          </p:cNvSpPr>
          <p:nvPr/>
        </p:nvSpPr>
        <p:spPr bwMode="auto">
          <a:xfrm>
            <a:off x="3203575" y="4291013"/>
            <a:ext cx="1035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</a:rPr>
              <a:t>2 literais</a:t>
            </a:r>
            <a:endParaRPr lang="en-US" u="none">
              <a:solidFill>
                <a:srgbClr val="A50021"/>
              </a:solidFill>
            </a:endParaRPr>
          </a:p>
        </p:txBody>
      </p:sp>
      <p:sp>
        <p:nvSpPr>
          <p:cNvPr id="69653" name="Text Box 21"/>
          <p:cNvSpPr txBox="1">
            <a:spLocks noChangeArrowheads="1"/>
          </p:cNvSpPr>
          <p:nvPr/>
        </p:nvSpPr>
        <p:spPr bwMode="auto">
          <a:xfrm>
            <a:off x="604838" y="4941888"/>
            <a:ext cx="5500687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indent="271463">
              <a:buFontTx/>
              <a:buChar char="•"/>
            </a:pPr>
            <a:r>
              <a:rPr lang="pt-PT" u="none">
                <a:solidFill>
                  <a:srgbClr val="003366"/>
                </a:solidFill>
              </a:rPr>
              <a:t>Expressões irredutíveis podem não ser mínimas</a:t>
            </a:r>
          </a:p>
          <a:p>
            <a:pPr indent="271463">
              <a:buFontTx/>
              <a:buChar char="•"/>
            </a:pPr>
            <a:r>
              <a:rPr lang="pt-PT" u="none">
                <a:solidFill>
                  <a:srgbClr val="003366"/>
                </a:solidFill>
              </a:rPr>
              <a:t>Pode existir mais que uma expressão mínima</a:t>
            </a:r>
          </a:p>
          <a:p>
            <a:pPr indent="271463">
              <a:buFontTx/>
              <a:buChar char="•"/>
            </a:pPr>
            <a:r>
              <a:rPr lang="pt-PT" u="none">
                <a:solidFill>
                  <a:srgbClr val="003366"/>
                </a:solidFill>
              </a:rPr>
              <a:t>O processo de simplificações está sujeito a erros</a:t>
            </a:r>
            <a:endParaRPr lang="en-US" u="none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19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decel="1000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1000"/>
                                        <p:tgtEl>
                                          <p:spTgt spid="6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96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96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900" decel="1000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96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9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900" decel="100000" fill="hold"/>
                                        <p:tgtEl>
                                          <p:spTgt spid="69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96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9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0" decel="100000" fill="hold"/>
                                        <p:tgtEl>
                                          <p:spTgt spid="69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9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9" dur="1000"/>
                                        <p:tgtEl>
                                          <p:spTgt spid="6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/>
      <p:bldP spid="69644" grpId="0"/>
      <p:bldP spid="69646" grpId="0"/>
      <p:bldP spid="69648" grpId="0"/>
      <p:bldP spid="69650" grpId="0"/>
      <p:bldP spid="69651" grpId="0"/>
      <p:bldP spid="6965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5688012" cy="5762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Critérios de minimização</a:t>
            </a: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519113" y="908050"/>
            <a:ext cx="83740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</a:rPr>
              <a:t>Para circuitos a dois níveis pode-se estabelecer seguintes  critérios de minimização: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73743" name="Text Box 15"/>
          <p:cNvSpPr txBox="1">
            <a:spLocks noChangeArrowheads="1"/>
          </p:cNvSpPr>
          <p:nvPr/>
        </p:nvSpPr>
        <p:spPr bwMode="auto">
          <a:xfrm>
            <a:off x="539750" y="1628775"/>
            <a:ext cx="7920038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588" indent="444500">
              <a:spcAft>
                <a:spcPct val="30000"/>
              </a:spcAft>
              <a:buFontTx/>
              <a:buChar char="•"/>
              <a:tabLst>
                <a:tab pos="446088" algn="l"/>
              </a:tabLst>
              <a:defRPr/>
            </a:pPr>
            <a:r>
              <a:rPr lang="pt-PT" u="none">
                <a:solidFill>
                  <a:srgbClr val="003366"/>
                </a:solidFill>
              </a:rPr>
              <a:t>Minimizar 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número de termos</a:t>
            </a:r>
            <a:r>
              <a:rPr lang="pt-PT" u="none">
                <a:solidFill>
                  <a:srgbClr val="003366"/>
                </a:solidFill>
              </a:rPr>
              <a:t> (número de portas do 1º nível do 	circuito e número de entradas no 2º nível do circuito).</a:t>
            </a:r>
          </a:p>
          <a:p>
            <a:pPr marL="1588" indent="444500">
              <a:spcAft>
                <a:spcPct val="30000"/>
              </a:spcAft>
              <a:buFontTx/>
              <a:buChar char="•"/>
              <a:tabLst>
                <a:tab pos="446088" algn="l"/>
              </a:tabLst>
              <a:defRPr/>
            </a:pPr>
            <a:r>
              <a:rPr lang="pt-PT" u="none">
                <a:solidFill>
                  <a:srgbClr val="003366"/>
                </a:solidFill>
              </a:rPr>
              <a:t>Minimizar 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número de literais</a:t>
            </a:r>
            <a:r>
              <a:rPr lang="pt-PT" u="none">
                <a:solidFill>
                  <a:srgbClr val="003366"/>
                </a:solidFill>
              </a:rPr>
              <a:t> (número de entradas nas portas do 1º 	nível do circuito).</a:t>
            </a:r>
          </a:p>
          <a:p>
            <a:pPr marL="1588" indent="444500">
              <a:spcAft>
                <a:spcPct val="30000"/>
              </a:spcAft>
              <a:buFontTx/>
              <a:buChar char="•"/>
              <a:tabLst>
                <a:tab pos="446088" algn="l"/>
              </a:tabLst>
              <a:defRPr/>
            </a:pPr>
            <a:r>
              <a:rPr lang="pt-PT" u="none">
                <a:solidFill>
                  <a:srgbClr val="003366"/>
                </a:solidFill>
              </a:rPr>
              <a:t>Os métodos de minimização não consideram o custo de inversão das 	variáveis de entrada.</a:t>
            </a:r>
            <a:endParaRPr lang="en-US" u="none">
              <a:solidFill>
                <a:srgbClr val="003366"/>
              </a:solidFill>
            </a:endParaRP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833438" y="4225925"/>
            <a:ext cx="7875587" cy="722313"/>
            <a:chOff x="657" y="2662"/>
            <a:chExt cx="4961" cy="455"/>
          </a:xfrm>
        </p:grpSpPr>
        <p:grpSp>
          <p:nvGrpSpPr>
            <p:cNvPr id="12304" name="Group 27"/>
            <p:cNvGrpSpPr>
              <a:grpSpLocks/>
            </p:cNvGrpSpPr>
            <p:nvPr/>
          </p:nvGrpSpPr>
          <p:grpSpPr bwMode="auto">
            <a:xfrm>
              <a:off x="703" y="2662"/>
              <a:ext cx="3385" cy="231"/>
              <a:chOff x="763" y="2386"/>
              <a:chExt cx="3325" cy="238"/>
            </a:xfrm>
          </p:grpSpPr>
          <p:graphicFrame>
            <p:nvGraphicFramePr>
              <p:cNvPr id="12293" name="Object 23"/>
              <p:cNvGraphicFramePr>
                <a:graphicFrameLocks noChangeAspect="1"/>
              </p:cNvGraphicFramePr>
              <p:nvPr/>
            </p:nvGraphicFramePr>
            <p:xfrm>
              <a:off x="763" y="2387"/>
              <a:ext cx="1830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26" name="Equation" r:id="rId4" imgW="1930320" imgH="228600" progId="Equation.3">
                      <p:embed/>
                    </p:oleObj>
                  </mc:Choice>
                  <mc:Fallback>
                    <p:oleObj name="Equation" r:id="rId4" imgW="1930320" imgH="228600" progId="Equation.3">
                      <p:embed/>
                      <p:pic>
                        <p:nvPicPr>
                          <p:cNvPr id="12293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3" y="2387"/>
                            <a:ext cx="1830" cy="21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07" name="Text Box 25"/>
              <p:cNvSpPr txBox="1">
                <a:spLocks noChangeArrowheads="1"/>
              </p:cNvSpPr>
              <p:nvPr/>
            </p:nvSpPr>
            <p:spPr bwMode="auto">
              <a:xfrm>
                <a:off x="2699" y="2386"/>
                <a:ext cx="1389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PT" u="none">
                    <a:solidFill>
                      <a:srgbClr val="A50021"/>
                    </a:solidFill>
                    <a:latin typeface="Comic Sans MS" pitchFamily="66" charset="0"/>
                  </a:rPr>
                  <a:t>3 termos, 7 literais</a:t>
                </a:r>
                <a:endParaRPr lang="en-US" u="none">
                  <a:solidFill>
                    <a:srgbClr val="A50021"/>
                  </a:solidFill>
                  <a:latin typeface="Comic Sans MS" pitchFamily="66" charset="0"/>
                </a:endParaRPr>
              </a:p>
            </p:txBody>
          </p:sp>
        </p:grpSp>
        <p:grpSp>
          <p:nvGrpSpPr>
            <p:cNvPr id="12305" name="Group 28"/>
            <p:cNvGrpSpPr>
              <a:grpSpLocks/>
            </p:cNvGrpSpPr>
            <p:nvPr/>
          </p:nvGrpSpPr>
          <p:grpSpPr bwMode="auto">
            <a:xfrm>
              <a:off x="657" y="2886"/>
              <a:ext cx="4961" cy="231"/>
              <a:chOff x="657" y="2658"/>
              <a:chExt cx="4961" cy="231"/>
            </a:xfrm>
          </p:grpSpPr>
          <p:graphicFrame>
            <p:nvGraphicFramePr>
              <p:cNvPr id="12292" name="Object 24"/>
              <p:cNvGraphicFramePr>
                <a:graphicFrameLocks noChangeAspect="1"/>
              </p:cNvGraphicFramePr>
              <p:nvPr/>
            </p:nvGraphicFramePr>
            <p:xfrm>
              <a:off x="657" y="2659"/>
              <a:ext cx="3421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27" name="Equation" r:id="rId6" imgW="3606480" imgH="228600" progId="Equation.3">
                      <p:embed/>
                    </p:oleObj>
                  </mc:Choice>
                  <mc:Fallback>
                    <p:oleObj name="Equation" r:id="rId6" imgW="3606480" imgH="228600" progId="Equation.3">
                      <p:embed/>
                      <p:pic>
                        <p:nvPicPr>
                          <p:cNvPr id="12292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7" y="2659"/>
                            <a:ext cx="3421" cy="21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06" name="Text Box 26"/>
              <p:cNvSpPr txBox="1">
                <a:spLocks noChangeArrowheads="1"/>
              </p:cNvSpPr>
              <p:nvPr/>
            </p:nvSpPr>
            <p:spPr bwMode="auto">
              <a:xfrm>
                <a:off x="4139" y="2658"/>
                <a:ext cx="1479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PT" u="none">
                    <a:solidFill>
                      <a:srgbClr val="A50021"/>
                    </a:solidFill>
                    <a:latin typeface="Comic Sans MS" pitchFamily="66" charset="0"/>
                  </a:rPr>
                  <a:t>4 termos, 12 literais</a:t>
                </a:r>
                <a:endParaRPr lang="en-US" u="none">
                  <a:solidFill>
                    <a:srgbClr val="A50021"/>
                  </a:solidFill>
                  <a:latin typeface="Comic Sans MS" pitchFamily="66" charset="0"/>
                </a:endParaRPr>
              </a:p>
            </p:txBody>
          </p:sp>
        </p:grpSp>
      </p:grpSp>
      <p:sp>
        <p:nvSpPr>
          <p:cNvPr id="73757" name="Text Box 29"/>
          <p:cNvSpPr txBox="1">
            <a:spLocks noChangeArrowheads="1"/>
          </p:cNvSpPr>
          <p:nvPr/>
        </p:nvSpPr>
        <p:spPr bwMode="auto">
          <a:xfrm>
            <a:off x="611188" y="3789363"/>
            <a:ext cx="12493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827088" y="5227638"/>
            <a:ext cx="4660900" cy="722312"/>
            <a:chOff x="653" y="3293"/>
            <a:chExt cx="2936" cy="455"/>
          </a:xfrm>
        </p:grpSpPr>
        <p:graphicFrame>
          <p:nvGraphicFramePr>
            <p:cNvPr id="12290" name="Object 31"/>
            <p:cNvGraphicFramePr>
              <a:graphicFrameLocks noChangeAspect="1"/>
            </p:cNvGraphicFramePr>
            <p:nvPr/>
          </p:nvGraphicFramePr>
          <p:xfrm>
            <a:off x="657" y="3305"/>
            <a:ext cx="1375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28" name="Equation" r:id="rId8" imgW="1295280" imgH="203040" progId="Equation.3">
                    <p:embed/>
                  </p:oleObj>
                </mc:Choice>
                <mc:Fallback>
                  <p:oleObj name="Equation" r:id="rId8" imgW="1295280" imgH="203040" progId="Equation.3">
                    <p:embed/>
                    <p:pic>
                      <p:nvPicPr>
                        <p:cNvPr id="1229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3305"/>
                          <a:ext cx="1375" cy="2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2" name="Text Box 32"/>
            <p:cNvSpPr txBox="1">
              <a:spLocks noChangeArrowheads="1"/>
            </p:cNvSpPr>
            <p:nvPr/>
          </p:nvSpPr>
          <p:spPr bwMode="auto">
            <a:xfrm>
              <a:off x="2175" y="3293"/>
              <a:ext cx="141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A50021"/>
                  </a:solidFill>
                  <a:latin typeface="Comic Sans MS" pitchFamily="66" charset="0"/>
                </a:rPr>
                <a:t>2 termos, 4 literais</a:t>
              </a:r>
              <a:endParaRPr lang="en-US" u="none">
                <a:solidFill>
                  <a:srgbClr val="A50021"/>
                </a:solidFill>
                <a:latin typeface="Comic Sans MS" pitchFamily="66" charset="0"/>
              </a:endParaRPr>
            </a:p>
          </p:txBody>
        </p:sp>
        <p:graphicFrame>
          <p:nvGraphicFramePr>
            <p:cNvPr id="12291" name="Object 34"/>
            <p:cNvGraphicFramePr>
              <a:graphicFrameLocks noChangeAspect="1"/>
            </p:cNvGraphicFramePr>
            <p:nvPr/>
          </p:nvGraphicFramePr>
          <p:xfrm>
            <a:off x="653" y="3530"/>
            <a:ext cx="1229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29" name="Equation" r:id="rId10" imgW="1295280" imgH="203040" progId="Equation.3">
                    <p:embed/>
                  </p:oleObj>
                </mc:Choice>
                <mc:Fallback>
                  <p:oleObj name="Equation" r:id="rId10" imgW="1295280" imgH="203040" progId="Equation.3">
                    <p:embed/>
                    <p:pic>
                      <p:nvPicPr>
                        <p:cNvPr id="12291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" y="3530"/>
                          <a:ext cx="1229" cy="1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3" name="Text Box 35"/>
            <p:cNvSpPr txBox="1">
              <a:spLocks noChangeArrowheads="1"/>
            </p:cNvSpPr>
            <p:nvPr/>
          </p:nvSpPr>
          <p:spPr bwMode="auto">
            <a:xfrm>
              <a:off x="2175" y="3517"/>
              <a:ext cx="141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A50021"/>
                  </a:solidFill>
                  <a:latin typeface="Comic Sans MS" pitchFamily="66" charset="0"/>
                </a:rPr>
                <a:t>2 termos, 3 literais</a:t>
              </a:r>
              <a:endParaRPr lang="en-US" u="none">
                <a:solidFill>
                  <a:srgbClr val="A50021"/>
                </a:solidFill>
                <a:latin typeface="Comic Sans MS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759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3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/>
      <p:bldP spid="73743" grpId="0"/>
      <p:bldP spid="7375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8064500" cy="5762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Minimização</a:t>
            </a:r>
            <a:r>
              <a:rPr lang="en-US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de </a:t>
            </a:r>
            <a:r>
              <a:rPr lang="en-US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circuitos</a:t>
            </a:r>
            <a:r>
              <a:rPr lang="en-US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AND-OR</a:t>
            </a:r>
          </a:p>
        </p:txBody>
      </p:sp>
      <p:sp>
        <p:nvSpPr>
          <p:cNvPr id="74758" name="Text Box 6"/>
          <p:cNvSpPr txBox="1">
            <a:spLocks noChangeArrowheads="1"/>
          </p:cNvSpPr>
          <p:nvPr/>
        </p:nvSpPr>
        <p:spPr bwMode="auto">
          <a:xfrm>
            <a:off x="468313" y="1014413"/>
            <a:ext cx="835342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3366"/>
                </a:solidFill>
              </a:rPr>
              <a:t>A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soma de produtos mínima</a:t>
            </a:r>
            <a:r>
              <a:rPr lang="pt-PT" u="none">
                <a:solidFill>
                  <a:srgbClr val="003366"/>
                </a:solidFill>
              </a:rPr>
              <a:t> da função </a:t>
            </a:r>
            <a:r>
              <a:rPr lang="pt-PT" i="1" u="none">
                <a:solidFill>
                  <a:srgbClr val="003366"/>
                </a:solidFill>
              </a:rPr>
              <a:t>f</a:t>
            </a:r>
            <a:r>
              <a:rPr lang="pt-PT" u="none">
                <a:solidFill>
                  <a:srgbClr val="003366"/>
                </a:solidFill>
              </a:rPr>
              <a:t> é a soma de produtos que tem 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número mínimo de produtos</a:t>
            </a:r>
            <a:r>
              <a:rPr lang="pt-PT" u="none">
                <a:solidFill>
                  <a:srgbClr val="003366"/>
                </a:solidFill>
              </a:rPr>
              <a:t> e 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número mínimo de literais</a:t>
            </a:r>
            <a:r>
              <a:rPr lang="pt-PT" u="none">
                <a:solidFill>
                  <a:srgbClr val="003366"/>
                </a:solidFill>
              </a:rPr>
              <a:t> (comparando com todas as outras somas de produtos que possam existir com o mesmo número de produtos).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74759" name="Rectangle 7"/>
          <p:cNvSpPr>
            <a:spLocks noChangeArrowheads="1"/>
          </p:cNvSpPr>
          <p:nvPr/>
        </p:nvSpPr>
        <p:spPr bwMode="auto">
          <a:xfrm>
            <a:off x="466725" y="4652963"/>
            <a:ext cx="7993063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pt-PT" u="none" dirty="0">
                <a:solidFill>
                  <a:srgbClr val="003366"/>
                </a:solidFill>
              </a:rPr>
              <a:t>Todos os métodos de minimização são baseados na aplicação do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teorema de adjacência</a:t>
            </a:r>
            <a:r>
              <a:rPr lang="pt-PT" u="none" dirty="0">
                <a:solidFill>
                  <a:srgbClr val="003366"/>
                </a:solidFill>
              </a:rPr>
              <a:t>: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</a:t>
            </a:r>
          </a:p>
          <a:p>
            <a:pPr>
              <a:spcBef>
                <a:spcPct val="20000"/>
              </a:spcBef>
              <a:defRPr/>
            </a:pP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	</a:t>
            </a:r>
            <a:r>
              <a:rPr lang="pt-PT" u="none" dirty="0">
                <a:solidFill>
                  <a:srgbClr val="003366"/>
                </a:solidFill>
                <a:sym typeface="Symbol" pitchFamily="18" charset="2"/>
              </a:rPr>
              <a:t></a:t>
            </a:r>
            <a:r>
              <a:rPr lang="en-US" u="none" dirty="0" err="1">
                <a:solidFill>
                  <a:srgbClr val="003366"/>
                </a:solidFill>
              </a:rPr>
              <a:t>x,y</a:t>
            </a:r>
            <a:r>
              <a:rPr lang="pt-PT" u="none" dirty="0">
                <a:solidFill>
                  <a:srgbClr val="003366"/>
                </a:solidFill>
                <a:sym typeface="Symbol" pitchFamily="18" charset="2"/>
              </a:rPr>
              <a:t>B   x  y + x y = x</a:t>
            </a:r>
          </a:p>
          <a:p>
            <a:pPr>
              <a:spcBef>
                <a:spcPct val="20000"/>
              </a:spcBef>
              <a:defRPr/>
            </a:pPr>
            <a:r>
              <a:rPr lang="pt-PT" u="none" dirty="0">
                <a:solidFill>
                  <a:srgbClr val="003366"/>
                </a:solidFill>
                <a:sym typeface="Symbol" pitchFamily="18" charset="2"/>
              </a:rPr>
              <a:t>                                  		(x + y)  (x +y) = x</a:t>
            </a:r>
            <a:endParaRPr lang="en-US" u="none" dirty="0">
              <a:solidFill>
                <a:srgbClr val="003366"/>
              </a:solidFill>
              <a:sym typeface="Symbol" pitchFamily="18" charset="2"/>
            </a:endParaRPr>
          </a:p>
        </p:txBody>
      </p:sp>
      <p:sp>
        <p:nvSpPr>
          <p:cNvPr id="74767" name="Text Box 15"/>
          <p:cNvSpPr txBox="1">
            <a:spLocks noChangeArrowheads="1"/>
          </p:cNvSpPr>
          <p:nvPr/>
        </p:nvSpPr>
        <p:spPr bwMode="auto">
          <a:xfrm>
            <a:off x="684213" y="2420938"/>
            <a:ext cx="11382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944563" y="2924175"/>
            <a:ext cx="6899275" cy="1152525"/>
            <a:chOff x="595" y="1842"/>
            <a:chExt cx="4346" cy="726"/>
          </a:xfrm>
        </p:grpSpPr>
        <p:graphicFrame>
          <p:nvGraphicFramePr>
            <p:cNvPr id="13314" name="Object 10"/>
            <p:cNvGraphicFramePr>
              <a:graphicFrameLocks noChangeAspect="1"/>
            </p:cNvGraphicFramePr>
            <p:nvPr/>
          </p:nvGraphicFramePr>
          <p:xfrm>
            <a:off x="595" y="2089"/>
            <a:ext cx="2194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0" name="Equation" r:id="rId4" imgW="2273040" imgH="228600" progId="Equation.3">
                    <p:embed/>
                  </p:oleObj>
                </mc:Choice>
                <mc:Fallback>
                  <p:oleObj name="Equation" r:id="rId4" imgW="2273040" imgH="228600" progId="Equation.3">
                    <p:embed/>
                    <p:pic>
                      <p:nvPicPr>
                        <p:cNvPr id="1331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" y="2089"/>
                          <a:ext cx="2194" cy="2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4" name="Text Box 11"/>
            <p:cNvSpPr txBox="1">
              <a:spLocks noChangeArrowheads="1"/>
            </p:cNvSpPr>
            <p:nvPr/>
          </p:nvSpPr>
          <p:spPr bwMode="auto">
            <a:xfrm>
              <a:off x="3445" y="2088"/>
              <a:ext cx="141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A50021"/>
                  </a:solidFill>
                  <a:latin typeface="Comic Sans MS" pitchFamily="66" charset="0"/>
                </a:rPr>
                <a:t>3 termos, 9 literais</a:t>
              </a:r>
              <a:endParaRPr lang="en-US" u="none">
                <a:solidFill>
                  <a:srgbClr val="A50021"/>
                </a:solidFill>
                <a:latin typeface="Comic Sans MS" pitchFamily="66" charset="0"/>
              </a:endParaRPr>
            </a:p>
          </p:txBody>
        </p:sp>
        <p:sp>
          <p:nvSpPr>
            <p:cNvPr id="13325" name="Text Box 14"/>
            <p:cNvSpPr txBox="1">
              <a:spLocks noChangeArrowheads="1"/>
            </p:cNvSpPr>
            <p:nvPr/>
          </p:nvSpPr>
          <p:spPr bwMode="auto">
            <a:xfrm>
              <a:off x="3453" y="2312"/>
              <a:ext cx="141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A50021"/>
                  </a:solidFill>
                  <a:latin typeface="Comic Sans MS" pitchFamily="66" charset="0"/>
                </a:rPr>
                <a:t>3 termos, 9 literais</a:t>
              </a:r>
              <a:endParaRPr lang="en-US" u="none">
                <a:solidFill>
                  <a:srgbClr val="A50021"/>
                </a:solidFill>
                <a:latin typeface="Comic Sans MS" pitchFamily="66" charset="0"/>
              </a:endParaRPr>
            </a:p>
          </p:txBody>
        </p:sp>
        <p:graphicFrame>
          <p:nvGraphicFramePr>
            <p:cNvPr id="13315" name="Object 16"/>
            <p:cNvGraphicFramePr>
              <a:graphicFrameLocks noChangeAspect="1"/>
            </p:cNvGraphicFramePr>
            <p:nvPr/>
          </p:nvGraphicFramePr>
          <p:xfrm>
            <a:off x="612" y="2357"/>
            <a:ext cx="2194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1" name="Equation" r:id="rId6" imgW="2273040" imgH="228600" progId="Equation.3">
                    <p:embed/>
                  </p:oleObj>
                </mc:Choice>
                <mc:Fallback>
                  <p:oleObj name="Equation" r:id="rId6" imgW="2273040" imgH="228600" progId="Equation.3">
                    <p:embed/>
                    <p:pic>
                      <p:nvPicPr>
                        <p:cNvPr id="13315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2357"/>
                          <a:ext cx="2194" cy="2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6" name="Object 17"/>
            <p:cNvGraphicFramePr>
              <a:graphicFrameLocks noChangeAspect="1"/>
            </p:cNvGraphicFramePr>
            <p:nvPr/>
          </p:nvGraphicFramePr>
          <p:xfrm>
            <a:off x="612" y="1842"/>
            <a:ext cx="2734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2" name="Equation" r:id="rId8" imgW="2831760" imgH="228600" progId="Equation.3">
                    <p:embed/>
                  </p:oleObj>
                </mc:Choice>
                <mc:Fallback>
                  <p:oleObj name="Equation" r:id="rId8" imgW="2831760" imgH="228600" progId="Equation.3">
                    <p:embed/>
                    <p:pic>
                      <p:nvPicPr>
                        <p:cNvPr id="13316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1842"/>
                          <a:ext cx="2734" cy="2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6" name="Text Box 18"/>
            <p:cNvSpPr txBox="1">
              <a:spLocks noChangeArrowheads="1"/>
            </p:cNvSpPr>
            <p:nvPr/>
          </p:nvSpPr>
          <p:spPr bwMode="auto">
            <a:xfrm>
              <a:off x="3462" y="1842"/>
              <a:ext cx="147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A50021"/>
                  </a:solidFill>
                  <a:latin typeface="Comic Sans MS" pitchFamily="66" charset="0"/>
                </a:rPr>
                <a:t>4 termos, 12 literais</a:t>
              </a:r>
              <a:endParaRPr lang="en-US" u="none">
                <a:solidFill>
                  <a:srgbClr val="A50021"/>
                </a:solidFill>
                <a:latin typeface="Comic Sans MS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140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8" grpId="0"/>
      <p:bldP spid="74759" grpId="0"/>
      <p:bldP spid="7476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4824412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Mapas</a:t>
            </a:r>
            <a:r>
              <a:rPr lang="en-US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de </a:t>
            </a:r>
            <a:r>
              <a:rPr lang="en-US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Karnaugh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447675" y="908050"/>
            <a:ext cx="77247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0066"/>
                </a:solidFill>
              </a:rPr>
              <a:t>Um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mapa de Karnaugh</a:t>
            </a:r>
            <a:r>
              <a:rPr lang="pt-PT" u="none">
                <a:solidFill>
                  <a:srgbClr val="000066"/>
                </a:solidFill>
              </a:rPr>
              <a:t> é a representação gráfica da tabela de verdade de uma função lógica.</a:t>
            </a:r>
            <a:endParaRPr lang="en-US" u="none">
              <a:solidFill>
                <a:srgbClr val="000066"/>
              </a:solidFill>
            </a:endParaRPr>
          </a:p>
        </p:txBody>
      </p:sp>
      <p:graphicFrame>
        <p:nvGraphicFramePr>
          <p:cNvPr id="70662" name="Object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686050" y="1512888"/>
          <a:ext cx="1598613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Presentation" r:id="rId4" imgW="4571851" imgH="3429131" progId="PowerPoint.Show.8">
                  <p:embed/>
                </p:oleObj>
              </mc:Choice>
              <mc:Fallback>
                <p:oleObj name="Presentation" r:id="rId4" imgW="4571851" imgH="3429131" progId="PowerPoint.Show.8">
                  <p:embed/>
                  <p:pic>
                    <p:nvPicPr>
                      <p:cNvPr id="70662" name="Object 6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70868" b="53542"/>
                      <a:stretch>
                        <a:fillRect/>
                      </a:stretch>
                    </p:blipFill>
                    <p:spPr bwMode="auto">
                      <a:xfrm>
                        <a:off x="2686050" y="1512888"/>
                        <a:ext cx="1598613" cy="161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3" name="Object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55650" y="1512888"/>
          <a:ext cx="109855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Presentation" r:id="rId6" imgW="4571851" imgH="3429131" progId="PowerPoint.Show.8">
                  <p:embed/>
                </p:oleObj>
              </mc:Choice>
              <mc:Fallback>
                <p:oleObj name="Presentation" r:id="rId6" imgW="4571851" imgH="3429131" progId="PowerPoint.Show.8">
                  <p:embed/>
                  <p:pic>
                    <p:nvPicPr>
                      <p:cNvPr id="70663" name="Object 7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78743" b="53542"/>
                      <a:stretch>
                        <a:fillRect/>
                      </a:stretch>
                    </p:blipFill>
                    <p:spPr bwMode="auto">
                      <a:xfrm>
                        <a:off x="755650" y="1512888"/>
                        <a:ext cx="1098550" cy="161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5" name="Object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408613" y="1484313"/>
          <a:ext cx="2547937" cy="191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Presentation" r:id="rId8" imgW="4571851" imgH="3429131" progId="PowerPoint.Show.8">
                  <p:embed/>
                </p:oleObj>
              </mc:Choice>
              <mc:Fallback>
                <p:oleObj name="Presentation" r:id="rId8" imgW="4571851" imgH="3429131" progId="PowerPoint.Show.8">
                  <p:embed/>
                  <p:pic>
                    <p:nvPicPr>
                      <p:cNvPr id="70665" name="Object 9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5408613" y="1484313"/>
                        <a:ext cx="2547937" cy="1912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6" name="Object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771775" y="3284538"/>
          <a:ext cx="2897188" cy="306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Presentation" r:id="rId10" imgW="4571851" imgH="3429131" progId="PowerPoint.Show.8">
                  <p:embed/>
                </p:oleObj>
              </mc:Choice>
              <mc:Fallback>
                <p:oleObj name="Presentation" r:id="rId10" imgW="4571851" imgH="3429131" progId="PowerPoint.Show.8">
                  <p:embed/>
                  <p:pic>
                    <p:nvPicPr>
                      <p:cNvPr id="70666" name="Object 10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2598" r="51183" b="23096"/>
                      <a:stretch>
                        <a:fillRect/>
                      </a:stretch>
                    </p:blipFill>
                    <p:spPr bwMode="auto">
                      <a:xfrm>
                        <a:off x="2771775" y="3284538"/>
                        <a:ext cx="2897188" cy="306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429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7632700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Método de 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Karnaugh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(3 variáveis)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graphicFrame>
        <p:nvGraphicFramePr>
          <p:cNvPr id="76806" name="Object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852863" y="1947863"/>
          <a:ext cx="3887787" cy="291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Presentation" r:id="rId4" imgW="4571851" imgH="3429131" progId="PowerPoint.Show.8">
                  <p:embed/>
                </p:oleObj>
              </mc:Choice>
              <mc:Fallback>
                <p:oleObj name="Presentation" r:id="rId4" imgW="4571851" imgH="3429131" progId="PowerPoint.Show.8">
                  <p:embed/>
                  <p:pic>
                    <p:nvPicPr>
                      <p:cNvPr id="76806" name="Object 6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3852863" y="1947863"/>
                        <a:ext cx="3887787" cy="291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8" name="Object 8"/>
          <p:cNvGraphicFramePr>
            <a:graphicFrameLocks noChangeAspect="1"/>
          </p:cNvGraphicFramePr>
          <p:nvPr/>
        </p:nvGraphicFramePr>
        <p:xfrm>
          <a:off x="900113" y="1085850"/>
          <a:ext cx="651668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Equation" r:id="rId6" imgW="2806560" imgH="203040" progId="Equation.3">
                  <p:embed/>
                </p:oleObj>
              </mc:Choice>
              <mc:Fallback>
                <p:oleObj name="Equation" r:id="rId6" imgW="2806560" imgH="203040" progId="Equation.3">
                  <p:embed/>
                  <p:pic>
                    <p:nvPicPr>
                      <p:cNvPr id="768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085850"/>
                        <a:ext cx="6516687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2" name="Object 12"/>
          <p:cNvGraphicFramePr>
            <a:graphicFrameLocks noChangeAspect="1"/>
          </p:cNvGraphicFramePr>
          <p:nvPr/>
        </p:nvGraphicFramePr>
        <p:xfrm>
          <a:off x="604838" y="2319338"/>
          <a:ext cx="2449512" cy="247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Document" r:id="rId8" imgW="6217200" imgH="4067280" progId="Word.Document.8">
                  <p:embed/>
                </p:oleObj>
              </mc:Choice>
              <mc:Fallback>
                <p:oleObj name="Document" r:id="rId8" imgW="6217200" imgH="4067280" progId="Word.Document.8">
                  <p:embed/>
                  <p:pic>
                    <p:nvPicPr>
                      <p:cNvPr id="768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55063" b="57532"/>
                      <a:stretch>
                        <a:fillRect/>
                      </a:stretch>
                    </p:blipFill>
                    <p:spPr bwMode="auto">
                      <a:xfrm>
                        <a:off x="604838" y="2319338"/>
                        <a:ext cx="2449512" cy="2474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3" name="Object 13"/>
          <p:cNvGraphicFramePr>
            <a:graphicFrameLocks noChangeAspect="1"/>
          </p:cNvGraphicFramePr>
          <p:nvPr/>
        </p:nvGraphicFramePr>
        <p:xfrm>
          <a:off x="611188" y="2319338"/>
          <a:ext cx="2449512" cy="247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Document" r:id="rId10" imgW="6217200" imgH="4067280" progId="Word.Document.8">
                  <p:embed/>
                </p:oleObj>
              </mc:Choice>
              <mc:Fallback>
                <p:oleObj name="Document" r:id="rId10" imgW="6217200" imgH="4067280" progId="Word.Document.8">
                  <p:embed/>
                  <p:pic>
                    <p:nvPicPr>
                      <p:cNvPr id="768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55063" b="57532"/>
                      <a:stretch>
                        <a:fillRect/>
                      </a:stretch>
                    </p:blipFill>
                    <p:spPr bwMode="auto">
                      <a:xfrm>
                        <a:off x="611188" y="2319338"/>
                        <a:ext cx="2449512" cy="2474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6" name="Object 1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852863" y="1949450"/>
          <a:ext cx="3887787" cy="291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Presentation" r:id="rId12" imgW="4571851" imgH="3429131" progId="PowerPoint.Show.8">
                  <p:embed/>
                </p:oleObj>
              </mc:Choice>
              <mc:Fallback>
                <p:oleObj name="Presentation" r:id="rId12" imgW="4571851" imgH="3429131" progId="PowerPoint.Show.8">
                  <p:embed/>
                  <p:pic>
                    <p:nvPicPr>
                      <p:cNvPr id="76816" name="Object 16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3852863" y="1949450"/>
                        <a:ext cx="3887787" cy="291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7" name="Object 1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852863" y="1947863"/>
          <a:ext cx="3887787" cy="291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Presentation" r:id="rId14" imgW="4571851" imgH="3429131" progId="PowerPoint.Show.8">
                  <p:embed/>
                </p:oleObj>
              </mc:Choice>
              <mc:Fallback>
                <p:oleObj name="Presentation" r:id="rId14" imgW="4571851" imgH="3429131" progId="PowerPoint.Show.8">
                  <p:embed/>
                  <p:pic>
                    <p:nvPicPr>
                      <p:cNvPr id="76817" name="Object 17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3852863" y="1947863"/>
                        <a:ext cx="3887787" cy="291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9" name="Object 1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852863" y="1949450"/>
          <a:ext cx="3887787" cy="291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name="Presentation" r:id="rId16" imgW="4571851" imgH="3429131" progId="PowerPoint.Show.8">
                  <p:embed/>
                </p:oleObj>
              </mc:Choice>
              <mc:Fallback>
                <p:oleObj name="Presentation" r:id="rId16" imgW="4571851" imgH="3429131" progId="PowerPoint.Show.8">
                  <p:embed/>
                  <p:pic>
                    <p:nvPicPr>
                      <p:cNvPr id="76819" name="Object 19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3852863" y="1949450"/>
                        <a:ext cx="3887787" cy="291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0" name="Object 20"/>
          <p:cNvGraphicFramePr>
            <a:graphicFrameLocks noChangeAspect="1"/>
          </p:cNvGraphicFramePr>
          <p:nvPr/>
        </p:nvGraphicFramePr>
        <p:xfrm>
          <a:off x="611188" y="5334000"/>
          <a:ext cx="24765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name="Equation" r:id="rId18" imgW="1066680" imgH="203040" progId="Equation.3">
                  <p:embed/>
                </p:oleObj>
              </mc:Choice>
              <mc:Fallback>
                <p:oleObj name="Equation" r:id="rId18" imgW="1066680" imgH="203040" progId="Equation.3">
                  <p:embed/>
                  <p:pic>
                    <p:nvPicPr>
                      <p:cNvPr id="7682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334000"/>
                        <a:ext cx="2476500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1" name="Object 2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254576"/>
              </p:ext>
            </p:extLst>
          </p:nvPr>
        </p:nvGraphicFramePr>
        <p:xfrm>
          <a:off x="3779912" y="1949450"/>
          <a:ext cx="3887787" cy="291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6" name="Presentation" r:id="rId20" imgW="4571851" imgH="3429131" progId="PowerPoint.Show.8">
                  <p:embed/>
                </p:oleObj>
              </mc:Choice>
              <mc:Fallback>
                <p:oleObj name="Presentation" r:id="rId20" imgW="4571851" imgH="3429131" progId="PowerPoint.Show.8">
                  <p:embed/>
                  <p:pic>
                    <p:nvPicPr>
                      <p:cNvPr id="76821" name="Object 21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3779912" y="1949450"/>
                        <a:ext cx="3887787" cy="291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22" name="Text Box 22"/>
          <p:cNvSpPr txBox="1">
            <a:spLocks noChangeArrowheads="1"/>
          </p:cNvSpPr>
          <p:nvPr/>
        </p:nvSpPr>
        <p:spPr bwMode="auto">
          <a:xfrm>
            <a:off x="4572000" y="5072063"/>
            <a:ext cx="2266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pt-PT" u="none"/>
              <a:t> </a:t>
            </a:r>
            <a:r>
              <a:rPr lang="pt-PT" u="none">
                <a:solidFill>
                  <a:srgbClr val="003366"/>
                </a:solidFill>
              </a:rPr>
              <a:t>implicantes primos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76823" name="Text Box 23"/>
          <p:cNvSpPr txBox="1">
            <a:spLocks noChangeArrowheads="1"/>
          </p:cNvSpPr>
          <p:nvPr/>
        </p:nvSpPr>
        <p:spPr bwMode="auto">
          <a:xfrm>
            <a:off x="4572000" y="5367338"/>
            <a:ext cx="1987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pt-PT" u="none"/>
              <a:t> </a:t>
            </a:r>
            <a:r>
              <a:rPr lang="pt-PT" u="none">
                <a:solidFill>
                  <a:srgbClr val="003366"/>
                </a:solidFill>
              </a:rPr>
              <a:t>células distintas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76824" name="Text Box 24"/>
          <p:cNvSpPr txBox="1">
            <a:spLocks noChangeArrowheads="1"/>
          </p:cNvSpPr>
          <p:nvPr/>
        </p:nvSpPr>
        <p:spPr bwMode="auto">
          <a:xfrm>
            <a:off x="4572000" y="5654675"/>
            <a:ext cx="3397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pt-PT" u="none"/>
              <a:t> </a:t>
            </a:r>
            <a:r>
              <a:rPr lang="pt-PT" u="none">
                <a:solidFill>
                  <a:srgbClr val="003366"/>
                </a:solidFill>
              </a:rPr>
              <a:t>implicantes primos essenciais</a:t>
            </a:r>
            <a:endParaRPr lang="en-US" u="none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68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7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76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68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6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decel="100000" fill="hold"/>
                                        <p:tgtEl>
                                          <p:spTgt spid="76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6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4" dur="2000"/>
                                        <p:tgtEl>
                                          <p:spTgt spid="7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68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6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decel="100000" fill="hold"/>
                                        <p:tgtEl>
                                          <p:spTgt spid="76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6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6" dur="2000"/>
                                        <p:tgtEl>
                                          <p:spTgt spid="7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68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6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900" decel="100000" fill="hold"/>
                                        <p:tgtEl>
                                          <p:spTgt spid="76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6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6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6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22" grpId="0"/>
      <p:bldP spid="76823" grpId="0"/>
      <p:bldP spid="7682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7632700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Método de 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Karnaugh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(4 variáveis)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graphicFrame>
        <p:nvGraphicFramePr>
          <p:cNvPr id="83973" name="Object 5"/>
          <p:cNvGraphicFramePr>
            <a:graphicFrameLocks noChangeAspect="1"/>
          </p:cNvGraphicFramePr>
          <p:nvPr/>
        </p:nvGraphicFramePr>
        <p:xfrm>
          <a:off x="395288" y="984250"/>
          <a:ext cx="3227387" cy="453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Document" r:id="rId4" imgW="6217200" imgH="4067280" progId="Word.Document.8">
                  <p:embed/>
                </p:oleObj>
              </mc:Choice>
              <mc:Fallback>
                <p:oleObj name="Document" r:id="rId4" imgW="6217200" imgH="4067280" progId="Word.Document.8">
                  <p:embed/>
                  <p:pic>
                    <p:nvPicPr>
                      <p:cNvPr id="839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71" r="46323" b="22128"/>
                      <a:stretch>
                        <a:fillRect/>
                      </a:stretch>
                    </p:blipFill>
                    <p:spPr bwMode="auto">
                      <a:xfrm>
                        <a:off x="395288" y="984250"/>
                        <a:ext cx="3227387" cy="453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8" name="Object 10"/>
          <p:cNvGraphicFramePr>
            <a:graphicFrameLocks noChangeAspect="1"/>
          </p:cNvGraphicFramePr>
          <p:nvPr/>
        </p:nvGraphicFramePr>
        <p:xfrm>
          <a:off x="1258888" y="5765800"/>
          <a:ext cx="346075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Equation" r:id="rId6" imgW="1752480" imgH="203040" progId="Equation.3">
                  <p:embed/>
                </p:oleObj>
              </mc:Choice>
              <mc:Fallback>
                <p:oleObj name="Equation" r:id="rId6" imgW="1752480" imgH="203040" progId="Equation.3">
                  <p:embed/>
                  <p:pic>
                    <p:nvPicPr>
                      <p:cNvPr id="8397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765800"/>
                        <a:ext cx="3460750" cy="40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0" name="Text Box 12"/>
          <p:cNvSpPr txBox="1">
            <a:spLocks noChangeArrowheads="1"/>
          </p:cNvSpPr>
          <p:nvPr/>
        </p:nvSpPr>
        <p:spPr bwMode="auto">
          <a:xfrm>
            <a:off x="4630738" y="4508500"/>
            <a:ext cx="2266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pt-PT" u="none"/>
              <a:t> </a:t>
            </a:r>
            <a:r>
              <a:rPr lang="pt-PT" u="none">
                <a:solidFill>
                  <a:srgbClr val="003366"/>
                </a:solidFill>
              </a:rPr>
              <a:t>implicantes primos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83981" name="Text Box 13"/>
          <p:cNvSpPr txBox="1">
            <a:spLocks noChangeArrowheads="1"/>
          </p:cNvSpPr>
          <p:nvPr/>
        </p:nvSpPr>
        <p:spPr bwMode="auto">
          <a:xfrm>
            <a:off x="4630738" y="4803775"/>
            <a:ext cx="1987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pt-PT" u="none"/>
              <a:t> </a:t>
            </a:r>
            <a:r>
              <a:rPr lang="pt-PT" u="none">
                <a:solidFill>
                  <a:srgbClr val="003366"/>
                </a:solidFill>
              </a:rPr>
              <a:t>células distintas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83982" name="Text Box 14"/>
          <p:cNvSpPr txBox="1">
            <a:spLocks noChangeArrowheads="1"/>
          </p:cNvSpPr>
          <p:nvPr/>
        </p:nvSpPr>
        <p:spPr bwMode="auto">
          <a:xfrm>
            <a:off x="4630738" y="5102225"/>
            <a:ext cx="3397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pt-PT" u="none"/>
              <a:t> </a:t>
            </a:r>
            <a:r>
              <a:rPr lang="pt-PT" u="none">
                <a:solidFill>
                  <a:srgbClr val="003366"/>
                </a:solidFill>
              </a:rPr>
              <a:t>implicantes primos essenciais</a:t>
            </a:r>
            <a:endParaRPr lang="en-US" u="none">
              <a:solidFill>
                <a:srgbClr val="003366"/>
              </a:solidFill>
            </a:endParaRPr>
          </a:p>
        </p:txBody>
      </p:sp>
      <p:graphicFrame>
        <p:nvGraphicFramePr>
          <p:cNvPr id="83983" name="Object 1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27538" y="868363"/>
          <a:ext cx="3441700" cy="364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Presentation" r:id="rId8" imgW="4571851" imgH="3429131" progId="PowerPoint.Show.8">
                  <p:embed/>
                </p:oleObj>
              </mc:Choice>
              <mc:Fallback>
                <p:oleObj name="Presentation" r:id="rId8" imgW="4571851" imgH="3429131" progId="PowerPoint.Show.8">
                  <p:embed/>
                  <p:pic>
                    <p:nvPicPr>
                      <p:cNvPr id="83983" name="Object 15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2598" r="51183" b="23096"/>
                      <a:stretch>
                        <a:fillRect/>
                      </a:stretch>
                    </p:blipFill>
                    <p:spPr bwMode="auto">
                      <a:xfrm>
                        <a:off x="4427538" y="868363"/>
                        <a:ext cx="3441700" cy="3640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4" name="Object 16"/>
          <p:cNvGraphicFramePr>
            <a:graphicFrameLocks noChangeAspect="1"/>
          </p:cNvGraphicFramePr>
          <p:nvPr/>
        </p:nvGraphicFramePr>
        <p:xfrm>
          <a:off x="395288" y="981075"/>
          <a:ext cx="3222625" cy="454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name="Document" r:id="rId10" imgW="6207840" imgH="4070520" progId="Word.Document.8">
                  <p:embed/>
                </p:oleObj>
              </mc:Choice>
              <mc:Fallback>
                <p:oleObj name="Document" r:id="rId10" imgW="6207840" imgH="4070520" progId="Word.Document.8">
                  <p:embed/>
                  <p:pic>
                    <p:nvPicPr>
                      <p:cNvPr id="8398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71" r="46323" b="22128"/>
                      <a:stretch>
                        <a:fillRect/>
                      </a:stretch>
                    </p:blipFill>
                    <p:spPr bwMode="auto">
                      <a:xfrm>
                        <a:off x="395288" y="981075"/>
                        <a:ext cx="3222625" cy="454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7" name="Object 1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27538" y="873125"/>
          <a:ext cx="3441700" cy="364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Presentation" r:id="rId12" imgW="4571851" imgH="3429131" progId="PowerPoint.Show.8">
                  <p:embed/>
                </p:oleObj>
              </mc:Choice>
              <mc:Fallback>
                <p:oleObj name="Presentation" r:id="rId12" imgW="4571851" imgH="3429131" progId="PowerPoint.Show.8">
                  <p:embed/>
                  <p:pic>
                    <p:nvPicPr>
                      <p:cNvPr id="83987" name="Object 19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2598" r="51183" b="23096"/>
                      <a:stretch>
                        <a:fillRect/>
                      </a:stretch>
                    </p:blipFill>
                    <p:spPr bwMode="auto">
                      <a:xfrm>
                        <a:off x="4427538" y="873125"/>
                        <a:ext cx="3441700" cy="364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8" name="Object 2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32300" y="868363"/>
          <a:ext cx="3441700" cy="364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Presentation" r:id="rId14" imgW="4571851" imgH="3429131" progId="PowerPoint.Show.8">
                  <p:embed/>
                </p:oleObj>
              </mc:Choice>
              <mc:Fallback>
                <p:oleObj name="Presentation" r:id="rId14" imgW="4571851" imgH="3429131" progId="PowerPoint.Show.8">
                  <p:embed/>
                  <p:pic>
                    <p:nvPicPr>
                      <p:cNvPr id="83988" name="Object 20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2598" r="51183" b="23096"/>
                      <a:stretch>
                        <a:fillRect/>
                      </a:stretch>
                    </p:blipFill>
                    <p:spPr bwMode="auto">
                      <a:xfrm>
                        <a:off x="4432300" y="868363"/>
                        <a:ext cx="3441700" cy="3640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9" name="Object 2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32300" y="868363"/>
          <a:ext cx="3441700" cy="364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name="Presentation" r:id="rId16" imgW="4571851" imgH="3429131" progId="PowerPoint.Show.8">
                  <p:embed/>
                </p:oleObj>
              </mc:Choice>
              <mc:Fallback>
                <p:oleObj name="Presentation" r:id="rId16" imgW="4571851" imgH="3429131" progId="PowerPoint.Show.8">
                  <p:embed/>
                  <p:pic>
                    <p:nvPicPr>
                      <p:cNvPr id="83989" name="Object 21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2598" r="51183" b="23096"/>
                      <a:stretch>
                        <a:fillRect/>
                      </a:stretch>
                    </p:blipFill>
                    <p:spPr bwMode="auto">
                      <a:xfrm>
                        <a:off x="4432300" y="868363"/>
                        <a:ext cx="3441700" cy="3640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0" name="Object 2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32300" y="868363"/>
          <a:ext cx="3441700" cy="364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" name="Presentation" r:id="rId18" imgW="4571851" imgH="3429131" progId="PowerPoint.Show.8">
                  <p:embed/>
                </p:oleObj>
              </mc:Choice>
              <mc:Fallback>
                <p:oleObj name="Presentation" r:id="rId18" imgW="4571851" imgH="3429131" progId="PowerPoint.Show.8">
                  <p:embed/>
                  <p:pic>
                    <p:nvPicPr>
                      <p:cNvPr id="83990" name="Object 22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2598" r="51183" b="23096"/>
                      <a:stretch>
                        <a:fillRect/>
                      </a:stretch>
                    </p:blipFill>
                    <p:spPr bwMode="auto">
                      <a:xfrm>
                        <a:off x="4432300" y="868363"/>
                        <a:ext cx="3441700" cy="3640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1" name="Object 2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27538" y="869950"/>
          <a:ext cx="3441700" cy="364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0" name="Presentation" r:id="rId20" imgW="4571851" imgH="3429131" progId="PowerPoint.Show.8">
                  <p:embed/>
                </p:oleObj>
              </mc:Choice>
              <mc:Fallback>
                <p:oleObj name="Presentation" r:id="rId20" imgW="4571851" imgH="3429131" progId="PowerPoint.Show.8">
                  <p:embed/>
                  <p:pic>
                    <p:nvPicPr>
                      <p:cNvPr id="83991" name="Object 23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2598" r="51183" b="23096"/>
                      <a:stretch>
                        <a:fillRect/>
                      </a:stretch>
                    </p:blipFill>
                    <p:spPr bwMode="auto">
                      <a:xfrm>
                        <a:off x="4427538" y="869950"/>
                        <a:ext cx="3441700" cy="364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2" name="Object 24"/>
          <p:cNvGraphicFramePr>
            <a:graphicFrameLocks noChangeAspect="1"/>
          </p:cNvGraphicFramePr>
          <p:nvPr/>
        </p:nvGraphicFramePr>
        <p:xfrm>
          <a:off x="1260475" y="5764213"/>
          <a:ext cx="451326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1" name="Equation" r:id="rId22" imgW="2286000" imgH="203040" progId="Equation.3">
                  <p:embed/>
                </p:oleObj>
              </mc:Choice>
              <mc:Fallback>
                <p:oleObj name="Equation" r:id="rId22" imgW="2286000" imgH="203040" progId="Equation.3">
                  <p:embed/>
                  <p:pic>
                    <p:nvPicPr>
                      <p:cNvPr id="8399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5764213"/>
                        <a:ext cx="4513263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620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8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8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3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83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2000"/>
                                        <p:tgtEl>
                                          <p:spTgt spid="8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39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3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83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1" dur="2000"/>
                                        <p:tgtEl>
                                          <p:spTgt spid="8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39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3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83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3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3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0" dur="2000"/>
                                        <p:tgtEl>
                                          <p:spTgt spid="8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80" grpId="0"/>
      <p:bldP spid="83981" grpId="0"/>
      <p:bldP spid="8398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7632700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Método de 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Karnaugh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(5 variáveis)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4630738" y="2397125"/>
            <a:ext cx="2266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pt-PT" u="none"/>
              <a:t> </a:t>
            </a:r>
            <a:r>
              <a:rPr lang="pt-PT" u="none">
                <a:solidFill>
                  <a:srgbClr val="003366"/>
                </a:solidFill>
              </a:rPr>
              <a:t>implicantes primos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86022" name="Text Box 6"/>
          <p:cNvSpPr txBox="1">
            <a:spLocks noChangeArrowheads="1"/>
          </p:cNvSpPr>
          <p:nvPr/>
        </p:nvSpPr>
        <p:spPr bwMode="auto">
          <a:xfrm>
            <a:off x="4630738" y="2835275"/>
            <a:ext cx="1987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pt-PT" u="none"/>
              <a:t> </a:t>
            </a:r>
            <a:r>
              <a:rPr lang="pt-PT" u="none">
                <a:solidFill>
                  <a:srgbClr val="003366"/>
                </a:solidFill>
              </a:rPr>
              <a:t>células distintas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86023" name="Text Box 7"/>
          <p:cNvSpPr txBox="1">
            <a:spLocks noChangeArrowheads="1"/>
          </p:cNvSpPr>
          <p:nvPr/>
        </p:nvSpPr>
        <p:spPr bwMode="auto">
          <a:xfrm>
            <a:off x="4630738" y="3278188"/>
            <a:ext cx="3397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pt-PT" u="none"/>
              <a:t> </a:t>
            </a:r>
            <a:r>
              <a:rPr lang="pt-PT" u="none">
                <a:solidFill>
                  <a:srgbClr val="003366"/>
                </a:solidFill>
              </a:rPr>
              <a:t>implicantes primos essenciais</a:t>
            </a:r>
            <a:endParaRPr lang="en-US" u="none">
              <a:solidFill>
                <a:srgbClr val="003366"/>
              </a:solidFill>
            </a:endParaRPr>
          </a:p>
        </p:txBody>
      </p:sp>
      <p:graphicFrame>
        <p:nvGraphicFramePr>
          <p:cNvPr id="86026" name="Object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00113" y="687388"/>
          <a:ext cx="2911475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Presentation" r:id="rId4" imgW="4571851" imgH="3429131" progId="PowerPoint.Show.8">
                  <p:embed/>
                </p:oleObj>
              </mc:Choice>
              <mc:Fallback>
                <p:oleObj name="Presentation" r:id="rId4" imgW="4571851" imgH="3429131" progId="PowerPoint.Show.8">
                  <p:embed/>
                  <p:pic>
                    <p:nvPicPr>
                      <p:cNvPr id="86026" name="Object 10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3647" r="51183" b="28345"/>
                      <a:stretch>
                        <a:fillRect/>
                      </a:stretch>
                    </p:blipFill>
                    <p:spPr bwMode="auto">
                      <a:xfrm>
                        <a:off x="900113" y="687388"/>
                        <a:ext cx="2911475" cy="277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6" name="Text Box 20"/>
          <p:cNvSpPr txBox="1">
            <a:spLocks noChangeArrowheads="1"/>
          </p:cNvSpPr>
          <p:nvPr/>
        </p:nvSpPr>
        <p:spPr bwMode="auto">
          <a:xfrm>
            <a:off x="328613" y="1292225"/>
            <a:ext cx="5286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sz="1600" u="none">
                <a:solidFill>
                  <a:srgbClr val="996600"/>
                </a:solidFill>
              </a:rPr>
              <a:t>a=0</a:t>
            </a:r>
            <a:endParaRPr lang="en-US" sz="1600" u="none">
              <a:solidFill>
                <a:srgbClr val="996600"/>
              </a:solidFill>
            </a:endParaRPr>
          </a:p>
        </p:txBody>
      </p:sp>
      <p:sp>
        <p:nvSpPr>
          <p:cNvPr id="86037" name="Text Box 21"/>
          <p:cNvSpPr txBox="1">
            <a:spLocks noChangeArrowheads="1"/>
          </p:cNvSpPr>
          <p:nvPr/>
        </p:nvSpPr>
        <p:spPr bwMode="auto">
          <a:xfrm>
            <a:off x="328613" y="4238625"/>
            <a:ext cx="5286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sz="1600" u="none">
                <a:solidFill>
                  <a:srgbClr val="996600"/>
                </a:solidFill>
              </a:rPr>
              <a:t>a=1</a:t>
            </a:r>
            <a:endParaRPr lang="en-US" sz="1600" u="none">
              <a:solidFill>
                <a:srgbClr val="996600"/>
              </a:solidFill>
            </a:endParaRP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3851275" y="993775"/>
            <a:ext cx="4144963" cy="779463"/>
            <a:chOff x="2426" y="626"/>
            <a:chExt cx="2611" cy="491"/>
          </a:xfrm>
        </p:grpSpPr>
        <p:graphicFrame>
          <p:nvGraphicFramePr>
            <p:cNvPr id="17421" name="Object 22"/>
            <p:cNvGraphicFramePr>
              <a:graphicFrameLocks noChangeAspect="1"/>
            </p:cNvGraphicFramePr>
            <p:nvPr/>
          </p:nvGraphicFramePr>
          <p:xfrm>
            <a:off x="2426" y="626"/>
            <a:ext cx="258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7" name="Equation" r:id="rId6" imgW="2234880" imgH="228600" progId="Equation.3">
                    <p:embed/>
                  </p:oleObj>
                </mc:Choice>
                <mc:Fallback>
                  <p:oleObj name="Equation" r:id="rId6" imgW="2234880" imgH="228600" progId="Equation.3">
                    <p:embed/>
                    <p:pic>
                      <p:nvPicPr>
                        <p:cNvPr id="17421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626"/>
                          <a:ext cx="2584" cy="2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2" name="Object 23"/>
            <p:cNvGraphicFramePr>
              <a:graphicFrameLocks noChangeAspect="1"/>
            </p:cNvGraphicFramePr>
            <p:nvPr/>
          </p:nvGraphicFramePr>
          <p:xfrm>
            <a:off x="2835" y="911"/>
            <a:ext cx="2202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8" name="Equation" r:id="rId8" imgW="1904760" imgH="177480" progId="Equation.3">
                    <p:embed/>
                  </p:oleObj>
                </mc:Choice>
                <mc:Fallback>
                  <p:oleObj name="Equation" r:id="rId8" imgW="1904760" imgH="177480" progId="Equation.3">
                    <p:embed/>
                    <p:pic>
                      <p:nvPicPr>
                        <p:cNvPr id="17422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5" y="911"/>
                          <a:ext cx="2202" cy="2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6041" name="Object 2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00113" y="3530600"/>
          <a:ext cx="2911475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Presentation" r:id="rId10" imgW="4571851" imgH="3429131" progId="PowerPoint.Show.8">
                  <p:embed/>
                </p:oleObj>
              </mc:Choice>
              <mc:Fallback>
                <p:oleObj name="Presentation" r:id="rId10" imgW="4571851" imgH="3429131" progId="PowerPoint.Show.8">
                  <p:embed/>
                  <p:pic>
                    <p:nvPicPr>
                      <p:cNvPr id="86041" name="Object 25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3647" r="51183" b="28345"/>
                      <a:stretch>
                        <a:fillRect/>
                      </a:stretch>
                    </p:blipFill>
                    <p:spPr bwMode="auto">
                      <a:xfrm>
                        <a:off x="900113" y="3530600"/>
                        <a:ext cx="2911475" cy="277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45" name="Object 2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98525" y="685800"/>
          <a:ext cx="2911475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Presentation" r:id="rId12" imgW="4571851" imgH="3429131" progId="PowerPoint.Show.8">
                  <p:embed/>
                </p:oleObj>
              </mc:Choice>
              <mc:Fallback>
                <p:oleObj name="Presentation" r:id="rId12" imgW="4571851" imgH="3429131" progId="PowerPoint.Show.8">
                  <p:embed/>
                  <p:pic>
                    <p:nvPicPr>
                      <p:cNvPr id="86045" name="Object 29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3647" r="51183" b="28345"/>
                      <a:stretch>
                        <a:fillRect/>
                      </a:stretch>
                    </p:blipFill>
                    <p:spPr bwMode="auto">
                      <a:xfrm>
                        <a:off x="898525" y="685800"/>
                        <a:ext cx="2911475" cy="277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47" name="Object 3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98525" y="685800"/>
          <a:ext cx="2911475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Presentation" r:id="rId14" imgW="4571851" imgH="3429131" progId="PowerPoint.Show.8">
                  <p:embed/>
                </p:oleObj>
              </mc:Choice>
              <mc:Fallback>
                <p:oleObj name="Presentation" r:id="rId14" imgW="4571851" imgH="3429131" progId="PowerPoint.Show.8">
                  <p:embed/>
                  <p:pic>
                    <p:nvPicPr>
                      <p:cNvPr id="86047" name="Object 31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3647" r="51183" b="28345"/>
                      <a:stretch>
                        <a:fillRect/>
                      </a:stretch>
                    </p:blipFill>
                    <p:spPr bwMode="auto">
                      <a:xfrm>
                        <a:off x="898525" y="685800"/>
                        <a:ext cx="2911475" cy="277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49" name="Object 3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98525" y="3529013"/>
          <a:ext cx="2911475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2" name="Presentation" r:id="rId16" imgW="4571851" imgH="3429131" progId="PowerPoint.Show.8">
                  <p:embed/>
                </p:oleObj>
              </mc:Choice>
              <mc:Fallback>
                <p:oleObj name="Presentation" r:id="rId16" imgW="4571851" imgH="3429131" progId="PowerPoint.Show.8">
                  <p:embed/>
                  <p:pic>
                    <p:nvPicPr>
                      <p:cNvPr id="86049" name="Object 33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3647" r="51183" b="28345"/>
                      <a:stretch>
                        <a:fillRect/>
                      </a:stretch>
                    </p:blipFill>
                    <p:spPr bwMode="auto">
                      <a:xfrm>
                        <a:off x="898525" y="3529013"/>
                        <a:ext cx="2911475" cy="277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50" name="Object 3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98525" y="3529013"/>
          <a:ext cx="2911475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3" name="Presentation" r:id="rId18" imgW="4571851" imgH="3429131" progId="PowerPoint.Show.8">
                  <p:embed/>
                </p:oleObj>
              </mc:Choice>
              <mc:Fallback>
                <p:oleObj name="Presentation" r:id="rId18" imgW="4571851" imgH="3429131" progId="PowerPoint.Show.8">
                  <p:embed/>
                  <p:pic>
                    <p:nvPicPr>
                      <p:cNvPr id="86050" name="Object 34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3647" r="51183" b="28345"/>
                      <a:stretch>
                        <a:fillRect/>
                      </a:stretch>
                    </p:blipFill>
                    <p:spPr bwMode="auto">
                      <a:xfrm>
                        <a:off x="898525" y="3529013"/>
                        <a:ext cx="2911475" cy="277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53" name="Object 3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00113" y="685800"/>
          <a:ext cx="2911475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4" name="Presentation" r:id="rId20" imgW="4571851" imgH="3429131" progId="PowerPoint.Show.8">
                  <p:embed/>
                </p:oleObj>
              </mc:Choice>
              <mc:Fallback>
                <p:oleObj name="Presentation" r:id="rId20" imgW="4571851" imgH="3429131" progId="PowerPoint.Show.8">
                  <p:embed/>
                  <p:pic>
                    <p:nvPicPr>
                      <p:cNvPr id="86053" name="Object 37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3647" r="51183" b="28345"/>
                      <a:stretch>
                        <a:fillRect/>
                      </a:stretch>
                    </p:blipFill>
                    <p:spPr bwMode="auto">
                      <a:xfrm>
                        <a:off x="900113" y="685800"/>
                        <a:ext cx="2911475" cy="277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54" name="Object 3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00113" y="3529013"/>
          <a:ext cx="2911475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5" name="Presentation" r:id="rId22" imgW="4571851" imgH="3429131" progId="PowerPoint.Show.8">
                  <p:embed/>
                </p:oleObj>
              </mc:Choice>
              <mc:Fallback>
                <p:oleObj name="Presentation" r:id="rId22" imgW="4571851" imgH="3429131" progId="PowerPoint.Show.8">
                  <p:embed/>
                  <p:pic>
                    <p:nvPicPr>
                      <p:cNvPr id="86054" name="Object 38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3647" r="51183" b="28345"/>
                      <a:stretch>
                        <a:fillRect/>
                      </a:stretch>
                    </p:blipFill>
                    <p:spPr bwMode="auto">
                      <a:xfrm>
                        <a:off x="900113" y="3529013"/>
                        <a:ext cx="2911475" cy="277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55" name="Object 3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00113" y="685800"/>
          <a:ext cx="2911475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6" name="Presentation" r:id="rId24" imgW="4571851" imgH="3429131" progId="PowerPoint.Show.8">
                  <p:embed/>
                </p:oleObj>
              </mc:Choice>
              <mc:Fallback>
                <p:oleObj name="Presentation" r:id="rId24" imgW="4571851" imgH="3429131" progId="PowerPoint.Show.8">
                  <p:embed/>
                  <p:pic>
                    <p:nvPicPr>
                      <p:cNvPr id="86055" name="Object 39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3647" r="51183" b="28345"/>
                      <a:stretch>
                        <a:fillRect/>
                      </a:stretch>
                    </p:blipFill>
                    <p:spPr bwMode="auto">
                      <a:xfrm>
                        <a:off x="900113" y="685800"/>
                        <a:ext cx="2911475" cy="277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56" name="Object 4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00113" y="3529013"/>
          <a:ext cx="2911475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7" name="Presentation" r:id="rId26" imgW="4571851" imgH="3429131" progId="PowerPoint.Show.8">
                  <p:embed/>
                </p:oleObj>
              </mc:Choice>
              <mc:Fallback>
                <p:oleObj name="Presentation" r:id="rId26" imgW="4571851" imgH="3429131" progId="PowerPoint.Show.8">
                  <p:embed/>
                  <p:pic>
                    <p:nvPicPr>
                      <p:cNvPr id="86056" name="Object 40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3647" r="51183" b="28345"/>
                      <a:stretch>
                        <a:fillRect/>
                      </a:stretch>
                    </p:blipFill>
                    <p:spPr bwMode="auto">
                      <a:xfrm>
                        <a:off x="900113" y="3529013"/>
                        <a:ext cx="2911475" cy="277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51" name="Freeform 35"/>
          <p:cNvSpPr>
            <a:spLocks/>
          </p:cNvSpPr>
          <p:nvPr/>
        </p:nvSpPr>
        <p:spPr bwMode="auto">
          <a:xfrm>
            <a:off x="3236913" y="2349500"/>
            <a:ext cx="471487" cy="2879725"/>
          </a:xfrm>
          <a:custGeom>
            <a:avLst/>
            <a:gdLst>
              <a:gd name="T0" fmla="*/ 0 w 454"/>
              <a:gd name="T1" fmla="*/ 0 h 1814"/>
              <a:gd name="T2" fmla="*/ 454 w 454"/>
              <a:gd name="T3" fmla="*/ 907 h 1814"/>
              <a:gd name="T4" fmla="*/ 0 w 454"/>
              <a:gd name="T5" fmla="*/ 1814 h 1814"/>
              <a:gd name="T6" fmla="*/ 0 60000 65536"/>
              <a:gd name="T7" fmla="*/ 0 60000 65536"/>
              <a:gd name="T8" fmla="*/ 0 60000 65536"/>
              <a:gd name="T9" fmla="*/ 0 w 454"/>
              <a:gd name="T10" fmla="*/ 0 h 1814"/>
              <a:gd name="T11" fmla="*/ 454 w 454"/>
              <a:gd name="T12" fmla="*/ 1814 h 18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4" h="1814">
                <a:moveTo>
                  <a:pt x="0" y="0"/>
                </a:moveTo>
                <a:cubicBezTo>
                  <a:pt x="227" y="302"/>
                  <a:pt x="454" y="605"/>
                  <a:pt x="454" y="907"/>
                </a:cubicBezTo>
                <a:cubicBezTo>
                  <a:pt x="454" y="1209"/>
                  <a:pt x="227" y="1511"/>
                  <a:pt x="0" y="1814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052" name="Freeform 36"/>
          <p:cNvSpPr>
            <a:spLocks/>
          </p:cNvSpPr>
          <p:nvPr/>
        </p:nvSpPr>
        <p:spPr bwMode="auto">
          <a:xfrm>
            <a:off x="131763" y="2997200"/>
            <a:ext cx="2460625" cy="3251200"/>
          </a:xfrm>
          <a:custGeom>
            <a:avLst/>
            <a:gdLst>
              <a:gd name="T0" fmla="*/ 1436 w 1550"/>
              <a:gd name="T1" fmla="*/ 0 h 2048"/>
              <a:gd name="T2" fmla="*/ 1346 w 1550"/>
              <a:gd name="T3" fmla="*/ 272 h 2048"/>
              <a:gd name="T4" fmla="*/ 212 w 1550"/>
              <a:gd name="T5" fmla="*/ 317 h 2048"/>
              <a:gd name="T6" fmla="*/ 75 w 1550"/>
              <a:gd name="T7" fmla="*/ 998 h 2048"/>
              <a:gd name="T8" fmla="*/ 166 w 1550"/>
              <a:gd name="T9" fmla="*/ 1724 h 2048"/>
              <a:gd name="T10" fmla="*/ 847 w 1550"/>
              <a:gd name="T11" fmla="*/ 2041 h 2048"/>
              <a:gd name="T12" fmla="*/ 1391 w 1550"/>
              <a:gd name="T13" fmla="*/ 1769 h 20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50"/>
              <a:gd name="T22" fmla="*/ 0 h 2048"/>
              <a:gd name="T23" fmla="*/ 1550 w 1550"/>
              <a:gd name="T24" fmla="*/ 2048 h 204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50" h="2048">
                <a:moveTo>
                  <a:pt x="1436" y="0"/>
                </a:moveTo>
                <a:cubicBezTo>
                  <a:pt x="1493" y="109"/>
                  <a:pt x="1550" y="219"/>
                  <a:pt x="1346" y="272"/>
                </a:cubicBezTo>
                <a:cubicBezTo>
                  <a:pt x="1142" y="325"/>
                  <a:pt x="424" y="196"/>
                  <a:pt x="212" y="317"/>
                </a:cubicBezTo>
                <a:cubicBezTo>
                  <a:pt x="0" y="438"/>
                  <a:pt x="83" y="764"/>
                  <a:pt x="75" y="998"/>
                </a:cubicBezTo>
                <a:cubicBezTo>
                  <a:pt x="67" y="1232"/>
                  <a:pt x="37" y="1550"/>
                  <a:pt x="166" y="1724"/>
                </a:cubicBezTo>
                <a:cubicBezTo>
                  <a:pt x="295" y="1898"/>
                  <a:pt x="643" y="2034"/>
                  <a:pt x="847" y="2041"/>
                </a:cubicBezTo>
                <a:cubicBezTo>
                  <a:pt x="1051" y="2048"/>
                  <a:pt x="1221" y="1908"/>
                  <a:pt x="1391" y="1769"/>
                </a:cubicBezTo>
              </a:path>
            </a:pathLst>
          </a:custGeom>
          <a:noFill/>
          <a:ln w="28575" cap="flat" cmpd="sng">
            <a:solidFill>
              <a:srgbClr val="CC00CC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6058" name="Object 42"/>
          <p:cNvGraphicFramePr>
            <a:graphicFrameLocks noChangeAspect="1"/>
          </p:cNvGraphicFramePr>
          <p:nvPr/>
        </p:nvGraphicFramePr>
        <p:xfrm>
          <a:off x="4500563" y="4545013"/>
          <a:ext cx="3659187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8" name="Equation" r:id="rId28" imgW="1625400" imgH="203040" progId="Equation.3">
                  <p:embed/>
                </p:oleObj>
              </mc:Choice>
              <mc:Fallback>
                <p:oleObj name="Equation" r:id="rId28" imgW="1625400" imgH="203040" progId="Equation.3">
                  <p:embed/>
                  <p:pic>
                    <p:nvPicPr>
                      <p:cNvPr id="86058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545013"/>
                        <a:ext cx="3659187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602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2000"/>
                                        <p:tgtEl>
                                          <p:spTgt spid="8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8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2000"/>
                                        <p:tgtEl>
                                          <p:spTgt spid="8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8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9" dur="2000"/>
                                        <p:tgtEl>
                                          <p:spTgt spid="8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2" dur="2000"/>
                                        <p:tgtEl>
                                          <p:spTgt spid="8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6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900" decel="100000" fill="hold"/>
                                        <p:tgtEl>
                                          <p:spTgt spid="86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4" dur="2000"/>
                                        <p:tgtEl>
                                          <p:spTgt spid="8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7" dur="2000"/>
                                        <p:tgtEl>
                                          <p:spTgt spid="8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6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900" decel="100000" fill="hold"/>
                                        <p:tgtEl>
                                          <p:spTgt spid="86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860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86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900" decel="100000" fill="hold"/>
                                        <p:tgtEl>
                                          <p:spTgt spid="86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6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1" grpId="0"/>
      <p:bldP spid="86022" grpId="0"/>
      <p:bldP spid="86023" grpId="0"/>
      <p:bldP spid="86036" grpId="0"/>
      <p:bldP spid="86037" grpId="0"/>
      <p:bldP spid="86051" grpId="0" animBg="1"/>
      <p:bldP spid="8605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4679751" cy="57579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Método</a:t>
            </a:r>
            <a:r>
              <a:rPr lang="en-US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de </a:t>
            </a:r>
            <a:r>
              <a:rPr lang="en-US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Karnaugh</a:t>
            </a:r>
            <a:r>
              <a:rPr lang="en-US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77833" name="Text Box 9"/>
          <p:cNvSpPr txBox="1">
            <a:spLocks noChangeArrowheads="1"/>
          </p:cNvSpPr>
          <p:nvPr/>
        </p:nvSpPr>
        <p:spPr bwMode="auto">
          <a:xfrm>
            <a:off x="519113" y="836613"/>
            <a:ext cx="82296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Aft>
                <a:spcPct val="30000"/>
              </a:spcAft>
              <a:buFontTx/>
              <a:buAutoNum type="arabicPeriod"/>
              <a:defRPr/>
            </a:pPr>
            <a:r>
              <a:rPr lang="pt-PT" u="none">
                <a:solidFill>
                  <a:srgbClr val="000066"/>
                </a:solidFill>
              </a:rPr>
              <a:t>Preencher o mapa de Karnaugh.</a:t>
            </a:r>
          </a:p>
          <a:p>
            <a:pPr marL="342900" indent="-342900">
              <a:spcAft>
                <a:spcPct val="30000"/>
              </a:spcAft>
              <a:buFontTx/>
              <a:buAutoNum type="arabicPeriod"/>
              <a:defRPr/>
            </a:pPr>
            <a:r>
              <a:rPr lang="pt-PT" u="none">
                <a:solidFill>
                  <a:srgbClr val="000066"/>
                </a:solidFill>
              </a:rPr>
              <a:t>Encontrar todos os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implicantes primos</a:t>
            </a:r>
            <a:r>
              <a:rPr lang="pt-PT" u="none">
                <a:solidFill>
                  <a:srgbClr val="000066"/>
                </a:solidFill>
              </a:rPr>
              <a:t>.</a:t>
            </a:r>
            <a:endParaRPr lang="en-US" u="none">
              <a:solidFill>
                <a:srgbClr val="000066"/>
              </a:solidFill>
            </a:endParaRPr>
          </a:p>
        </p:txBody>
      </p:sp>
      <p:sp>
        <p:nvSpPr>
          <p:cNvPr id="77834" name="Text Box 10"/>
          <p:cNvSpPr txBox="1">
            <a:spLocks noChangeArrowheads="1"/>
          </p:cNvSpPr>
          <p:nvPr/>
        </p:nvSpPr>
        <p:spPr bwMode="auto">
          <a:xfrm>
            <a:off x="827088" y="2354263"/>
            <a:ext cx="82089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3366"/>
                </a:solidFill>
              </a:rPr>
              <a:t>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implicante primo</a:t>
            </a:r>
            <a:r>
              <a:rPr lang="pt-PT" u="none">
                <a:solidFill>
                  <a:srgbClr val="003366"/>
                </a:solidFill>
              </a:rPr>
              <a:t> da função </a:t>
            </a:r>
            <a:r>
              <a:rPr lang="pt-PT" i="1" u="none">
                <a:solidFill>
                  <a:srgbClr val="A50021"/>
                </a:solidFill>
              </a:rPr>
              <a:t>f</a:t>
            </a:r>
            <a:r>
              <a:rPr lang="pt-PT" i="1" u="none">
                <a:solidFill>
                  <a:srgbClr val="003366"/>
                </a:solidFill>
              </a:rPr>
              <a:t> </a:t>
            </a:r>
            <a:r>
              <a:rPr lang="pt-PT" u="none">
                <a:solidFill>
                  <a:srgbClr val="003366"/>
                </a:solidFill>
              </a:rPr>
              <a:t>é um produto </a:t>
            </a:r>
            <a:r>
              <a:rPr lang="pt-PT" i="1" u="none">
                <a:solidFill>
                  <a:srgbClr val="A50021"/>
                </a:solidFill>
              </a:rPr>
              <a:t>p</a:t>
            </a:r>
            <a:r>
              <a:rPr lang="pt-PT" i="1" u="none">
                <a:solidFill>
                  <a:srgbClr val="003366"/>
                </a:solidFill>
              </a:rPr>
              <a:t> </a:t>
            </a:r>
            <a:r>
              <a:rPr lang="pt-PT" u="none">
                <a:solidFill>
                  <a:srgbClr val="003366"/>
                </a:solidFill>
              </a:rPr>
              <a:t>que implica </a:t>
            </a:r>
            <a:r>
              <a:rPr lang="pt-PT" i="1" u="none">
                <a:solidFill>
                  <a:srgbClr val="A50021"/>
                </a:solidFill>
              </a:rPr>
              <a:t>f</a:t>
            </a:r>
            <a:r>
              <a:rPr lang="pt-PT" u="none">
                <a:solidFill>
                  <a:srgbClr val="003366"/>
                </a:solidFill>
              </a:rPr>
              <a:t>, tal que se removêssemos um literal do </a:t>
            </a:r>
            <a:r>
              <a:rPr lang="pt-PT" i="1" u="none">
                <a:solidFill>
                  <a:srgbClr val="A50021"/>
                </a:solidFill>
              </a:rPr>
              <a:t>p</a:t>
            </a:r>
            <a:r>
              <a:rPr lang="pt-PT" u="none">
                <a:solidFill>
                  <a:srgbClr val="003366"/>
                </a:solidFill>
              </a:rPr>
              <a:t> o produto resultante já não vai implicar </a:t>
            </a:r>
            <a:r>
              <a:rPr lang="pt-PT" i="1" u="none">
                <a:solidFill>
                  <a:srgbClr val="A50021"/>
                </a:solidFill>
              </a:rPr>
              <a:t>f</a:t>
            </a:r>
            <a:r>
              <a:rPr lang="pt-PT" u="none">
                <a:solidFill>
                  <a:srgbClr val="003366"/>
                </a:solidFill>
              </a:rPr>
              <a:t>.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77835" name="Text Box 11"/>
          <p:cNvSpPr txBox="1">
            <a:spLocks noChangeArrowheads="1"/>
          </p:cNvSpPr>
          <p:nvPr/>
        </p:nvSpPr>
        <p:spPr bwMode="auto">
          <a:xfrm>
            <a:off x="827088" y="1700213"/>
            <a:ext cx="79930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3366"/>
                </a:solidFill>
              </a:rPr>
              <a:t>Uma função </a:t>
            </a:r>
            <a:r>
              <a:rPr lang="pt-PT" i="1" u="none">
                <a:solidFill>
                  <a:srgbClr val="A50021"/>
                </a:solidFill>
              </a:rPr>
              <a:t>p</a:t>
            </a:r>
            <a:r>
              <a:rPr lang="pt-PT" i="1" u="none">
                <a:solidFill>
                  <a:srgbClr val="003366"/>
                </a:solidFill>
              </a:rPr>
              <a:t>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implica</a:t>
            </a:r>
            <a:r>
              <a:rPr lang="pt-PT" u="none">
                <a:solidFill>
                  <a:srgbClr val="003366"/>
                </a:solidFill>
              </a:rPr>
              <a:t> a função lógica </a:t>
            </a:r>
            <a:r>
              <a:rPr lang="pt-PT" i="1" u="none">
                <a:solidFill>
                  <a:srgbClr val="A50021"/>
                </a:solidFill>
              </a:rPr>
              <a:t>f</a:t>
            </a:r>
            <a:r>
              <a:rPr lang="pt-PT" u="none">
                <a:solidFill>
                  <a:srgbClr val="003366"/>
                </a:solidFill>
              </a:rPr>
              <a:t> se em todos os casos quando </a:t>
            </a:r>
            <a:r>
              <a:rPr lang="pt-PT" i="1" u="none">
                <a:solidFill>
                  <a:srgbClr val="A50021"/>
                </a:solidFill>
              </a:rPr>
              <a:t>p</a:t>
            </a:r>
            <a:r>
              <a:rPr lang="pt-PT" u="none">
                <a:solidFill>
                  <a:srgbClr val="003366"/>
                </a:solidFill>
              </a:rPr>
              <a:t> = ‘1’, </a:t>
            </a:r>
            <a:r>
              <a:rPr lang="pt-PT" i="1" u="none">
                <a:solidFill>
                  <a:srgbClr val="A50021"/>
                </a:solidFill>
              </a:rPr>
              <a:t>f</a:t>
            </a:r>
            <a:r>
              <a:rPr lang="pt-PT" i="1" u="none">
                <a:solidFill>
                  <a:srgbClr val="003366"/>
                </a:solidFill>
              </a:rPr>
              <a:t>  </a:t>
            </a:r>
            <a:r>
              <a:rPr lang="pt-PT" u="none">
                <a:solidFill>
                  <a:srgbClr val="003366"/>
                </a:solidFill>
              </a:rPr>
              <a:t>também é igual a ‘1’.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77836" name="Text Box 12"/>
          <p:cNvSpPr txBox="1">
            <a:spLocks noChangeArrowheads="1"/>
          </p:cNvSpPr>
          <p:nvPr/>
        </p:nvSpPr>
        <p:spPr bwMode="auto">
          <a:xfrm>
            <a:off x="827088" y="2997200"/>
            <a:ext cx="8208962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3366"/>
                </a:solidFill>
              </a:rPr>
              <a:t>Num mapa de Karnaugh, 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implicante primo</a:t>
            </a:r>
            <a:r>
              <a:rPr lang="pt-PT" u="none">
                <a:solidFill>
                  <a:srgbClr val="003366"/>
                </a:solidFill>
              </a:rPr>
              <a:t> é um </a:t>
            </a:r>
            <a:r>
              <a:rPr lang="pt-PT" u="none">
                <a:solidFill>
                  <a:srgbClr val="000066"/>
                </a:solidFill>
              </a:rPr>
              <a:t>conjunto de 2</a:t>
            </a:r>
            <a:r>
              <a:rPr lang="pt-PT" u="none" baseline="30000">
                <a:solidFill>
                  <a:srgbClr val="000066"/>
                </a:solidFill>
              </a:rPr>
              <a:t>n</a:t>
            </a:r>
            <a:r>
              <a:rPr lang="pt-PT" u="none">
                <a:solidFill>
                  <a:srgbClr val="000066"/>
                </a:solidFill>
              </a:rPr>
              <a:t> células adjacentes que contêm valores ‘1’ e tais que se tentássemos expandir o conjunto até 2</a:t>
            </a:r>
            <a:r>
              <a:rPr lang="pt-PT" u="none" baseline="30000">
                <a:solidFill>
                  <a:srgbClr val="000066"/>
                </a:solidFill>
              </a:rPr>
              <a:t>n+1</a:t>
            </a:r>
            <a:r>
              <a:rPr lang="pt-PT" u="none">
                <a:solidFill>
                  <a:srgbClr val="000066"/>
                </a:solidFill>
              </a:rPr>
              <a:t> células este passará a incluir células com ‘0’.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77837" name="Text Box 13"/>
          <p:cNvSpPr txBox="1">
            <a:spLocks noChangeArrowheads="1"/>
          </p:cNvSpPr>
          <p:nvPr/>
        </p:nvSpPr>
        <p:spPr bwMode="auto">
          <a:xfrm>
            <a:off x="539750" y="3981450"/>
            <a:ext cx="8229600" cy="217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Aft>
                <a:spcPct val="30000"/>
              </a:spcAft>
              <a:buFontTx/>
              <a:buAutoNum type="arabicPeriod" startAt="3"/>
              <a:defRPr/>
            </a:pPr>
            <a:r>
              <a:rPr lang="pt-PT" u="none">
                <a:solidFill>
                  <a:srgbClr val="000066"/>
                </a:solidFill>
              </a:rPr>
              <a:t>Marcar no mapa todas as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células distintas</a:t>
            </a:r>
            <a:r>
              <a:rPr lang="pt-PT" u="none">
                <a:solidFill>
                  <a:srgbClr val="000066"/>
                </a:solidFill>
              </a:rPr>
              <a:t> – células que só são cobertas por um único implicante primo.</a:t>
            </a:r>
          </a:p>
          <a:p>
            <a:pPr marL="342900" indent="-342900">
              <a:spcAft>
                <a:spcPct val="30000"/>
              </a:spcAft>
              <a:buFontTx/>
              <a:buAutoNum type="arabicPeriod" startAt="3"/>
              <a:defRPr/>
            </a:pPr>
            <a:r>
              <a:rPr lang="pt-PT" u="none">
                <a:solidFill>
                  <a:srgbClr val="000066"/>
                </a:solidFill>
              </a:rPr>
              <a:t>Encontrar todos os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implicantes primos essenciais</a:t>
            </a:r>
            <a:r>
              <a:rPr lang="pt-PT" u="none">
                <a:solidFill>
                  <a:srgbClr val="000066"/>
                </a:solidFill>
              </a:rPr>
              <a:t> – implicantes primos que cobrem uma ou mais células distintas. </a:t>
            </a:r>
          </a:p>
          <a:p>
            <a:pPr marL="342900" indent="-342900">
              <a:spcAft>
                <a:spcPct val="30000"/>
              </a:spcAft>
              <a:buFontTx/>
              <a:buAutoNum type="arabicPeriod" startAt="3"/>
              <a:defRPr/>
            </a:pPr>
            <a:r>
              <a:rPr lang="pt-PT" u="none">
                <a:solidFill>
                  <a:srgbClr val="000066"/>
                </a:solidFill>
              </a:rPr>
              <a:t>Incluir na soma mínima todos os implicantes primos essenciais e dos restantes implicantes primos escolher o menor número daqueles que contêm menos literais.</a:t>
            </a:r>
            <a:endParaRPr lang="en-US" u="none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01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3" grpId="0"/>
      <p:bldP spid="77834" grpId="0"/>
      <p:bldP spid="77835" grpId="0"/>
      <p:bldP spid="77836" grpId="0"/>
      <p:bldP spid="7783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8135937" cy="5762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Minimização</a:t>
            </a:r>
            <a:r>
              <a:rPr lang="en-US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de </a:t>
            </a:r>
            <a:r>
              <a:rPr lang="en-US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circuitos</a:t>
            </a:r>
            <a:r>
              <a:rPr lang="en-US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OR-AND</a:t>
            </a:r>
          </a:p>
        </p:txBody>
      </p:sp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468313" y="908050"/>
            <a:ext cx="835342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3366"/>
                </a:solidFill>
              </a:rPr>
              <a:t>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produto de somas mínimo</a:t>
            </a:r>
            <a:r>
              <a:rPr lang="pt-PT" u="none">
                <a:solidFill>
                  <a:srgbClr val="003366"/>
                </a:solidFill>
              </a:rPr>
              <a:t> da função </a:t>
            </a:r>
            <a:r>
              <a:rPr lang="pt-PT" i="1" u="none">
                <a:solidFill>
                  <a:srgbClr val="003366"/>
                </a:solidFill>
              </a:rPr>
              <a:t>f</a:t>
            </a:r>
            <a:r>
              <a:rPr lang="pt-PT" u="none">
                <a:solidFill>
                  <a:srgbClr val="003366"/>
                </a:solidFill>
              </a:rPr>
              <a:t> é o produto de somas que tem 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número mínimo de somas</a:t>
            </a:r>
            <a:r>
              <a:rPr lang="pt-PT" u="none">
                <a:solidFill>
                  <a:srgbClr val="003366"/>
                </a:solidFill>
              </a:rPr>
              <a:t> e 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número mínimo de literais</a:t>
            </a:r>
            <a:r>
              <a:rPr lang="pt-PT" u="none">
                <a:solidFill>
                  <a:srgbClr val="003366"/>
                </a:solidFill>
              </a:rPr>
              <a:t> (comparando com todos os outros produtos de somas que possam existir com o mesmo número de somas).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78861" name="Text Box 13"/>
          <p:cNvSpPr txBox="1">
            <a:spLocks noChangeArrowheads="1"/>
          </p:cNvSpPr>
          <p:nvPr/>
        </p:nvSpPr>
        <p:spPr bwMode="auto">
          <a:xfrm>
            <a:off x="468313" y="2098675"/>
            <a:ext cx="83534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</a:rPr>
              <a:t>A minimização pode ser feita aplicando o princípio da dualidade e analisando células com ‘0’ no mapa de Karnaugh.</a:t>
            </a:r>
            <a:endParaRPr lang="en-US" u="none">
              <a:solidFill>
                <a:srgbClr val="003366"/>
              </a:solidFill>
            </a:endParaRPr>
          </a:p>
        </p:txBody>
      </p:sp>
      <p:graphicFrame>
        <p:nvGraphicFramePr>
          <p:cNvPr id="78863" name="Object 15"/>
          <p:cNvGraphicFramePr>
            <a:graphicFrameLocks noChangeAspect="1"/>
          </p:cNvGraphicFramePr>
          <p:nvPr/>
        </p:nvGraphicFramePr>
        <p:xfrm>
          <a:off x="468313" y="3475038"/>
          <a:ext cx="2449512" cy="247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name="Document" r:id="rId4" imgW="6217200" imgH="4067280" progId="Word.Document.8">
                  <p:embed/>
                </p:oleObj>
              </mc:Choice>
              <mc:Fallback>
                <p:oleObj name="Document" r:id="rId4" imgW="6217200" imgH="4067280" progId="Word.Document.8">
                  <p:embed/>
                  <p:pic>
                    <p:nvPicPr>
                      <p:cNvPr id="7886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55063" b="57532"/>
                      <a:stretch>
                        <a:fillRect/>
                      </a:stretch>
                    </p:blipFill>
                    <p:spPr bwMode="auto">
                      <a:xfrm>
                        <a:off x="468313" y="3475038"/>
                        <a:ext cx="2449512" cy="2474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4" name="Object 16"/>
          <p:cNvGraphicFramePr>
            <a:graphicFrameLocks noChangeAspect="1"/>
          </p:cNvGraphicFramePr>
          <p:nvPr/>
        </p:nvGraphicFramePr>
        <p:xfrm>
          <a:off x="474663" y="3475038"/>
          <a:ext cx="2449512" cy="247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name="Document" r:id="rId6" imgW="6217200" imgH="4067280" progId="Word.Document.8">
                  <p:embed/>
                </p:oleObj>
              </mc:Choice>
              <mc:Fallback>
                <p:oleObj name="Document" r:id="rId6" imgW="6217200" imgH="4067280" progId="Word.Document.8">
                  <p:embed/>
                  <p:pic>
                    <p:nvPicPr>
                      <p:cNvPr id="7886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55063" b="57532"/>
                      <a:stretch>
                        <a:fillRect/>
                      </a:stretch>
                    </p:blipFill>
                    <p:spPr bwMode="auto">
                      <a:xfrm>
                        <a:off x="474663" y="3475038"/>
                        <a:ext cx="2449512" cy="2474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0" name="Object 2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852863" y="3101975"/>
          <a:ext cx="3887787" cy="291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name="Presentation" r:id="rId8" imgW="4571851" imgH="3429131" progId="PowerPoint.Show.8">
                  <p:embed/>
                </p:oleObj>
              </mc:Choice>
              <mc:Fallback>
                <p:oleObj name="Presentation" r:id="rId8" imgW="4571851" imgH="3429131" progId="PowerPoint.Show.8">
                  <p:embed/>
                  <p:pic>
                    <p:nvPicPr>
                      <p:cNvPr id="78870" name="Object 22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3852863" y="3101975"/>
                        <a:ext cx="3887787" cy="291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3" name="Object 2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851275" y="3101975"/>
          <a:ext cx="3887788" cy="291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" name="Presentation" r:id="rId10" imgW="4571851" imgH="3429131" progId="PowerPoint.Show.8">
                  <p:embed/>
                </p:oleObj>
              </mc:Choice>
              <mc:Fallback>
                <p:oleObj name="Presentation" r:id="rId10" imgW="4571851" imgH="3429131" progId="PowerPoint.Show.8">
                  <p:embed/>
                  <p:pic>
                    <p:nvPicPr>
                      <p:cNvPr id="78873" name="Object 25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3851275" y="3101975"/>
                        <a:ext cx="3887788" cy="291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4" name="Object 2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851275" y="3101975"/>
          <a:ext cx="3887788" cy="291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Presentation" r:id="rId12" imgW="4571851" imgH="3429131" progId="PowerPoint.Show.8">
                  <p:embed/>
                </p:oleObj>
              </mc:Choice>
              <mc:Fallback>
                <p:oleObj name="Presentation" r:id="rId12" imgW="4571851" imgH="3429131" progId="PowerPoint.Show.8">
                  <p:embed/>
                  <p:pic>
                    <p:nvPicPr>
                      <p:cNvPr id="78874" name="Object 26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3851275" y="3101975"/>
                        <a:ext cx="3887788" cy="291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5" name="Object 2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852863" y="3101975"/>
          <a:ext cx="3887787" cy="291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Presentation" r:id="rId14" imgW="4571851" imgH="3429131" progId="PowerPoint.Show.8">
                  <p:embed/>
                </p:oleObj>
              </mc:Choice>
              <mc:Fallback>
                <p:oleObj name="Presentation" r:id="rId14" imgW="4571851" imgH="3429131" progId="PowerPoint.Show.8">
                  <p:embed/>
                  <p:pic>
                    <p:nvPicPr>
                      <p:cNvPr id="78875" name="Object 27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3852863" y="3101975"/>
                        <a:ext cx="3887787" cy="291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6" name="Object 28"/>
          <p:cNvGraphicFramePr>
            <a:graphicFrameLocks noChangeAspect="1"/>
          </p:cNvGraphicFramePr>
          <p:nvPr/>
        </p:nvGraphicFramePr>
        <p:xfrm>
          <a:off x="3103563" y="5837238"/>
          <a:ext cx="24765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Equation" r:id="rId16" imgW="1066680" imgH="203040" progId="Equation.3">
                  <p:embed/>
                </p:oleObj>
              </mc:Choice>
              <mc:Fallback>
                <p:oleObj name="Equation" r:id="rId16" imgW="1066680" imgH="203040" progId="Equation.3">
                  <p:embed/>
                  <p:pic>
                    <p:nvPicPr>
                      <p:cNvPr id="7887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3" y="5837238"/>
                        <a:ext cx="2476500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2" name="Object 14"/>
          <p:cNvGraphicFramePr>
            <a:graphicFrameLocks noChangeAspect="1"/>
          </p:cNvGraphicFramePr>
          <p:nvPr/>
        </p:nvGraphicFramePr>
        <p:xfrm>
          <a:off x="900113" y="2813050"/>
          <a:ext cx="651668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7" name="Equation" r:id="rId18" imgW="2806560" imgH="203040" progId="Equation.3">
                  <p:embed/>
                </p:oleObj>
              </mc:Choice>
              <mc:Fallback>
                <p:oleObj name="Equation" r:id="rId18" imgW="2806560" imgH="203040" progId="Equation.3">
                  <p:embed/>
                  <p:pic>
                    <p:nvPicPr>
                      <p:cNvPr id="7886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813050"/>
                        <a:ext cx="6516687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58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2000"/>
                                        <p:tgtEl>
                                          <p:spTgt spid="7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1" dur="2000"/>
                                        <p:tgtEl>
                                          <p:spTgt spid="7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6" dur="2000"/>
                                        <p:tgtEl>
                                          <p:spTgt spid="7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8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8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/>
      <p:bldP spid="7886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5759871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Circuitos</a:t>
            </a:r>
            <a:r>
              <a:rPr lang="en-US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OR-AND 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(4 variáveis)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graphicFrame>
        <p:nvGraphicFramePr>
          <p:cNvPr id="83973" name="Object 5"/>
          <p:cNvGraphicFramePr>
            <a:graphicFrameLocks noChangeAspect="1"/>
          </p:cNvGraphicFramePr>
          <p:nvPr/>
        </p:nvGraphicFramePr>
        <p:xfrm>
          <a:off x="395288" y="984250"/>
          <a:ext cx="3227387" cy="453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name="Document" r:id="rId4" imgW="6217200" imgH="4067280" progId="Word.Document.8">
                  <p:embed/>
                </p:oleObj>
              </mc:Choice>
              <mc:Fallback>
                <p:oleObj name="Document" r:id="rId4" imgW="6217200" imgH="4067280" progId="Word.Document.8">
                  <p:embed/>
                  <p:pic>
                    <p:nvPicPr>
                      <p:cNvPr id="839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71" r="46323" b="22128"/>
                      <a:stretch>
                        <a:fillRect/>
                      </a:stretch>
                    </p:blipFill>
                    <p:spPr bwMode="auto">
                      <a:xfrm>
                        <a:off x="395288" y="984250"/>
                        <a:ext cx="3227387" cy="453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8" name="Object 10"/>
          <p:cNvGraphicFramePr>
            <a:graphicFrameLocks noChangeAspect="1"/>
          </p:cNvGraphicFramePr>
          <p:nvPr/>
        </p:nvGraphicFramePr>
        <p:xfrm>
          <a:off x="1858739" y="5765800"/>
          <a:ext cx="508952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5" name="Equação" r:id="rId6" imgW="2577960" imgH="203040" progId="Equation.3">
                  <p:embed/>
                </p:oleObj>
              </mc:Choice>
              <mc:Fallback>
                <p:oleObj name="Equação" r:id="rId6" imgW="2577960" imgH="203040" progId="Equation.3">
                  <p:embed/>
                  <p:pic>
                    <p:nvPicPr>
                      <p:cNvPr id="8397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739" y="5765800"/>
                        <a:ext cx="5089525" cy="40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0" name="Text Box 12"/>
          <p:cNvSpPr txBox="1">
            <a:spLocks noChangeArrowheads="1"/>
          </p:cNvSpPr>
          <p:nvPr/>
        </p:nvSpPr>
        <p:spPr bwMode="auto">
          <a:xfrm>
            <a:off x="4630738" y="4508500"/>
            <a:ext cx="2223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pt-PT" u="none" dirty="0"/>
              <a:t> </a:t>
            </a:r>
            <a:r>
              <a:rPr lang="pt-PT" u="none" dirty="0">
                <a:solidFill>
                  <a:srgbClr val="003366"/>
                </a:solidFill>
              </a:rPr>
              <a:t>implicados primos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83981" name="Text Box 13"/>
          <p:cNvSpPr txBox="1">
            <a:spLocks noChangeArrowheads="1"/>
          </p:cNvSpPr>
          <p:nvPr/>
        </p:nvSpPr>
        <p:spPr bwMode="auto">
          <a:xfrm>
            <a:off x="4630738" y="4803775"/>
            <a:ext cx="1987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pt-PT" u="none" dirty="0"/>
              <a:t> </a:t>
            </a:r>
            <a:r>
              <a:rPr lang="pt-PT" u="none" dirty="0">
                <a:solidFill>
                  <a:srgbClr val="003366"/>
                </a:solidFill>
              </a:rPr>
              <a:t>células distintas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83982" name="Text Box 14"/>
          <p:cNvSpPr txBox="1">
            <a:spLocks noChangeArrowheads="1"/>
          </p:cNvSpPr>
          <p:nvPr/>
        </p:nvSpPr>
        <p:spPr bwMode="auto">
          <a:xfrm>
            <a:off x="4630738" y="5102225"/>
            <a:ext cx="33650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pt-PT" u="none" dirty="0"/>
              <a:t> </a:t>
            </a:r>
            <a:r>
              <a:rPr lang="pt-PT" u="none" dirty="0">
                <a:solidFill>
                  <a:srgbClr val="003366"/>
                </a:solidFill>
              </a:rPr>
              <a:t>implicados primos essenciais</a:t>
            </a:r>
            <a:endParaRPr lang="en-US" u="none" dirty="0">
              <a:solidFill>
                <a:srgbClr val="003366"/>
              </a:solidFill>
            </a:endParaRPr>
          </a:p>
        </p:txBody>
      </p:sp>
      <p:graphicFrame>
        <p:nvGraphicFramePr>
          <p:cNvPr id="83983" name="Object 1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27538" y="868363"/>
          <a:ext cx="3441700" cy="364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6" name="Presentation" r:id="rId8" imgW="4571851" imgH="3429131" progId="PowerPoint.Show.8">
                  <p:embed/>
                </p:oleObj>
              </mc:Choice>
              <mc:Fallback>
                <p:oleObj name="Presentation" r:id="rId8" imgW="4571851" imgH="3429131" progId="PowerPoint.Show.8">
                  <p:embed/>
                  <p:pic>
                    <p:nvPicPr>
                      <p:cNvPr id="83983" name="Object 15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2598" r="51183" b="23096"/>
                      <a:stretch>
                        <a:fillRect/>
                      </a:stretch>
                    </p:blipFill>
                    <p:spPr bwMode="auto">
                      <a:xfrm>
                        <a:off x="4427538" y="868363"/>
                        <a:ext cx="3441700" cy="3640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4" name="Object 16"/>
          <p:cNvGraphicFramePr>
            <a:graphicFrameLocks noChangeAspect="1"/>
          </p:cNvGraphicFramePr>
          <p:nvPr/>
        </p:nvGraphicFramePr>
        <p:xfrm>
          <a:off x="386392" y="980728"/>
          <a:ext cx="3222625" cy="454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7" name="Document" r:id="rId10" imgW="6207840" imgH="4070520" progId="Word.Document.8">
                  <p:embed/>
                </p:oleObj>
              </mc:Choice>
              <mc:Fallback>
                <p:oleObj name="Document" r:id="rId10" imgW="6207840" imgH="4070520" progId="Word.Document.8">
                  <p:embed/>
                  <p:pic>
                    <p:nvPicPr>
                      <p:cNvPr id="8398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71" r="46323" b="22128"/>
                      <a:stretch>
                        <a:fillRect/>
                      </a:stretch>
                    </p:blipFill>
                    <p:spPr bwMode="auto">
                      <a:xfrm>
                        <a:off x="386392" y="980728"/>
                        <a:ext cx="3222625" cy="454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7" name="Object 1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27538" y="873125"/>
          <a:ext cx="3441700" cy="364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Presentation" r:id="rId12" imgW="4571851" imgH="3429131" progId="PowerPoint.Show.8">
                  <p:embed/>
                </p:oleObj>
              </mc:Choice>
              <mc:Fallback>
                <p:oleObj name="Presentation" r:id="rId12" imgW="4571851" imgH="3429131" progId="PowerPoint.Show.8">
                  <p:embed/>
                  <p:pic>
                    <p:nvPicPr>
                      <p:cNvPr id="83987" name="Object 19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49" t="12598" r="51183" b="23096"/>
                      <a:stretch>
                        <a:fillRect/>
                      </a:stretch>
                    </p:blipFill>
                    <p:spPr bwMode="auto">
                      <a:xfrm>
                        <a:off x="4427538" y="873125"/>
                        <a:ext cx="3441700" cy="364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8" name="Object 20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079642"/>
              </p:ext>
            </p:extLst>
          </p:nvPr>
        </p:nvGraphicFramePr>
        <p:xfrm>
          <a:off x="4432300" y="868363"/>
          <a:ext cx="3440113" cy="363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Presentation" r:id="rId14" imgW="4571116" imgH="3428159" progId="PowerPoint.Show.8">
                  <p:embed/>
                </p:oleObj>
              </mc:Choice>
              <mc:Fallback>
                <p:oleObj name="Presentation" r:id="rId14" imgW="4571116" imgH="3428159" progId="PowerPoint.Show.8">
                  <p:embed/>
                  <p:pic>
                    <p:nvPicPr>
                      <p:cNvPr id="83988" name="Object 20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 l="3149" t="12598" r="51183" b="23096"/>
                      <a:stretch>
                        <a:fillRect/>
                      </a:stretch>
                    </p:blipFill>
                    <p:spPr bwMode="auto">
                      <a:xfrm>
                        <a:off x="4432300" y="868363"/>
                        <a:ext cx="3440113" cy="363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0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429628"/>
              </p:ext>
            </p:extLst>
          </p:nvPr>
        </p:nvGraphicFramePr>
        <p:xfrm>
          <a:off x="4444256" y="879475"/>
          <a:ext cx="3440112" cy="363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Presentation" r:id="rId16" imgW="4571116" imgH="3428159" progId="PowerPoint.Show.8">
                  <p:embed/>
                </p:oleObj>
              </mc:Choice>
              <mc:Fallback>
                <p:oleObj name="Presentation" r:id="rId16" imgW="4571116" imgH="3428159" progId="PowerPoint.Show.8">
                  <p:embed/>
                  <p:pic>
                    <p:nvPicPr>
                      <p:cNvPr id="3" name="Object 20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 l="3149" t="12598" r="51183" b="23096"/>
                      <a:stretch>
                        <a:fillRect/>
                      </a:stretch>
                    </p:blipFill>
                    <p:spPr bwMode="auto">
                      <a:xfrm>
                        <a:off x="4444256" y="879475"/>
                        <a:ext cx="3440112" cy="363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441203"/>
              </p:ext>
            </p:extLst>
          </p:nvPr>
        </p:nvGraphicFramePr>
        <p:xfrm>
          <a:off x="4451919" y="916543"/>
          <a:ext cx="3440112" cy="363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1" name="Presentation" r:id="rId18" imgW="4336497" imgH="3252125" progId="PowerPoint.Show.8">
                  <p:embed/>
                </p:oleObj>
              </mc:Choice>
              <mc:Fallback>
                <p:oleObj name="Presentation" r:id="rId18" imgW="4336497" imgH="3252125" progId="PowerPoint.Show.8">
                  <p:embed/>
                  <p:pic>
                    <p:nvPicPr>
                      <p:cNvPr id="4" name="Object 14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 l="3149" t="12598" r="51183" b="23096"/>
                      <a:stretch>
                        <a:fillRect/>
                      </a:stretch>
                    </p:blipFill>
                    <p:spPr bwMode="auto">
                      <a:xfrm>
                        <a:off x="4451919" y="916543"/>
                        <a:ext cx="3440112" cy="363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931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8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8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3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83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39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3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83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39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3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83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3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3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80" grpId="0"/>
      <p:bldP spid="83981" grpId="0"/>
      <p:bldP spid="8398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468313" y="908050"/>
            <a:ext cx="835342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No mapa de </a:t>
            </a:r>
            <a:r>
              <a:rPr lang="pt-PT" u="none" dirty="0" err="1">
                <a:solidFill>
                  <a:srgbClr val="003366"/>
                </a:solidFill>
              </a:rPr>
              <a:t>Karnaugh</a:t>
            </a:r>
            <a:r>
              <a:rPr lang="pt-PT" u="none" dirty="0">
                <a:solidFill>
                  <a:srgbClr val="003366"/>
                </a:solidFill>
              </a:rPr>
              <a:t> as combinações irrelevantes deverão assumir valores que permitem reduzir o número de literais em cada um dos implicantes (implicados) primos (i.e. permitem aumentar as dimensões de cada conjunto de 2</a:t>
            </a:r>
            <a:r>
              <a:rPr lang="pt-PT" u="none" baseline="30000" dirty="0">
                <a:solidFill>
                  <a:srgbClr val="003366"/>
                </a:solidFill>
              </a:rPr>
              <a:t>n</a:t>
            </a:r>
            <a:r>
              <a:rPr lang="pt-PT" u="none" dirty="0">
                <a:solidFill>
                  <a:srgbClr val="003366"/>
                </a:solidFill>
              </a:rPr>
              <a:t> células).   </a:t>
            </a:r>
            <a:endParaRPr lang="en-US" u="none" dirty="0">
              <a:solidFill>
                <a:srgbClr val="003366"/>
              </a:solidFill>
            </a:endParaRPr>
          </a:p>
        </p:txBody>
      </p:sp>
      <p:graphicFrame>
        <p:nvGraphicFramePr>
          <p:cNvPr id="88069" name="Object 5"/>
          <p:cNvGraphicFramePr>
            <a:graphicFrameLocks noChangeAspect="1"/>
          </p:cNvGraphicFramePr>
          <p:nvPr/>
        </p:nvGraphicFramePr>
        <p:xfrm>
          <a:off x="566738" y="2493963"/>
          <a:ext cx="2636837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8" name="Document" r:id="rId4" imgW="6217200" imgH="4067280" progId="Word.Document.8">
                  <p:embed/>
                </p:oleObj>
              </mc:Choice>
              <mc:Fallback>
                <p:oleObj name="Document" r:id="rId4" imgW="6217200" imgH="4067280" progId="Word.Document.8">
                  <p:embed/>
                  <p:pic>
                    <p:nvPicPr>
                      <p:cNvPr id="880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55063" b="57532"/>
                      <a:stretch>
                        <a:fillRect/>
                      </a:stretch>
                    </p:blipFill>
                    <p:spPr bwMode="auto">
                      <a:xfrm>
                        <a:off x="566738" y="2493963"/>
                        <a:ext cx="2636837" cy="266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1" name="Object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957638" y="2338388"/>
          <a:ext cx="3887787" cy="291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9" name="Presentation" r:id="rId6" imgW="4571851" imgH="3429131" progId="PowerPoint.Show.8">
                  <p:embed/>
                </p:oleObj>
              </mc:Choice>
              <mc:Fallback>
                <p:oleObj name="Presentation" r:id="rId6" imgW="4571851" imgH="3429131" progId="PowerPoint.Show.8">
                  <p:embed/>
                  <p:pic>
                    <p:nvPicPr>
                      <p:cNvPr id="88071" name="Object 7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3957638" y="2338388"/>
                        <a:ext cx="3887787" cy="291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5" name="Object 11"/>
          <p:cNvGraphicFramePr>
            <a:graphicFrameLocks noChangeAspect="1"/>
          </p:cNvGraphicFramePr>
          <p:nvPr/>
        </p:nvGraphicFramePr>
        <p:xfrm>
          <a:off x="3675063" y="5516563"/>
          <a:ext cx="1976437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0" name="Equation" r:id="rId8" imgW="850680" imgH="203040" progId="Equation.3">
                  <p:embed/>
                </p:oleObj>
              </mc:Choice>
              <mc:Fallback>
                <p:oleObj name="Equation" r:id="rId8" imgW="850680" imgH="203040" progId="Equation.3">
                  <p:embed/>
                  <p:pic>
                    <p:nvPicPr>
                      <p:cNvPr id="8807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5063" y="5516563"/>
                        <a:ext cx="1976437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7" name="WordArt 13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561657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Condições</a:t>
            </a:r>
            <a:r>
              <a:rPr lang="en-US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en-US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irrelevantes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graphicFrame>
        <p:nvGraphicFramePr>
          <p:cNvPr id="88078" name="Object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957638" y="2338388"/>
          <a:ext cx="3887787" cy="291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1" name="Presentation" r:id="rId10" imgW="4571851" imgH="3429131" progId="PowerPoint.Show.8">
                  <p:embed/>
                </p:oleObj>
              </mc:Choice>
              <mc:Fallback>
                <p:oleObj name="Presentation" r:id="rId10" imgW="4571851" imgH="3429131" progId="PowerPoint.Show.8">
                  <p:embed/>
                  <p:pic>
                    <p:nvPicPr>
                      <p:cNvPr id="88078" name="Object 14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3957638" y="2338388"/>
                        <a:ext cx="3887787" cy="291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9" name="Object 1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957638" y="2338388"/>
          <a:ext cx="3887787" cy="291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2" name="Presentation" r:id="rId12" imgW="4571851" imgH="3429131" progId="PowerPoint.Show.8">
                  <p:embed/>
                </p:oleObj>
              </mc:Choice>
              <mc:Fallback>
                <p:oleObj name="Presentation" r:id="rId12" imgW="4571851" imgH="3429131" progId="PowerPoint.Show.8">
                  <p:embed/>
                  <p:pic>
                    <p:nvPicPr>
                      <p:cNvPr id="88079" name="Object 15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3957638" y="2338388"/>
                        <a:ext cx="3887787" cy="291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80" name="Object 1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957638" y="2338388"/>
          <a:ext cx="3887787" cy="291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3" name="Presentation" r:id="rId14" imgW="4571851" imgH="3429131" progId="PowerPoint.Show.8">
                  <p:embed/>
                </p:oleObj>
              </mc:Choice>
              <mc:Fallback>
                <p:oleObj name="Presentation" r:id="rId14" imgW="4571851" imgH="3429131" progId="PowerPoint.Show.8">
                  <p:embed/>
                  <p:pic>
                    <p:nvPicPr>
                      <p:cNvPr id="88080" name="Object 16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7" t="12598" r="55907" b="47243"/>
                      <a:stretch>
                        <a:fillRect/>
                      </a:stretch>
                    </p:blipFill>
                    <p:spPr bwMode="auto">
                      <a:xfrm>
                        <a:off x="3957638" y="2338388"/>
                        <a:ext cx="3887787" cy="291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443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8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8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8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2519362" cy="3825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Exercícios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31777" name="Text Box 33"/>
          <p:cNvSpPr txBox="1">
            <a:spLocks noChangeArrowheads="1"/>
          </p:cNvSpPr>
          <p:nvPr/>
        </p:nvSpPr>
        <p:spPr bwMode="auto">
          <a:xfrm>
            <a:off x="323850" y="908720"/>
            <a:ext cx="86407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Obtenha a forma mínima da função </a:t>
            </a:r>
            <a:r>
              <a:rPr lang="pt-PT" i="1" u="none" dirty="0">
                <a:solidFill>
                  <a:srgbClr val="003366"/>
                </a:solidFill>
              </a:rPr>
              <a:t>f </a:t>
            </a:r>
            <a:r>
              <a:rPr lang="pt-PT" u="none" dirty="0">
                <a:solidFill>
                  <a:srgbClr val="003366"/>
                </a:solidFill>
              </a:rPr>
              <a:t>na soma de produtos e produto de somas com o método de </a:t>
            </a:r>
            <a:r>
              <a:rPr lang="pt-PT" u="none" dirty="0" err="1">
                <a:solidFill>
                  <a:srgbClr val="003366"/>
                </a:solidFill>
              </a:rPr>
              <a:t>Karnaugh</a:t>
            </a:r>
            <a:r>
              <a:rPr lang="pt-PT" u="none" dirty="0">
                <a:solidFill>
                  <a:srgbClr val="003366"/>
                </a:solidFill>
              </a:rPr>
              <a:t>.</a:t>
            </a:r>
            <a:endParaRPr lang="en-US" u="none" dirty="0">
              <a:solidFill>
                <a:srgbClr val="003366"/>
              </a:solidFill>
            </a:endParaRPr>
          </a:p>
        </p:txBody>
      </p:sp>
      <p:graphicFrame>
        <p:nvGraphicFramePr>
          <p:cNvPr id="31778" name="Object 34"/>
          <p:cNvGraphicFramePr>
            <a:graphicFrameLocks noChangeAspect="1"/>
          </p:cNvGraphicFramePr>
          <p:nvPr/>
        </p:nvGraphicFramePr>
        <p:xfrm>
          <a:off x="2124075" y="2276872"/>
          <a:ext cx="44370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2" name="Equation" r:id="rId4" imgW="2273040" imgH="203040" progId="Equation.3">
                  <p:embed/>
                </p:oleObj>
              </mc:Choice>
              <mc:Fallback>
                <p:oleObj name="Equation" r:id="rId4" imgW="2273040" imgH="203040" progId="Equation.3">
                  <p:embed/>
                  <p:pic>
                    <p:nvPicPr>
                      <p:cNvPr id="31778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276872"/>
                        <a:ext cx="4437063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6"/>
          <p:cNvGraphicFramePr>
            <a:graphicFrameLocks noChangeAspect="1"/>
          </p:cNvGraphicFramePr>
          <p:nvPr/>
        </p:nvGraphicFramePr>
        <p:xfrm>
          <a:off x="2411760" y="1700808"/>
          <a:ext cx="34194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3" name="Equation" r:id="rId6" imgW="1752480" imgH="203040" progId="Equation.3">
                  <p:embed/>
                </p:oleObj>
              </mc:Choice>
              <mc:Fallback>
                <p:oleObj name="Equation" r:id="rId6" imgW="1752480" imgH="203040" progId="Equation.3">
                  <p:embed/>
                  <p:pic>
                    <p:nvPicPr>
                      <p:cNvPr id="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700808"/>
                        <a:ext cx="3419475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33"/>
          <p:cNvSpPr txBox="1">
            <a:spLocks noChangeArrowheads="1"/>
          </p:cNvSpPr>
          <p:nvPr/>
        </p:nvSpPr>
        <p:spPr bwMode="auto">
          <a:xfrm>
            <a:off x="395536" y="2924944"/>
            <a:ext cx="864076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Determine a forma mínima das funções representadas nos seguintes mapas de </a:t>
            </a:r>
            <a:r>
              <a:rPr lang="pt-PT" u="none" dirty="0" err="1">
                <a:solidFill>
                  <a:srgbClr val="003366"/>
                </a:solidFill>
              </a:rPr>
              <a:t>Karnaugh</a:t>
            </a:r>
            <a:r>
              <a:rPr lang="pt-PT" u="none" dirty="0">
                <a:solidFill>
                  <a:srgbClr val="003366"/>
                </a:solidFill>
              </a:rPr>
              <a:t> (na soma de produtos e produto de somas):</a:t>
            </a:r>
            <a:endParaRPr lang="en-US" u="none" dirty="0">
              <a:solidFill>
                <a:srgbClr val="003366"/>
              </a:solidFill>
            </a:endParaRPr>
          </a:p>
        </p:txBody>
      </p:sp>
      <p:graphicFrame>
        <p:nvGraphicFramePr>
          <p:cNvPr id="83991" name="Object 2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403350" y="3645024"/>
          <a:ext cx="2486025" cy="254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4" name="Presentation" r:id="rId8" imgW="4570465" imgH="3427468" progId="PowerPoint.Show.8">
                  <p:embed/>
                </p:oleObj>
              </mc:Choice>
              <mc:Fallback>
                <p:oleObj name="Presentation" r:id="rId8" imgW="4570465" imgH="3427468" progId="PowerPoint.Show.8">
                  <p:embed/>
                  <p:pic>
                    <p:nvPicPr>
                      <p:cNvPr id="83991" name="Object 23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726" t="14705" r="53561" b="28358"/>
                      <a:stretch>
                        <a:fillRect/>
                      </a:stretch>
                    </p:blipFill>
                    <p:spPr bwMode="auto">
                      <a:xfrm>
                        <a:off x="1403350" y="3645024"/>
                        <a:ext cx="2486025" cy="2549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750271" y="3645024"/>
          <a:ext cx="2486025" cy="254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5" name="Presentation" r:id="rId10" imgW="4570465" imgH="3427468" progId="PowerPoint.Show.8">
                  <p:embed/>
                </p:oleObj>
              </mc:Choice>
              <mc:Fallback>
                <p:oleObj name="Presentation" r:id="rId10" imgW="4570465" imgH="3427468" progId="PowerPoint.Show.8">
                  <p:embed/>
                  <p:pic>
                    <p:nvPicPr>
                      <p:cNvPr id="3" name="Object 23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726" t="14705" r="53561" b="28358"/>
                      <a:stretch>
                        <a:fillRect/>
                      </a:stretch>
                    </p:blipFill>
                    <p:spPr bwMode="auto">
                      <a:xfrm>
                        <a:off x="4750271" y="3645024"/>
                        <a:ext cx="2486025" cy="2549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74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Art 2"/>
          <p:cNvSpPr>
            <a:spLocks noChangeArrowheads="1" noChangeShapeType="1" noTextEdit="1"/>
          </p:cNvSpPr>
          <p:nvPr/>
        </p:nvSpPr>
        <p:spPr bwMode="auto">
          <a:xfrm>
            <a:off x="468312" y="260350"/>
            <a:ext cx="3887664" cy="50435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Exercícios (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cont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1340768"/>
            <a:ext cx="86409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rgbClr val="003366"/>
                </a:solidFill>
              </a:rPr>
              <a:t>Encontre exemplos de funções de 4 variáveis que obedeçam aos seguintes critérios:</a:t>
            </a:r>
          </a:p>
          <a:p>
            <a:endParaRPr lang="pt-PT" dirty="0">
              <a:solidFill>
                <a:srgbClr val="003366"/>
              </a:solidFill>
            </a:endParaRPr>
          </a:p>
          <a:p>
            <a:pPr marL="285750" indent="-285750">
              <a:buFontTx/>
              <a:buChar char="-"/>
            </a:pPr>
            <a:r>
              <a:rPr lang="pt-PT" dirty="0">
                <a:solidFill>
                  <a:srgbClr val="003366"/>
                </a:solidFill>
              </a:rPr>
              <a:t>têm duas formas mínimas;</a:t>
            </a:r>
          </a:p>
          <a:p>
            <a:pPr marL="285750" indent="-285750">
              <a:buFontTx/>
              <a:buChar char="-"/>
            </a:pPr>
            <a:endParaRPr lang="pt-PT" dirty="0">
              <a:solidFill>
                <a:srgbClr val="003366"/>
              </a:solidFill>
            </a:endParaRPr>
          </a:p>
          <a:p>
            <a:pPr marL="285750" indent="-285750">
              <a:buFontTx/>
              <a:buChar char="-"/>
            </a:pPr>
            <a:r>
              <a:rPr lang="pt-PT" dirty="0">
                <a:solidFill>
                  <a:srgbClr val="003366"/>
                </a:solidFill>
              </a:rPr>
              <a:t>a soma de produtos mínima e o produto de somas mínimo têm o </a:t>
            </a:r>
            <a:r>
              <a:rPr lang="pt-PT" u="sng" dirty="0">
                <a:solidFill>
                  <a:srgbClr val="003366"/>
                </a:solidFill>
              </a:rPr>
              <a:t>mesmo número de termos e literais</a:t>
            </a:r>
            <a:r>
              <a:rPr lang="pt-PT" dirty="0">
                <a:solidFill>
                  <a:srgbClr val="003366"/>
                </a:solidFill>
              </a:rPr>
              <a:t>;</a:t>
            </a:r>
          </a:p>
          <a:p>
            <a:pPr marL="285750" indent="-285750">
              <a:buFontTx/>
              <a:buChar char="-"/>
            </a:pPr>
            <a:endParaRPr lang="pt-PT" dirty="0">
              <a:solidFill>
                <a:srgbClr val="003366"/>
              </a:solidFill>
            </a:endParaRPr>
          </a:p>
          <a:p>
            <a:pPr marL="285750" indent="-285750">
              <a:buFontTx/>
              <a:buChar char="-"/>
            </a:pPr>
            <a:r>
              <a:rPr lang="pt-PT" dirty="0">
                <a:solidFill>
                  <a:srgbClr val="003366"/>
                </a:solidFill>
              </a:rPr>
              <a:t>a soma de produtos mínima tem </a:t>
            </a:r>
            <a:r>
              <a:rPr lang="pt-PT" u="sng" dirty="0">
                <a:solidFill>
                  <a:srgbClr val="003366"/>
                </a:solidFill>
              </a:rPr>
              <a:t>menos termos e literais</a:t>
            </a:r>
            <a:r>
              <a:rPr lang="pt-PT" dirty="0">
                <a:solidFill>
                  <a:srgbClr val="003366"/>
                </a:solidFill>
              </a:rPr>
              <a:t> que o produto de somas mínimo;</a:t>
            </a:r>
          </a:p>
          <a:p>
            <a:pPr marL="285750" indent="-285750">
              <a:buFontTx/>
              <a:buChar char="-"/>
            </a:pPr>
            <a:endParaRPr lang="pt-PT" dirty="0">
              <a:solidFill>
                <a:srgbClr val="003366"/>
              </a:solidFill>
            </a:endParaRPr>
          </a:p>
          <a:p>
            <a:pPr marL="285750" indent="-285750">
              <a:buFontTx/>
              <a:buChar char="-"/>
            </a:pPr>
            <a:r>
              <a:rPr lang="pt-PT" dirty="0">
                <a:solidFill>
                  <a:srgbClr val="003366"/>
                </a:solidFill>
              </a:rPr>
              <a:t>a soma de produtos mínima tem </a:t>
            </a:r>
            <a:r>
              <a:rPr lang="pt-PT" u="sng" dirty="0">
                <a:solidFill>
                  <a:srgbClr val="003366"/>
                </a:solidFill>
              </a:rPr>
              <a:t>mais termos e literais</a:t>
            </a:r>
            <a:r>
              <a:rPr lang="pt-PT" dirty="0">
                <a:solidFill>
                  <a:srgbClr val="003366"/>
                </a:solidFill>
              </a:rPr>
              <a:t> que o produto de somas mínimo.</a:t>
            </a:r>
          </a:p>
        </p:txBody>
      </p:sp>
    </p:spTree>
    <p:extLst>
      <p:ext uri="{BB962C8B-B14F-4D97-AF65-F5344CB8AC3E}">
        <p14:creationId xmlns:p14="http://schemas.microsoft.com/office/powerpoint/2010/main" val="16339181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7" name="Text Box 33"/>
          <p:cNvSpPr txBox="1">
            <a:spLocks noChangeArrowheads="1"/>
          </p:cNvSpPr>
          <p:nvPr/>
        </p:nvSpPr>
        <p:spPr bwMode="auto">
          <a:xfrm>
            <a:off x="323850" y="908720"/>
            <a:ext cx="864076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Preencha diretamente o mapa de Karnaugh da seguinte função e obtenha a soma de produtos mínima:</a:t>
            </a:r>
            <a:endParaRPr lang="en-US" u="none" dirty="0">
              <a:solidFill>
                <a:srgbClr val="003366"/>
              </a:solidFill>
            </a:endParaRPr>
          </a:p>
        </p:txBody>
      </p:sp>
      <p:graphicFrame>
        <p:nvGraphicFramePr>
          <p:cNvPr id="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990010"/>
              </p:ext>
            </p:extLst>
          </p:nvPr>
        </p:nvGraphicFramePr>
        <p:xfrm>
          <a:off x="2101850" y="1700213"/>
          <a:ext cx="40386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6" name="Equation" r:id="rId4" imgW="2070000" imgH="203040" progId="Equation.3">
                  <p:embed/>
                </p:oleObj>
              </mc:Choice>
              <mc:Fallback>
                <p:oleObj name="Equation" r:id="rId4" imgW="2070000" imgH="203040" progId="Equation.3">
                  <p:embed/>
                  <p:pic>
                    <p:nvPicPr>
                      <p:cNvPr id="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850" y="1700213"/>
                        <a:ext cx="4038600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33"/>
          <p:cNvSpPr txBox="1">
            <a:spLocks noChangeArrowheads="1"/>
          </p:cNvSpPr>
          <p:nvPr/>
        </p:nvSpPr>
        <p:spPr bwMode="auto">
          <a:xfrm>
            <a:off x="395536" y="2708920"/>
            <a:ext cx="864076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003366"/>
                </a:solidFill>
              </a:rPr>
              <a:t>Encontre um exemplo de função de 3 variáveis para a qual a soma de produtos mínima tem </a:t>
            </a:r>
            <a:r>
              <a:rPr lang="pt-PT" u="sng" dirty="0">
                <a:solidFill>
                  <a:srgbClr val="003366"/>
                </a:solidFill>
              </a:rPr>
              <a:t>menos termos e literais</a:t>
            </a:r>
            <a:r>
              <a:rPr lang="pt-PT" dirty="0">
                <a:solidFill>
                  <a:srgbClr val="003366"/>
                </a:solidFill>
              </a:rPr>
              <a:t> que o produto de somas mínimo.</a:t>
            </a:r>
          </a:p>
        </p:txBody>
      </p:sp>
      <p:sp>
        <p:nvSpPr>
          <p:cNvPr id="6" name="WordArt 2"/>
          <p:cNvSpPr>
            <a:spLocks noChangeArrowheads="1" noChangeShapeType="1" noTextEdit="1"/>
          </p:cNvSpPr>
          <p:nvPr/>
        </p:nvSpPr>
        <p:spPr bwMode="auto">
          <a:xfrm>
            <a:off x="468312" y="260350"/>
            <a:ext cx="3887664" cy="50435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Exercícios (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cont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.)</a:t>
            </a:r>
          </a:p>
        </p:txBody>
      </p:sp>
      <p:sp>
        <p:nvSpPr>
          <p:cNvPr id="7" name="Text Box 33"/>
          <p:cNvSpPr txBox="1">
            <a:spLocks noChangeArrowheads="1"/>
          </p:cNvSpPr>
          <p:nvPr/>
        </p:nvSpPr>
        <p:spPr bwMode="auto">
          <a:xfrm>
            <a:off x="395536" y="3934797"/>
            <a:ext cx="864076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003366"/>
                </a:solidFill>
              </a:rPr>
              <a:t>Quantos implicantes primos e implicantes primos essenciais tem a função seguinte?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691843"/>
              </p:ext>
            </p:extLst>
          </p:nvPr>
        </p:nvGraphicFramePr>
        <p:xfrm>
          <a:off x="1876425" y="4675188"/>
          <a:ext cx="45339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" name="Equation" r:id="rId6" imgW="2323800" imgH="253800" progId="Equation.3">
                  <p:embed/>
                </p:oleObj>
              </mc:Choice>
              <mc:Fallback>
                <p:oleObj name="Equation" r:id="rId6" imgW="2323800" imgH="25380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5" y="4675188"/>
                        <a:ext cx="453390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03538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WordArt 7"/>
          <p:cNvSpPr>
            <a:spLocks noChangeArrowheads="1" noChangeShapeType="1" noTextEdit="1"/>
          </p:cNvSpPr>
          <p:nvPr/>
        </p:nvSpPr>
        <p:spPr bwMode="auto">
          <a:xfrm>
            <a:off x="1547813" y="3789040"/>
            <a:ext cx="5761037" cy="165596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i="1" u="none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80000"/>
                    </a:srgbClr>
                  </a:outerShdw>
                </a:effectLst>
                <a:latin typeface="Arial Black"/>
              </a:rPr>
              <a:t>Síntese de circuitos combinatórios</a:t>
            </a:r>
          </a:p>
          <a:p>
            <a:pPr algn="ctr">
              <a:defRPr/>
            </a:pPr>
            <a:r>
              <a:rPr lang="pt-PT" sz="3600" i="1" u="none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80000"/>
                    </a:srgbClr>
                  </a:outerShdw>
                </a:effectLst>
                <a:latin typeface="Arial Black"/>
              </a:rPr>
              <a:t>Manipulação de circuitos</a:t>
            </a:r>
          </a:p>
        </p:txBody>
      </p:sp>
      <p:sp>
        <p:nvSpPr>
          <p:cNvPr id="5" name="WordArt 4"/>
          <p:cNvSpPr>
            <a:spLocks noChangeArrowheads="1" noChangeShapeType="1" noTextEdit="1"/>
          </p:cNvSpPr>
          <p:nvPr/>
        </p:nvSpPr>
        <p:spPr bwMode="auto">
          <a:xfrm>
            <a:off x="755577" y="216024"/>
            <a:ext cx="7488832" cy="184482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Introdução</a:t>
            </a:r>
            <a:r>
              <a:rPr lang="en-US" sz="3600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aos</a:t>
            </a:r>
            <a:endParaRPr lang="en-US" sz="3600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  <a:p>
            <a:pPr algn="ctr"/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Sistemas</a:t>
            </a:r>
            <a:r>
              <a:rPr lang="en-US" sz="3600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Digitais</a:t>
            </a:r>
            <a:endParaRPr lang="en-US" sz="3600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334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6119812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Síntese de circuitos</a:t>
            </a:r>
          </a:p>
        </p:txBody>
      </p:sp>
      <p:sp>
        <p:nvSpPr>
          <p:cNvPr id="72" name="Text Box 33"/>
          <p:cNvSpPr txBox="1">
            <a:spLocks noChangeArrowheads="1"/>
          </p:cNvSpPr>
          <p:nvPr/>
        </p:nvSpPr>
        <p:spPr bwMode="auto">
          <a:xfrm>
            <a:off x="323850" y="908720"/>
            <a:ext cx="864076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Partir de uma descrição da função pretendida e sintetizar o circuito que implementa esta função.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73" name="Text Box 33"/>
          <p:cNvSpPr txBox="1">
            <a:spLocks noChangeArrowheads="1"/>
          </p:cNvSpPr>
          <p:nvPr/>
        </p:nvSpPr>
        <p:spPr bwMode="auto">
          <a:xfrm>
            <a:off x="467544" y="3563724"/>
            <a:ext cx="842473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dirty="0">
                <a:latin typeface="Comic Sans MS" pitchFamily="66" charset="0"/>
              </a:rPr>
              <a:t>Construa um controlador de display de 7 segmentos (para representar dígitos decimais).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74" name="Text Box 33"/>
          <p:cNvSpPr txBox="1">
            <a:spLocks noChangeArrowheads="1"/>
          </p:cNvSpPr>
          <p:nvPr/>
        </p:nvSpPr>
        <p:spPr bwMode="auto">
          <a:xfrm>
            <a:off x="323528" y="1700808"/>
            <a:ext cx="864076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AutoNum type="arabicPeriod"/>
            </a:pPr>
            <a:r>
              <a:rPr lang="pt-PT" u="none" dirty="0">
                <a:solidFill>
                  <a:srgbClr val="003366"/>
                </a:solidFill>
              </a:rPr>
              <a:t>Identificar entradas e saídas.</a:t>
            </a:r>
          </a:p>
          <a:p>
            <a:pPr marL="342900" indent="-342900">
              <a:buAutoNum type="arabicPeriod"/>
            </a:pPr>
            <a:r>
              <a:rPr lang="pt-PT" dirty="0">
                <a:solidFill>
                  <a:srgbClr val="003366"/>
                </a:solidFill>
              </a:rPr>
              <a:t>Construir a tabela de verdade.</a:t>
            </a:r>
          </a:p>
          <a:p>
            <a:pPr marL="342900" indent="-342900">
              <a:buAutoNum type="arabicPeriod"/>
            </a:pPr>
            <a:r>
              <a:rPr lang="pt-PT" u="none" dirty="0">
                <a:solidFill>
                  <a:srgbClr val="003366"/>
                </a:solidFill>
              </a:rPr>
              <a:t>Obter expressão mínima para a(s) saída(s).</a:t>
            </a:r>
          </a:p>
          <a:p>
            <a:pPr marL="342900" indent="-342900">
              <a:buAutoNum type="arabicPeriod"/>
            </a:pPr>
            <a:r>
              <a:rPr lang="pt-PT" dirty="0">
                <a:solidFill>
                  <a:srgbClr val="003366"/>
                </a:solidFill>
              </a:rPr>
              <a:t>Desenhar o circuito.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76" name="Text Box 4"/>
          <p:cNvSpPr txBox="1">
            <a:spLocks noChangeArrowheads="1"/>
          </p:cNvSpPr>
          <p:nvPr/>
        </p:nvSpPr>
        <p:spPr bwMode="auto">
          <a:xfrm>
            <a:off x="467544" y="3062698"/>
            <a:ext cx="11480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39552" y="3956272"/>
            <a:ext cx="2922432" cy="1704976"/>
            <a:chOff x="539552" y="1124744"/>
            <a:chExt cx="2922432" cy="1704976"/>
          </a:xfrm>
        </p:grpSpPr>
        <p:pic>
          <p:nvPicPr>
            <p:cNvPr id="8" name="Picture 5" descr="7-segment display"/>
            <p:cNvPicPr>
              <a:picLocks noChangeAspect="1" noChangeArrowheads="1"/>
            </p:cNvPicPr>
            <p:nvPr/>
          </p:nvPicPr>
          <p:blipFill>
            <a:blip r:embed="rId3" cstate="print"/>
            <a:srcRect r="56201"/>
            <a:stretch>
              <a:fillRect/>
            </a:stretch>
          </p:blipFill>
          <p:spPr bwMode="auto">
            <a:xfrm>
              <a:off x="2339752" y="1124744"/>
              <a:ext cx="1122232" cy="1704976"/>
            </a:xfrm>
            <a:prstGeom prst="rect">
              <a:avLst/>
            </a:prstGeom>
            <a:noFill/>
          </p:spPr>
        </p:pic>
        <p:sp>
          <p:nvSpPr>
            <p:cNvPr id="9" name="TextBox 8"/>
            <p:cNvSpPr txBox="1"/>
            <p:nvPr/>
          </p:nvSpPr>
          <p:spPr>
            <a:xfrm>
              <a:off x="539552" y="1772816"/>
              <a:ext cx="11608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u="none">
                  <a:solidFill>
                    <a:srgbClr val="000066"/>
                  </a:solidFill>
                  <a:latin typeface="Comic Sans MS" pitchFamily="66" charset="0"/>
                </a:rPr>
                <a:t>0,1,…,</a:t>
              </a:r>
              <a:r>
                <a:rPr lang="pt-PT" sz="2400" u="none" dirty="0">
                  <a:solidFill>
                    <a:srgbClr val="000066"/>
                  </a:solidFill>
                  <a:latin typeface="Comic Sans MS" pitchFamily="66" charset="0"/>
                </a:rPr>
                <a:t>9</a:t>
              </a:r>
              <a:endParaRPr lang="en-US" sz="2400" u="none" dirty="0">
                <a:solidFill>
                  <a:srgbClr val="000066"/>
                </a:solidFill>
                <a:latin typeface="Comic Sans MS" pitchFamily="66" charset="0"/>
              </a:endParaRPr>
            </a:p>
          </p:txBody>
        </p:sp>
        <p:sp>
          <p:nvSpPr>
            <p:cNvPr id="10" name="Right Arrow 9"/>
            <p:cNvSpPr/>
            <p:nvPr/>
          </p:nvSpPr>
          <p:spPr bwMode="auto">
            <a:xfrm>
              <a:off x="1835696" y="1916832"/>
              <a:ext cx="504056" cy="14401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907704" y="1547500"/>
              <a:ext cx="456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u="none" dirty="0">
                  <a:solidFill>
                    <a:srgbClr val="000066"/>
                  </a:solidFill>
                </a:rPr>
                <a:t>?</a:t>
              </a:r>
              <a:endParaRPr lang="en-US" u="none" dirty="0">
                <a:solidFill>
                  <a:srgbClr val="000066"/>
                </a:solidFill>
              </a:endParaRPr>
            </a:p>
          </p:txBody>
        </p:sp>
      </p:grpSp>
      <p:pic>
        <p:nvPicPr>
          <p:cNvPr id="12" name="Picture 7" descr="7-segment displa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23928" y="4316312"/>
            <a:ext cx="4867275" cy="8477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418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7632079" cy="4651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Controlador de </a:t>
            </a:r>
            <a:r>
              <a:rPr lang="pt-PT" sz="3600" i="1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display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de 7 segmentos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39552" y="1124744"/>
            <a:ext cx="2922432" cy="1704976"/>
            <a:chOff x="539552" y="1124744"/>
            <a:chExt cx="2922432" cy="1704976"/>
          </a:xfrm>
        </p:grpSpPr>
        <p:pic>
          <p:nvPicPr>
            <p:cNvPr id="90117" name="Picture 5" descr="7-segment display"/>
            <p:cNvPicPr>
              <a:picLocks noChangeAspect="1" noChangeArrowheads="1"/>
            </p:cNvPicPr>
            <p:nvPr/>
          </p:nvPicPr>
          <p:blipFill>
            <a:blip r:embed="rId3" cstate="print"/>
            <a:srcRect r="56201"/>
            <a:stretch>
              <a:fillRect/>
            </a:stretch>
          </p:blipFill>
          <p:spPr bwMode="auto">
            <a:xfrm>
              <a:off x="2339752" y="1124744"/>
              <a:ext cx="1122232" cy="1704976"/>
            </a:xfrm>
            <a:prstGeom prst="rect">
              <a:avLst/>
            </a:prstGeom>
            <a:noFill/>
          </p:spPr>
        </p:pic>
        <p:sp>
          <p:nvSpPr>
            <p:cNvPr id="11" name="TextBox 10"/>
            <p:cNvSpPr txBox="1"/>
            <p:nvPr/>
          </p:nvSpPr>
          <p:spPr>
            <a:xfrm>
              <a:off x="539552" y="1772816"/>
              <a:ext cx="11608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u="none">
                  <a:solidFill>
                    <a:srgbClr val="000066"/>
                  </a:solidFill>
                  <a:latin typeface="Comic Sans MS" pitchFamily="66" charset="0"/>
                </a:rPr>
                <a:t>0,1,…,</a:t>
              </a:r>
              <a:r>
                <a:rPr lang="pt-PT" sz="2400" u="none" dirty="0">
                  <a:solidFill>
                    <a:srgbClr val="000066"/>
                  </a:solidFill>
                  <a:latin typeface="Comic Sans MS" pitchFamily="66" charset="0"/>
                </a:rPr>
                <a:t>9</a:t>
              </a:r>
              <a:endParaRPr lang="en-US" sz="2400" u="none" dirty="0">
                <a:solidFill>
                  <a:srgbClr val="000066"/>
                </a:solidFill>
                <a:latin typeface="Comic Sans MS" pitchFamily="66" charset="0"/>
              </a:endParaRPr>
            </a:p>
          </p:txBody>
        </p:sp>
        <p:sp>
          <p:nvSpPr>
            <p:cNvPr id="12" name="Right Arrow 11"/>
            <p:cNvSpPr/>
            <p:nvPr/>
          </p:nvSpPr>
          <p:spPr bwMode="auto">
            <a:xfrm>
              <a:off x="1835696" y="1916832"/>
              <a:ext cx="504056" cy="14401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07704" y="1547500"/>
              <a:ext cx="456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u="none" dirty="0">
                  <a:solidFill>
                    <a:srgbClr val="000066"/>
                  </a:solidFill>
                </a:rPr>
                <a:t>?</a:t>
              </a:r>
              <a:endParaRPr lang="en-US" u="none" dirty="0">
                <a:solidFill>
                  <a:srgbClr val="000066"/>
                </a:solidFill>
              </a:endParaRPr>
            </a:p>
          </p:txBody>
        </p:sp>
      </p:grpSp>
      <p:pic>
        <p:nvPicPr>
          <p:cNvPr id="90119" name="Picture 7" descr="7-segment displa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23928" y="1484784"/>
            <a:ext cx="4867275" cy="847725"/>
          </a:xfrm>
          <a:prstGeom prst="rect">
            <a:avLst/>
          </a:prstGeom>
          <a:noFill/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067944" y="2708920"/>
          <a:ext cx="4320480" cy="34137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720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BCD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número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segmentos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individuais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g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0000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0001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0010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2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0011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3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0100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4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0101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5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0110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6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0111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7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1000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8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1001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9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101x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11xx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695335" y="3501008"/>
            <a:ext cx="2796545" cy="1990725"/>
            <a:chOff x="695335" y="3501008"/>
            <a:chExt cx="2796545" cy="1990725"/>
          </a:xfrm>
        </p:grpSpPr>
        <p:pic>
          <p:nvPicPr>
            <p:cNvPr id="90121" name="Picture 9" descr="BCD to 7-segment Decoder"/>
            <p:cNvPicPr>
              <a:picLocks noChangeAspect="1" noChangeArrowheads="1"/>
            </p:cNvPicPr>
            <p:nvPr/>
          </p:nvPicPr>
          <p:blipFill>
            <a:blip r:embed="rId5" cstate="print"/>
            <a:srcRect l="24068" r="25851"/>
            <a:stretch>
              <a:fillRect/>
            </a:stretch>
          </p:blipFill>
          <p:spPr bwMode="auto">
            <a:xfrm>
              <a:off x="1469300" y="3501008"/>
              <a:ext cx="2022580" cy="1990725"/>
            </a:xfrm>
            <a:prstGeom prst="rect">
              <a:avLst/>
            </a:prstGeom>
            <a:noFill/>
          </p:spPr>
        </p:pic>
        <p:sp>
          <p:nvSpPr>
            <p:cNvPr id="17" name="TextBox 16"/>
            <p:cNvSpPr txBox="1"/>
            <p:nvPr/>
          </p:nvSpPr>
          <p:spPr>
            <a:xfrm>
              <a:off x="695335" y="3563724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BCD(3)</a:t>
              </a:r>
              <a:endParaRPr lang="en-US" u="none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5335" y="3851756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BCD(2)</a:t>
              </a:r>
              <a:endParaRPr lang="en-US" u="none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95335" y="4119536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BCD(1)</a:t>
              </a:r>
              <a:endParaRPr lang="en-US" u="none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5335" y="4407568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BCD(0)</a:t>
              </a:r>
              <a:endParaRPr lang="en-US" u="none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949268" y="3532551"/>
            <a:ext cx="864096" cy="1928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accent6">
                    <a:lumMod val="75000"/>
                  </a:schemeClr>
                </a:solidFill>
              </a:rPr>
              <a:t>controlador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53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7632079" cy="4651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Controlador de </a:t>
            </a:r>
            <a:r>
              <a:rPr lang="pt-PT" sz="3600" i="1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display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de 7 segmentos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95335" y="1124744"/>
            <a:ext cx="2796545" cy="1990725"/>
            <a:chOff x="695335" y="3501008"/>
            <a:chExt cx="2796545" cy="1990725"/>
          </a:xfrm>
        </p:grpSpPr>
        <p:pic>
          <p:nvPicPr>
            <p:cNvPr id="90121" name="Picture 9" descr="BCD to 7-segment Decoder"/>
            <p:cNvPicPr>
              <a:picLocks noChangeAspect="1" noChangeArrowheads="1"/>
            </p:cNvPicPr>
            <p:nvPr/>
          </p:nvPicPr>
          <p:blipFill>
            <a:blip r:embed="rId3" cstate="print"/>
            <a:srcRect l="24068" r="25851"/>
            <a:stretch>
              <a:fillRect/>
            </a:stretch>
          </p:blipFill>
          <p:spPr bwMode="auto">
            <a:xfrm>
              <a:off x="1469300" y="3501008"/>
              <a:ext cx="2022580" cy="1990725"/>
            </a:xfrm>
            <a:prstGeom prst="rect">
              <a:avLst/>
            </a:prstGeom>
            <a:noFill/>
          </p:spPr>
        </p:pic>
        <p:sp>
          <p:nvSpPr>
            <p:cNvPr id="17" name="TextBox 16"/>
            <p:cNvSpPr txBox="1"/>
            <p:nvPr/>
          </p:nvSpPr>
          <p:spPr>
            <a:xfrm>
              <a:off x="695335" y="3563724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BCD(3)</a:t>
              </a:r>
              <a:endParaRPr lang="en-US" u="none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5335" y="3851756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BCD(2)</a:t>
              </a:r>
              <a:endParaRPr lang="en-US" u="none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95335" y="4119536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BCD(1)</a:t>
              </a:r>
              <a:endParaRPr lang="en-US" u="none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5335" y="4407568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/>
                <a:t>BCD(0)</a:t>
              </a:r>
              <a:endParaRPr lang="en-US" u="none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949268" y="1156287"/>
            <a:ext cx="864096" cy="1928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accent6">
                    <a:lumMod val="75000"/>
                  </a:schemeClr>
                </a:solidFill>
              </a:rPr>
              <a:t>controlador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Text Box 33"/>
          <p:cNvSpPr txBox="1">
            <a:spLocks noChangeArrowheads="1"/>
          </p:cNvSpPr>
          <p:nvPr/>
        </p:nvSpPr>
        <p:spPr bwMode="auto">
          <a:xfrm>
            <a:off x="468313" y="3429000"/>
            <a:ext cx="8640763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Obter expressões mínimas para as saídas </a:t>
            </a:r>
            <a:r>
              <a:rPr lang="pt-PT" i="1" u="none" dirty="0">
                <a:solidFill>
                  <a:srgbClr val="003366"/>
                </a:solidFill>
              </a:rPr>
              <a:t>a</a:t>
            </a:r>
            <a:r>
              <a:rPr lang="pt-PT" u="none" dirty="0">
                <a:solidFill>
                  <a:srgbClr val="003366"/>
                </a:solidFill>
              </a:rPr>
              <a:t>..</a:t>
            </a:r>
            <a:r>
              <a:rPr lang="pt-PT" i="1" u="none" dirty="0">
                <a:solidFill>
                  <a:srgbClr val="003366"/>
                </a:solidFill>
              </a:rPr>
              <a:t>g</a:t>
            </a:r>
            <a:r>
              <a:rPr lang="pt-PT" u="none" dirty="0">
                <a:solidFill>
                  <a:srgbClr val="003366"/>
                </a:solidFill>
              </a:rPr>
              <a:t> (por exemplo com o método de Karnaugh).</a:t>
            </a:r>
          </a:p>
          <a:p>
            <a:endParaRPr lang="pt-PT" dirty="0">
              <a:solidFill>
                <a:srgbClr val="003366"/>
              </a:solidFill>
            </a:endParaRPr>
          </a:p>
          <a:p>
            <a:r>
              <a:rPr lang="pt-PT" u="none" dirty="0">
                <a:solidFill>
                  <a:srgbClr val="003366"/>
                </a:solidFill>
              </a:rPr>
              <a:t>Realizar as funções obtidas </a:t>
            </a:r>
          </a:p>
          <a:p>
            <a:r>
              <a:rPr lang="pt-PT" dirty="0">
                <a:solidFill>
                  <a:srgbClr val="003366"/>
                </a:solidFill>
              </a:rPr>
              <a:t>	</a:t>
            </a:r>
            <a:r>
              <a:rPr lang="pt-PT" u="none" dirty="0">
                <a:solidFill>
                  <a:srgbClr val="003366"/>
                </a:solidFill>
              </a:rPr>
              <a:t>a(BCD(3), BCD(2), BCD(1), </a:t>
            </a:r>
            <a:r>
              <a:rPr lang="pt-PT" dirty="0">
                <a:solidFill>
                  <a:srgbClr val="003366"/>
                </a:solidFill>
              </a:rPr>
              <a:t>BCD(0)) </a:t>
            </a:r>
          </a:p>
          <a:p>
            <a:r>
              <a:rPr lang="pt-PT" dirty="0">
                <a:solidFill>
                  <a:srgbClr val="003366"/>
                </a:solidFill>
              </a:rPr>
              <a:t>	.. </a:t>
            </a:r>
          </a:p>
          <a:p>
            <a:r>
              <a:rPr lang="pt-PT" dirty="0">
                <a:solidFill>
                  <a:srgbClr val="003366"/>
                </a:solidFill>
              </a:rPr>
              <a:t>	g(BCD(3), BCD(2), BCD(1), BCD(0)) </a:t>
            </a:r>
          </a:p>
          <a:p>
            <a:r>
              <a:rPr lang="pt-PT" u="none" dirty="0">
                <a:solidFill>
                  <a:srgbClr val="003366"/>
                </a:solidFill>
              </a:rPr>
              <a:t>com portas lógicas elementares (ou outros blocos mais complexos – </a:t>
            </a:r>
            <a:r>
              <a:rPr lang="pt-PT" u="non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matéria das próximas aulas</a:t>
            </a:r>
            <a:r>
              <a:rPr lang="pt-PT" u="none" dirty="0">
                <a:solidFill>
                  <a:srgbClr val="003366"/>
                </a:solidFill>
              </a:rPr>
              <a:t>).</a:t>
            </a:r>
            <a:endParaRPr lang="en-US" u="none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7755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381565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Nomes de sinais</a:t>
            </a:r>
          </a:p>
        </p:txBody>
      </p:sp>
      <p:sp>
        <p:nvSpPr>
          <p:cNvPr id="119811" name="Text Box 3"/>
          <p:cNvSpPr txBox="1">
            <a:spLocks noChangeArrowheads="1"/>
          </p:cNvSpPr>
          <p:nvPr/>
        </p:nvSpPr>
        <p:spPr bwMode="auto">
          <a:xfrm>
            <a:off x="395288" y="2710603"/>
            <a:ext cx="8353176" cy="100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pt-PT" u="none" dirty="0">
                <a:solidFill>
                  <a:srgbClr val="000066"/>
                </a:solidFill>
              </a:rPr>
              <a:t>Para clarificar a interpretação de circuitos deve-se indicar explicitamente que sinais são ativos </a:t>
            </a:r>
            <a:r>
              <a:rPr lang="pt-PT" i="1" u="none" dirty="0">
                <a:solidFill>
                  <a:srgbClr val="A50021"/>
                </a:solidFill>
              </a:rPr>
              <a:t>Low</a:t>
            </a:r>
            <a:r>
              <a:rPr lang="pt-PT" u="none" dirty="0">
                <a:solidFill>
                  <a:srgbClr val="000066"/>
                </a:solidFill>
              </a:rPr>
              <a:t> (</a:t>
            </a:r>
            <a:r>
              <a:rPr lang="pt-PT" u="none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nome_de_sinal_L</a:t>
            </a:r>
            <a:r>
              <a:rPr lang="pt-PT" u="none" dirty="0">
                <a:solidFill>
                  <a:srgbClr val="000066"/>
                </a:solidFill>
              </a:rPr>
              <a:t>) e que sinais são ativos </a:t>
            </a:r>
            <a:r>
              <a:rPr lang="pt-PT" i="1" u="none" dirty="0">
                <a:solidFill>
                  <a:srgbClr val="A50021"/>
                </a:solidFill>
              </a:rPr>
              <a:t>High </a:t>
            </a:r>
            <a:r>
              <a:rPr lang="pt-PT" u="none" dirty="0">
                <a:solidFill>
                  <a:srgbClr val="000066"/>
                </a:solidFill>
              </a:rPr>
              <a:t>(</a:t>
            </a:r>
            <a:r>
              <a:rPr lang="pt-PT" u="none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nome_de_sinal</a:t>
            </a:r>
            <a:r>
              <a:rPr lang="pt-PT" u="none" dirty="0">
                <a:solidFill>
                  <a:srgbClr val="000066"/>
                </a:solidFill>
              </a:rPr>
              <a:t>) .</a:t>
            </a: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395536" y="1052736"/>
            <a:ext cx="8353176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pt-PT" u="none" dirty="0">
                <a:solidFill>
                  <a:srgbClr val="000066"/>
                </a:solidFill>
              </a:rPr>
              <a:t>Um sinal está ativo a </a:t>
            </a:r>
            <a:r>
              <a:rPr lang="pt-PT" i="1" dirty="0">
                <a:solidFill>
                  <a:srgbClr val="A50021"/>
                </a:solidFill>
              </a:rPr>
              <a:t>High </a:t>
            </a:r>
            <a:r>
              <a:rPr lang="pt-PT" u="none" dirty="0">
                <a:solidFill>
                  <a:srgbClr val="000066"/>
                </a:solidFill>
              </a:rPr>
              <a:t>se este força uma ação ou denota uma condição quando está a </a:t>
            </a:r>
            <a:r>
              <a:rPr lang="pt-PT" i="1" dirty="0">
                <a:solidFill>
                  <a:srgbClr val="A50021"/>
                </a:solidFill>
              </a:rPr>
              <a:t>1</a:t>
            </a:r>
            <a:r>
              <a:rPr lang="pt-PT" u="none" dirty="0">
                <a:solidFill>
                  <a:srgbClr val="000066"/>
                </a:solidFill>
              </a:rPr>
              <a:t>.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95536" y="1791165"/>
            <a:ext cx="8353176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pt-PT" u="none" dirty="0">
                <a:solidFill>
                  <a:srgbClr val="000066"/>
                </a:solidFill>
              </a:rPr>
              <a:t>Um sinal está ativo a </a:t>
            </a:r>
            <a:r>
              <a:rPr lang="pt-PT" i="1" u="none" dirty="0">
                <a:solidFill>
                  <a:srgbClr val="A50021"/>
                </a:solidFill>
              </a:rPr>
              <a:t>Low</a:t>
            </a:r>
            <a:r>
              <a:rPr lang="pt-PT" u="none" dirty="0">
                <a:solidFill>
                  <a:srgbClr val="000066"/>
                </a:solidFill>
              </a:rPr>
              <a:t> se este força uma ação ou denota uma condição quando está a </a:t>
            </a:r>
            <a:r>
              <a:rPr lang="pt-PT" i="1" dirty="0">
                <a:solidFill>
                  <a:srgbClr val="A50021"/>
                </a:solidFill>
              </a:rPr>
              <a:t>0</a:t>
            </a:r>
            <a:r>
              <a:rPr lang="pt-PT" u="none" dirty="0">
                <a:solidFill>
                  <a:srgbClr val="000066"/>
                </a:solidFill>
              </a:rPr>
              <a:t>.</a:t>
            </a:r>
          </a:p>
        </p:txBody>
      </p:sp>
      <p:graphicFrame>
        <p:nvGraphicFramePr>
          <p:cNvPr id="15" name="Object 1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823923"/>
              </p:ext>
            </p:extLst>
          </p:nvPr>
        </p:nvGraphicFramePr>
        <p:xfrm>
          <a:off x="3635896" y="4941168"/>
          <a:ext cx="3600400" cy="1087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0" name="Presentation" r:id="rId4" imgW="4570465" imgH="3427468" progId="PowerPoint.Show.12">
                  <p:embed/>
                </p:oleObj>
              </mc:Choice>
              <mc:Fallback>
                <p:oleObj name="Presentation" r:id="rId4" imgW="4570465" imgH="3427468" progId="PowerPoint.Show.12">
                  <p:embed/>
                  <p:pic>
                    <p:nvPicPr>
                      <p:cNvPr id="15" name="Object 14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0503" r="47260" b="68272"/>
                      <a:stretch>
                        <a:fillRect/>
                      </a:stretch>
                    </p:blipFill>
                    <p:spPr bwMode="auto">
                      <a:xfrm>
                        <a:off x="3635896" y="4941168"/>
                        <a:ext cx="3600400" cy="1087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467544" y="4048328"/>
            <a:ext cx="1138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540569" y="4438853"/>
            <a:ext cx="799224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latin typeface="Comic Sans MS" pitchFamily="66" charset="0"/>
              </a:rPr>
              <a:t>Realizar ação </a:t>
            </a:r>
            <a:r>
              <a:rPr lang="pt-PT" u="none" dirty="0">
                <a:latin typeface="Courier New" pitchFamily="49" charset="0"/>
                <a:cs typeface="Courier New" pitchFamily="49" charset="0"/>
              </a:rPr>
              <a:t>Go</a:t>
            </a:r>
            <a:r>
              <a:rPr lang="pt-PT" u="none" dirty="0">
                <a:latin typeface="Comic Sans MS" pitchFamily="66" charset="0"/>
              </a:rPr>
              <a:t> se os sinais </a:t>
            </a:r>
            <a:r>
              <a:rPr lang="pt-PT" u="none" dirty="0">
                <a:latin typeface="Courier New" pitchFamily="49" charset="0"/>
                <a:cs typeface="Courier New" pitchFamily="49" charset="0"/>
              </a:rPr>
              <a:t>Ready</a:t>
            </a:r>
            <a:r>
              <a:rPr lang="pt-PT" u="none" dirty="0">
                <a:latin typeface="Comic Sans MS" pitchFamily="66" charset="0"/>
              </a:rPr>
              <a:t> (ativo a Low) e </a:t>
            </a:r>
            <a:r>
              <a:rPr lang="pt-PT" u="none" dirty="0">
                <a:latin typeface="Courier New" pitchFamily="49" charset="0"/>
                <a:cs typeface="Courier New" pitchFamily="49" charset="0"/>
              </a:rPr>
              <a:t>Request</a:t>
            </a:r>
            <a:r>
              <a:rPr lang="pt-PT" u="none" dirty="0">
                <a:latin typeface="Comic Sans MS" pitchFamily="66" charset="0"/>
              </a:rPr>
              <a:t> (ativo a High) forem ativados.</a:t>
            </a:r>
            <a:endParaRPr lang="en-US" u="none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51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/>
      <p:bldP spid="13" grpId="0"/>
      <p:bldP spid="14" grpId="0"/>
      <p:bldP spid="17" grpId="0"/>
      <p:bldP spid="1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4607743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Projeto </a:t>
            </a:r>
            <a:r>
              <a:rPr lang="pt-PT" sz="3600" i="1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bubble</a:t>
            </a:r>
            <a:r>
              <a:rPr lang="pt-PT" sz="3600" i="1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-to-</a:t>
            </a:r>
            <a:r>
              <a:rPr lang="pt-PT" sz="3600" i="1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bubble</a:t>
            </a:r>
            <a:endParaRPr lang="pt-PT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95536" y="980728"/>
            <a:ext cx="8445500" cy="100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pt-PT" u="none" dirty="0">
                <a:solidFill>
                  <a:srgbClr val="000066"/>
                </a:solidFill>
              </a:rPr>
              <a:t>Convém, sempre que possível, praticar </a:t>
            </a:r>
            <a:r>
              <a:rPr lang="pt-PT" i="1" u="none">
                <a:solidFill>
                  <a:srgbClr val="A50021"/>
                </a:solidFill>
              </a:rPr>
              <a:t>bubble-to-bubble design</a:t>
            </a:r>
            <a:r>
              <a:rPr lang="pt-PT" u="none">
                <a:solidFill>
                  <a:srgbClr val="000066"/>
                </a:solidFill>
              </a:rPr>
              <a:t> </a:t>
            </a:r>
            <a:r>
              <a:rPr lang="pt-PT" u="none" dirty="0">
                <a:solidFill>
                  <a:srgbClr val="000066"/>
                </a:solidFill>
              </a:rPr>
              <a:t>que permite simplificar o entendimento da função dum circuito desenhando-o de modo que as inversões existentes cancelam umas outras. 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467544" y="2348880"/>
            <a:ext cx="56166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solidFill>
                  <a:srgbClr val="000066"/>
                </a:solidFill>
              </a:rPr>
              <a:t>De acordo com a lei de DeMorgan:</a:t>
            </a:r>
            <a:endParaRPr lang="en-US" u="none" dirty="0">
              <a:solidFill>
                <a:srgbClr val="000066"/>
              </a:solidFill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051720" y="3098814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</a:t>
            </a:r>
            <a:endParaRPr lang="en-US" u="none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30068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" y="2878212"/>
            <a:ext cx="1158007" cy="694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2483768" y="2865259"/>
            <a:ext cx="1285267" cy="720710"/>
            <a:chOff x="879596" y="4437112"/>
            <a:chExt cx="1285267" cy="720710"/>
          </a:xfrm>
        </p:grpSpPr>
        <p:sp>
          <p:nvSpPr>
            <p:cNvPr id="2" name="Oval 1"/>
            <p:cNvSpPr/>
            <p:nvPr/>
          </p:nvSpPr>
          <p:spPr>
            <a:xfrm>
              <a:off x="1187624" y="4725144"/>
              <a:ext cx="74946" cy="7200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30070" name="Picture 2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9596" y="4437112"/>
              <a:ext cx="1285267" cy="720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Oval 17"/>
            <p:cNvSpPr/>
            <p:nvPr/>
          </p:nvSpPr>
          <p:spPr>
            <a:xfrm>
              <a:off x="1187624" y="4887935"/>
              <a:ext cx="74946" cy="7200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/>
            <p:cNvSpPr/>
            <p:nvPr/>
          </p:nvSpPr>
          <p:spPr>
            <a:xfrm>
              <a:off x="1187624" y="4725144"/>
              <a:ext cx="74946" cy="7200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30072" name="Picture 2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" y="3593446"/>
            <a:ext cx="1196330" cy="71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2483768" y="3601557"/>
            <a:ext cx="1265608" cy="709687"/>
            <a:chOff x="2483768" y="3601557"/>
            <a:chExt cx="1265608" cy="709687"/>
          </a:xfrm>
        </p:grpSpPr>
        <p:pic>
          <p:nvPicPr>
            <p:cNvPr id="130073" name="Picture 2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3768" y="3601557"/>
              <a:ext cx="1265608" cy="709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Oval 22"/>
            <p:cNvSpPr/>
            <p:nvPr/>
          </p:nvSpPr>
          <p:spPr>
            <a:xfrm>
              <a:off x="2740627" y="4055012"/>
              <a:ext cx="74946" cy="7200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/>
            <p:cNvSpPr/>
            <p:nvPr/>
          </p:nvSpPr>
          <p:spPr>
            <a:xfrm>
              <a:off x="2740627" y="3892221"/>
              <a:ext cx="74946" cy="7200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051720" y="3820213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</a:t>
            </a:r>
            <a:endParaRPr lang="en-US" u="none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37975" y="4306460"/>
            <a:ext cx="1160542" cy="696325"/>
            <a:chOff x="837975" y="4306460"/>
            <a:chExt cx="1160542" cy="696325"/>
          </a:xfrm>
        </p:grpSpPr>
        <p:pic>
          <p:nvPicPr>
            <p:cNvPr id="130074" name="Picture 2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975" y="4306460"/>
              <a:ext cx="1160542" cy="69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Oval 27"/>
            <p:cNvSpPr/>
            <p:nvPr/>
          </p:nvSpPr>
          <p:spPr>
            <a:xfrm>
              <a:off x="1112678" y="4743919"/>
              <a:ext cx="74946" cy="7200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Oval 28"/>
            <p:cNvSpPr/>
            <p:nvPr/>
          </p:nvSpPr>
          <p:spPr>
            <a:xfrm>
              <a:off x="1112678" y="4581128"/>
              <a:ext cx="74946" cy="7200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2051720" y="4502447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</a:t>
            </a:r>
            <a:endParaRPr lang="en-US" u="none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2" name="Picture 2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296" y="4303489"/>
            <a:ext cx="1265608" cy="70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2051721" y="5246731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</a:t>
            </a:r>
            <a:endParaRPr lang="en-US" u="none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2483769" y="5013176"/>
            <a:ext cx="1285267" cy="720710"/>
            <a:chOff x="879596" y="4437112"/>
            <a:chExt cx="1285267" cy="720710"/>
          </a:xfrm>
        </p:grpSpPr>
        <p:sp>
          <p:nvSpPr>
            <p:cNvPr id="36" name="Oval 35"/>
            <p:cNvSpPr/>
            <p:nvPr/>
          </p:nvSpPr>
          <p:spPr>
            <a:xfrm>
              <a:off x="1187624" y="4725144"/>
              <a:ext cx="74946" cy="7200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7" name="Picture 2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9596" y="4437112"/>
              <a:ext cx="1285267" cy="720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Group 4"/>
          <p:cNvGrpSpPr/>
          <p:nvPr/>
        </p:nvGrpSpPr>
        <p:grpSpPr>
          <a:xfrm>
            <a:off x="827584" y="5026129"/>
            <a:ext cx="1158007" cy="694804"/>
            <a:chOff x="827584" y="5026129"/>
            <a:chExt cx="1158007" cy="694804"/>
          </a:xfrm>
        </p:grpSpPr>
        <p:pic>
          <p:nvPicPr>
            <p:cNvPr id="34" name="Picture 2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026129"/>
              <a:ext cx="1158007" cy="694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Oval 39"/>
            <p:cNvSpPr/>
            <p:nvPr/>
          </p:nvSpPr>
          <p:spPr>
            <a:xfrm>
              <a:off x="1074781" y="5463999"/>
              <a:ext cx="74946" cy="7200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Oval 40"/>
            <p:cNvSpPr/>
            <p:nvPr/>
          </p:nvSpPr>
          <p:spPr>
            <a:xfrm>
              <a:off x="1074781" y="5301208"/>
              <a:ext cx="74946" cy="7200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2909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6119911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Projeto </a:t>
            </a:r>
            <a:r>
              <a:rPr lang="pt-PT" sz="3600" i="1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bubble</a:t>
            </a:r>
            <a:r>
              <a:rPr lang="pt-PT" sz="3600" i="1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-to-</a:t>
            </a:r>
            <a:r>
              <a:rPr lang="pt-PT" sz="3600" i="1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bubble</a:t>
            </a:r>
            <a:r>
              <a:rPr lang="pt-PT" sz="3600" i="1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(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cont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.)</a:t>
            </a:r>
          </a:p>
        </p:txBody>
      </p:sp>
      <p:graphicFrame>
        <p:nvGraphicFramePr>
          <p:cNvPr id="9" name="Object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763688" y="1052736"/>
          <a:ext cx="5103813" cy="210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4" name="Presentation" r:id="rId4" imgW="4570465" imgH="3427468" progId="PowerPoint.Show.12">
                  <p:embed/>
                </p:oleObj>
              </mc:Choice>
              <mc:Fallback>
                <p:oleObj name="Presentation" r:id="rId4" imgW="4570465" imgH="3427468" progId="PowerPoint.Show.12">
                  <p:embed/>
                  <p:pic>
                    <p:nvPicPr>
                      <p:cNvPr id="9" name="Object 8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101" r="25206" b="56718"/>
                      <a:stretch>
                        <a:fillRect/>
                      </a:stretch>
                    </p:blipFill>
                    <p:spPr bwMode="auto">
                      <a:xfrm>
                        <a:off x="1763688" y="1052736"/>
                        <a:ext cx="5103813" cy="2109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763688" y="3717032"/>
          <a:ext cx="5103812" cy="210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5" name="Presentation" r:id="rId6" imgW="4570465" imgH="3427468" progId="PowerPoint.Show.12">
                  <p:embed/>
                </p:oleObj>
              </mc:Choice>
              <mc:Fallback>
                <p:oleObj name="Presentation" r:id="rId6" imgW="4570465" imgH="3427468" progId="PowerPoint.Show.12">
                  <p:embed/>
                  <p:pic>
                    <p:nvPicPr>
                      <p:cNvPr id="58372" name="Object 6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101" r="25206" b="56718"/>
                      <a:stretch>
                        <a:fillRect/>
                      </a:stretch>
                    </p:blipFill>
                    <p:spPr bwMode="auto">
                      <a:xfrm>
                        <a:off x="1763688" y="3717032"/>
                        <a:ext cx="5103812" cy="2109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2699792" y="980728"/>
            <a:ext cx="2736304" cy="2448272"/>
            <a:chOff x="2699792" y="980728"/>
            <a:chExt cx="2736304" cy="2448272"/>
          </a:xfrm>
        </p:grpSpPr>
        <p:cxnSp>
          <p:nvCxnSpPr>
            <p:cNvPr id="14" name="Straight Connector 13"/>
            <p:cNvCxnSpPr/>
            <p:nvPr/>
          </p:nvCxnSpPr>
          <p:spPr bwMode="auto">
            <a:xfrm flipV="1">
              <a:off x="2699792" y="1052736"/>
              <a:ext cx="2592288" cy="2376264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auto">
            <a:xfrm>
              <a:off x="2843808" y="980728"/>
              <a:ext cx="2592288" cy="2376264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0641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8351837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Conversão de formas (AND-OR -&gt; NAND-NAND)</a:t>
            </a:r>
          </a:p>
        </p:txBody>
      </p:sp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395288" y="862013"/>
            <a:ext cx="84455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>
                <a:solidFill>
                  <a:srgbClr val="000066"/>
                </a:solidFill>
              </a:rPr>
              <a:t>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AND-OR </a:t>
            </a:r>
            <a:r>
              <a:rPr lang="pt-PT" u="none">
                <a:solidFill>
                  <a:srgbClr val="A50021"/>
                </a:solidFill>
              </a:rPr>
              <a:t>a 2 níveis</a:t>
            </a:r>
            <a:r>
              <a:rPr lang="pt-PT" u="none">
                <a:solidFill>
                  <a:srgbClr val="000066"/>
                </a:solidFill>
              </a:rPr>
              <a:t> pode ser convertido num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NAND-NAND</a:t>
            </a:r>
            <a:r>
              <a:rPr lang="pt-PT" u="none">
                <a:solidFill>
                  <a:srgbClr val="000066"/>
                </a:solidFill>
              </a:rPr>
              <a:t> </a:t>
            </a:r>
            <a:r>
              <a:rPr lang="pt-PT" u="none">
                <a:solidFill>
                  <a:srgbClr val="A50021"/>
                </a:solidFill>
              </a:rPr>
              <a:t>a 2 níveis</a:t>
            </a:r>
            <a:r>
              <a:rPr lang="pt-PT" u="none">
                <a:solidFill>
                  <a:srgbClr val="000066"/>
                </a:solidFill>
              </a:rPr>
              <a:t> invertendo as saídas das portas do 1º nível e as entradas das portas do 2º nível.</a:t>
            </a:r>
          </a:p>
        </p:txBody>
      </p:sp>
      <p:pic>
        <p:nvPicPr>
          <p:cNvPr id="12186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2988" y="1773238"/>
            <a:ext cx="3405187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186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62550" y="1773238"/>
            <a:ext cx="3297238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186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42988" y="4005263"/>
            <a:ext cx="3360737" cy="2157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292725" y="4149725"/>
            <a:ext cx="2736850" cy="1619250"/>
            <a:chOff x="3787" y="1348"/>
            <a:chExt cx="1724" cy="1020"/>
          </a:xfrm>
        </p:grpSpPr>
        <p:sp>
          <p:nvSpPr>
            <p:cNvPr id="14345" name="Text Box 8"/>
            <p:cNvSpPr txBox="1">
              <a:spLocks noChangeArrowheads="1"/>
            </p:cNvSpPr>
            <p:nvPr/>
          </p:nvSpPr>
          <p:spPr bwMode="auto">
            <a:xfrm>
              <a:off x="3833" y="1348"/>
              <a:ext cx="1646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pt-PT" u="none">
                  <a:solidFill>
                    <a:srgbClr val="000066"/>
                  </a:solidFill>
                </a:rPr>
                <a:t>De acordo com a lei de DeMorgan:</a:t>
              </a:r>
              <a:endParaRPr lang="en-US" u="none">
                <a:solidFill>
                  <a:srgbClr val="000066"/>
                </a:solidFill>
              </a:endParaRPr>
            </a:p>
          </p:txBody>
        </p:sp>
        <p:pic>
          <p:nvPicPr>
            <p:cNvPr id="14346" name="Picture 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787" y="1860"/>
              <a:ext cx="705" cy="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47" name="Picture 10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760" y="1797"/>
              <a:ext cx="751" cy="5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1867" name="Text Box 11"/>
            <p:cNvSpPr txBox="1">
              <a:spLocks noChangeArrowheads="1"/>
            </p:cNvSpPr>
            <p:nvPr/>
          </p:nvSpPr>
          <p:spPr bwMode="auto">
            <a:xfrm>
              <a:off x="4500" y="2009"/>
              <a:ext cx="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PT" u="none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</a:t>
              </a:r>
              <a:endParaRPr lang="en-US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981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8351837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Conversão de formas (OR-AND -&gt; NOR-NOR)</a:t>
            </a:r>
          </a:p>
        </p:txBody>
      </p:sp>
      <p:sp>
        <p:nvSpPr>
          <p:cNvPr id="122883" name="Text Box 3"/>
          <p:cNvSpPr txBox="1">
            <a:spLocks noChangeArrowheads="1"/>
          </p:cNvSpPr>
          <p:nvPr/>
        </p:nvSpPr>
        <p:spPr bwMode="auto">
          <a:xfrm>
            <a:off x="395288" y="862013"/>
            <a:ext cx="84455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>
                <a:solidFill>
                  <a:srgbClr val="000066"/>
                </a:solidFill>
              </a:rPr>
              <a:t>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OR-AND </a:t>
            </a:r>
            <a:r>
              <a:rPr lang="pt-PT" u="none">
                <a:solidFill>
                  <a:srgbClr val="A50021"/>
                </a:solidFill>
              </a:rPr>
              <a:t>a 2 níveis</a:t>
            </a:r>
            <a:r>
              <a:rPr lang="pt-PT" u="none">
                <a:solidFill>
                  <a:srgbClr val="000066"/>
                </a:solidFill>
              </a:rPr>
              <a:t> pode ser convertido num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NOR-NOR</a:t>
            </a:r>
            <a:r>
              <a:rPr lang="pt-PT" u="none">
                <a:solidFill>
                  <a:srgbClr val="000066"/>
                </a:solidFill>
              </a:rPr>
              <a:t> </a:t>
            </a:r>
            <a:r>
              <a:rPr lang="pt-PT" u="none">
                <a:solidFill>
                  <a:srgbClr val="A50021"/>
                </a:solidFill>
              </a:rPr>
              <a:t>a 2 níveis</a:t>
            </a:r>
            <a:r>
              <a:rPr lang="pt-PT" u="none">
                <a:solidFill>
                  <a:srgbClr val="000066"/>
                </a:solidFill>
              </a:rPr>
              <a:t> invertendo as saídas das portas do 1º nível e as entradas das portas do 2º nível.</a:t>
            </a:r>
          </a:p>
        </p:txBody>
      </p:sp>
      <p:pic>
        <p:nvPicPr>
          <p:cNvPr id="1228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1700213"/>
            <a:ext cx="3405187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88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91113" y="1773238"/>
            <a:ext cx="3297237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886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0900" y="3863975"/>
            <a:ext cx="3360738" cy="215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148263" y="4149725"/>
            <a:ext cx="2776537" cy="1601788"/>
            <a:chOff x="3742" y="1469"/>
            <a:chExt cx="1749" cy="1009"/>
          </a:xfrm>
        </p:grpSpPr>
        <p:sp>
          <p:nvSpPr>
            <p:cNvPr id="15369" name="Text Box 8"/>
            <p:cNvSpPr txBox="1">
              <a:spLocks noChangeArrowheads="1"/>
            </p:cNvSpPr>
            <p:nvPr/>
          </p:nvSpPr>
          <p:spPr bwMode="auto">
            <a:xfrm>
              <a:off x="3833" y="1469"/>
              <a:ext cx="1646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pt-PT" u="none">
                  <a:solidFill>
                    <a:srgbClr val="000066"/>
                  </a:solidFill>
                </a:rPr>
                <a:t>De acordo com a lei de DeMorgan:</a:t>
              </a:r>
              <a:endParaRPr lang="en-US" u="none">
                <a:solidFill>
                  <a:srgbClr val="000066"/>
                </a:solidFill>
              </a:endParaRPr>
            </a:p>
          </p:txBody>
        </p:sp>
        <p:sp>
          <p:nvSpPr>
            <p:cNvPr id="122889" name="Text Box 9"/>
            <p:cNvSpPr txBox="1">
              <a:spLocks noChangeArrowheads="1"/>
            </p:cNvSpPr>
            <p:nvPr/>
          </p:nvSpPr>
          <p:spPr bwMode="auto">
            <a:xfrm>
              <a:off x="4500" y="2130"/>
              <a:ext cx="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PT" u="none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</a:t>
              </a:r>
              <a:endParaRPr lang="en-US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pic>
          <p:nvPicPr>
            <p:cNvPr id="15371" name="Picture 10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740" y="1963"/>
              <a:ext cx="751" cy="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72" name="Picture 1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742" y="1970"/>
              <a:ext cx="705" cy="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09791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8351837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Conversão de formas (AND-OR -&gt; NOR-NOR)</a:t>
            </a:r>
          </a:p>
        </p:txBody>
      </p:sp>
      <p:sp>
        <p:nvSpPr>
          <p:cNvPr id="123907" name="Text Box 3"/>
          <p:cNvSpPr txBox="1">
            <a:spLocks noChangeArrowheads="1"/>
          </p:cNvSpPr>
          <p:nvPr/>
        </p:nvSpPr>
        <p:spPr bwMode="auto">
          <a:xfrm>
            <a:off x="395288" y="862013"/>
            <a:ext cx="84455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>
                <a:solidFill>
                  <a:srgbClr val="000066"/>
                </a:solidFill>
              </a:rPr>
              <a:t>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AND-OR </a:t>
            </a:r>
            <a:r>
              <a:rPr lang="pt-PT" u="none">
                <a:solidFill>
                  <a:srgbClr val="A50021"/>
                </a:solidFill>
              </a:rPr>
              <a:t>a 2 níveis</a:t>
            </a:r>
            <a:r>
              <a:rPr lang="pt-PT" u="none">
                <a:solidFill>
                  <a:srgbClr val="000066"/>
                </a:solidFill>
              </a:rPr>
              <a:t> pode ser convertido num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NOR-NOR</a:t>
            </a:r>
            <a:r>
              <a:rPr lang="pt-PT" u="none">
                <a:solidFill>
                  <a:srgbClr val="000066"/>
                </a:solidFill>
              </a:rPr>
              <a:t> </a:t>
            </a:r>
            <a:r>
              <a:rPr lang="pt-PT" u="none">
                <a:solidFill>
                  <a:srgbClr val="A50021"/>
                </a:solidFill>
              </a:rPr>
              <a:t>a 2 níveis</a:t>
            </a:r>
            <a:r>
              <a:rPr lang="pt-PT" u="none">
                <a:solidFill>
                  <a:srgbClr val="000066"/>
                </a:solidFill>
              </a:rPr>
              <a:t> invertendo duas vezes as entradas das portas do 1º nível e as saídas das portas do 2º nível.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148263" y="4149725"/>
            <a:ext cx="2776537" cy="1601788"/>
            <a:chOff x="3742" y="1469"/>
            <a:chExt cx="1749" cy="1009"/>
          </a:xfrm>
        </p:grpSpPr>
        <p:sp>
          <p:nvSpPr>
            <p:cNvPr id="16393" name="Text Box 5"/>
            <p:cNvSpPr txBox="1">
              <a:spLocks noChangeArrowheads="1"/>
            </p:cNvSpPr>
            <p:nvPr/>
          </p:nvSpPr>
          <p:spPr bwMode="auto">
            <a:xfrm>
              <a:off x="3833" y="1469"/>
              <a:ext cx="1646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pt-PT" u="none">
                  <a:solidFill>
                    <a:srgbClr val="000066"/>
                  </a:solidFill>
                </a:rPr>
                <a:t>De acordo com a lei de DeMorgan:</a:t>
              </a:r>
              <a:endParaRPr lang="en-US" u="none">
                <a:solidFill>
                  <a:srgbClr val="000066"/>
                </a:solidFill>
              </a:endParaRPr>
            </a:p>
          </p:txBody>
        </p:sp>
        <p:sp>
          <p:nvSpPr>
            <p:cNvPr id="123910" name="Text Box 6"/>
            <p:cNvSpPr txBox="1">
              <a:spLocks noChangeArrowheads="1"/>
            </p:cNvSpPr>
            <p:nvPr/>
          </p:nvSpPr>
          <p:spPr bwMode="auto">
            <a:xfrm>
              <a:off x="4500" y="2130"/>
              <a:ext cx="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PT" u="none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</a:t>
              </a:r>
              <a:endParaRPr lang="en-US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pic>
          <p:nvPicPr>
            <p:cNvPr id="16395" name="Picture 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740" y="1963"/>
              <a:ext cx="751" cy="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396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742" y="1970"/>
              <a:ext cx="705" cy="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23913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4213" y="4076700"/>
            <a:ext cx="3959225" cy="195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914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5025" y="1951038"/>
            <a:ext cx="3959225" cy="195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915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1188" y="2022475"/>
            <a:ext cx="3959225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0927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8351837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Conversão de formas (OR-AND -&gt; NAND-NAND)</a:t>
            </a:r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395288" y="862013"/>
            <a:ext cx="84455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>
                <a:solidFill>
                  <a:srgbClr val="000066"/>
                </a:solidFill>
              </a:rPr>
              <a:t>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OR-AND </a:t>
            </a:r>
            <a:r>
              <a:rPr lang="pt-PT" u="none">
                <a:solidFill>
                  <a:srgbClr val="A50021"/>
                </a:solidFill>
              </a:rPr>
              <a:t>a 2 níveis</a:t>
            </a:r>
            <a:r>
              <a:rPr lang="pt-PT" u="none">
                <a:solidFill>
                  <a:srgbClr val="000066"/>
                </a:solidFill>
              </a:rPr>
              <a:t> pode ser convertido num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NAND-NAND</a:t>
            </a:r>
            <a:r>
              <a:rPr lang="pt-PT" u="none">
                <a:solidFill>
                  <a:srgbClr val="000066"/>
                </a:solidFill>
              </a:rPr>
              <a:t> </a:t>
            </a:r>
            <a:r>
              <a:rPr lang="pt-PT" u="none">
                <a:solidFill>
                  <a:srgbClr val="A50021"/>
                </a:solidFill>
              </a:rPr>
              <a:t>a 2 níveis</a:t>
            </a:r>
            <a:r>
              <a:rPr lang="pt-PT" u="none">
                <a:solidFill>
                  <a:srgbClr val="000066"/>
                </a:solidFill>
              </a:rPr>
              <a:t> invertendo duas vezes as entradas das portas do 1º nível e as saídas das portas do 2º nível.</a:t>
            </a:r>
          </a:p>
        </p:txBody>
      </p:sp>
      <p:pic>
        <p:nvPicPr>
          <p:cNvPr id="12493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4213" y="2041525"/>
            <a:ext cx="3959225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493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7900" y="1989138"/>
            <a:ext cx="3959225" cy="193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493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4213" y="4014788"/>
            <a:ext cx="3959225" cy="193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076825" y="4149725"/>
            <a:ext cx="2736850" cy="1619250"/>
            <a:chOff x="3787" y="1348"/>
            <a:chExt cx="1724" cy="1020"/>
          </a:xfrm>
        </p:grpSpPr>
        <p:sp>
          <p:nvSpPr>
            <p:cNvPr id="17417" name="Text Box 8"/>
            <p:cNvSpPr txBox="1">
              <a:spLocks noChangeArrowheads="1"/>
            </p:cNvSpPr>
            <p:nvPr/>
          </p:nvSpPr>
          <p:spPr bwMode="auto">
            <a:xfrm>
              <a:off x="3833" y="1348"/>
              <a:ext cx="1646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pt-PT" u="none">
                  <a:solidFill>
                    <a:srgbClr val="000066"/>
                  </a:solidFill>
                </a:rPr>
                <a:t>De acordo com a lei de DeMorgan:</a:t>
              </a:r>
              <a:endParaRPr lang="en-US" u="none">
                <a:solidFill>
                  <a:srgbClr val="000066"/>
                </a:solidFill>
              </a:endParaRPr>
            </a:p>
          </p:txBody>
        </p:sp>
        <p:pic>
          <p:nvPicPr>
            <p:cNvPr id="17418" name="Picture 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787" y="1860"/>
              <a:ext cx="705" cy="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19" name="Picture 10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760" y="1797"/>
              <a:ext cx="751" cy="5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4939" name="Text Box 11"/>
            <p:cNvSpPr txBox="1">
              <a:spLocks noChangeArrowheads="1"/>
            </p:cNvSpPr>
            <p:nvPr/>
          </p:nvSpPr>
          <p:spPr bwMode="auto">
            <a:xfrm>
              <a:off x="4500" y="2009"/>
              <a:ext cx="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PT" u="none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</a:t>
              </a:r>
              <a:endParaRPr lang="en-US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73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777557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Conversão de circuitos multi-nível</a:t>
            </a:r>
          </a:p>
        </p:txBody>
      </p:sp>
      <p:sp>
        <p:nvSpPr>
          <p:cNvPr id="125955" name="Text Box 3"/>
          <p:cNvSpPr txBox="1">
            <a:spLocks noChangeArrowheads="1"/>
          </p:cNvSpPr>
          <p:nvPr/>
        </p:nvSpPr>
        <p:spPr bwMode="auto">
          <a:xfrm>
            <a:off x="395288" y="1017588"/>
            <a:ext cx="84455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>
                <a:solidFill>
                  <a:srgbClr val="000066"/>
                </a:solidFill>
              </a:rPr>
              <a:t>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AND-OR </a:t>
            </a:r>
            <a:r>
              <a:rPr lang="pt-PT" u="none">
                <a:solidFill>
                  <a:srgbClr val="A50021"/>
                </a:solidFill>
              </a:rPr>
              <a:t>multi-nível</a:t>
            </a:r>
            <a:r>
              <a:rPr lang="pt-PT" u="none">
                <a:solidFill>
                  <a:srgbClr val="000066"/>
                </a:solidFill>
              </a:rPr>
              <a:t> pode ser convertido num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NAND-NAND</a:t>
            </a:r>
            <a:r>
              <a:rPr lang="pt-PT" u="none">
                <a:solidFill>
                  <a:srgbClr val="000066"/>
                </a:solidFill>
              </a:rPr>
              <a:t> </a:t>
            </a:r>
            <a:r>
              <a:rPr lang="pt-PT" u="none">
                <a:solidFill>
                  <a:srgbClr val="A50021"/>
                </a:solidFill>
              </a:rPr>
              <a:t>multi-nível</a:t>
            </a:r>
            <a:r>
              <a:rPr lang="pt-PT" u="none">
                <a:solidFill>
                  <a:srgbClr val="000066"/>
                </a:solidFill>
              </a:rPr>
              <a:t> invertendo as saídas das portas dos níveis ímpares e as entradas das portas dos níveis pares.</a:t>
            </a:r>
          </a:p>
        </p:txBody>
      </p:sp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395288" y="2227263"/>
            <a:ext cx="84455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>
                <a:solidFill>
                  <a:srgbClr val="000066"/>
                </a:solidFill>
              </a:rPr>
              <a:t>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OR-AND </a:t>
            </a:r>
            <a:r>
              <a:rPr lang="pt-PT" u="none">
                <a:solidFill>
                  <a:srgbClr val="A50021"/>
                </a:solidFill>
              </a:rPr>
              <a:t>multi-nível</a:t>
            </a:r>
            <a:r>
              <a:rPr lang="pt-PT" u="none"/>
              <a:t> </a:t>
            </a:r>
            <a:r>
              <a:rPr lang="pt-PT" u="none">
                <a:solidFill>
                  <a:srgbClr val="000066"/>
                </a:solidFill>
              </a:rPr>
              <a:t>pode ser convertido num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NOR-NOR</a:t>
            </a:r>
            <a:r>
              <a:rPr lang="pt-PT" u="none">
                <a:solidFill>
                  <a:srgbClr val="000066"/>
                </a:solidFill>
              </a:rPr>
              <a:t> </a:t>
            </a:r>
            <a:r>
              <a:rPr lang="pt-PT" u="none">
                <a:solidFill>
                  <a:srgbClr val="A50021"/>
                </a:solidFill>
              </a:rPr>
              <a:t>multi-nível</a:t>
            </a:r>
            <a:r>
              <a:rPr lang="pt-PT" u="none"/>
              <a:t> </a:t>
            </a:r>
            <a:r>
              <a:rPr lang="pt-PT" u="none">
                <a:solidFill>
                  <a:srgbClr val="000066"/>
                </a:solidFill>
              </a:rPr>
              <a:t>invertendo as saídas das portas dos níveis ímpares e as entradas das portas dos níveis pares.</a:t>
            </a:r>
          </a:p>
        </p:txBody>
      </p:sp>
      <p:sp>
        <p:nvSpPr>
          <p:cNvPr id="125957" name="Text Box 5"/>
          <p:cNvSpPr txBox="1">
            <a:spLocks noChangeArrowheads="1"/>
          </p:cNvSpPr>
          <p:nvPr/>
        </p:nvSpPr>
        <p:spPr bwMode="auto">
          <a:xfrm>
            <a:off x="395288" y="3451225"/>
            <a:ext cx="84455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>
                <a:solidFill>
                  <a:srgbClr val="000066"/>
                </a:solidFill>
              </a:rPr>
              <a:t>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AND-OR </a:t>
            </a:r>
            <a:r>
              <a:rPr lang="pt-PT" u="none">
                <a:solidFill>
                  <a:srgbClr val="A50021"/>
                </a:solidFill>
              </a:rPr>
              <a:t>multi-nível</a:t>
            </a:r>
            <a:r>
              <a:rPr lang="pt-PT" u="none"/>
              <a:t> </a:t>
            </a:r>
            <a:r>
              <a:rPr lang="pt-PT" u="none">
                <a:solidFill>
                  <a:srgbClr val="000066"/>
                </a:solidFill>
              </a:rPr>
              <a:t>pode ser convertido num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NOR-NOR</a:t>
            </a:r>
            <a:r>
              <a:rPr lang="pt-PT" u="none">
                <a:solidFill>
                  <a:srgbClr val="000066"/>
                </a:solidFill>
              </a:rPr>
              <a:t> </a:t>
            </a:r>
            <a:r>
              <a:rPr lang="pt-PT" u="none">
                <a:solidFill>
                  <a:srgbClr val="A50021"/>
                </a:solidFill>
              </a:rPr>
              <a:t>multi-nível</a:t>
            </a:r>
            <a:r>
              <a:rPr lang="pt-PT" u="none"/>
              <a:t> </a:t>
            </a:r>
            <a:r>
              <a:rPr lang="pt-PT" u="none">
                <a:solidFill>
                  <a:srgbClr val="000066"/>
                </a:solidFill>
              </a:rPr>
              <a:t>invertendo duas vezes as entradas das portas dos níveis ímpares e as saídas das portas dos níveis pares.</a:t>
            </a:r>
          </a:p>
        </p:txBody>
      </p:sp>
      <p:sp>
        <p:nvSpPr>
          <p:cNvPr id="125958" name="Text Box 6"/>
          <p:cNvSpPr txBox="1">
            <a:spLocks noChangeArrowheads="1"/>
          </p:cNvSpPr>
          <p:nvPr/>
        </p:nvSpPr>
        <p:spPr bwMode="auto">
          <a:xfrm>
            <a:off x="395288" y="4664075"/>
            <a:ext cx="84455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PT" u="none">
                <a:solidFill>
                  <a:srgbClr val="000066"/>
                </a:solidFill>
              </a:rPr>
              <a:t>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OR-AND </a:t>
            </a:r>
            <a:r>
              <a:rPr lang="pt-PT" u="none">
                <a:solidFill>
                  <a:srgbClr val="A50021"/>
                </a:solidFill>
              </a:rPr>
              <a:t>multi-nível</a:t>
            </a:r>
            <a:r>
              <a:rPr lang="pt-PT" u="none"/>
              <a:t> </a:t>
            </a:r>
            <a:r>
              <a:rPr lang="pt-PT" u="none">
                <a:solidFill>
                  <a:srgbClr val="000066"/>
                </a:solidFill>
              </a:rPr>
              <a:t>pode ser convertido num circuito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NAND-NAND</a:t>
            </a:r>
            <a:r>
              <a:rPr lang="pt-PT" u="none">
                <a:solidFill>
                  <a:srgbClr val="000066"/>
                </a:solidFill>
              </a:rPr>
              <a:t> </a:t>
            </a:r>
            <a:r>
              <a:rPr lang="pt-PT" u="none">
                <a:solidFill>
                  <a:srgbClr val="A50021"/>
                </a:solidFill>
              </a:rPr>
              <a:t>multi-nível</a:t>
            </a:r>
            <a:r>
              <a:rPr lang="pt-PT" u="none">
                <a:solidFill>
                  <a:srgbClr val="000066"/>
                </a:solidFill>
              </a:rPr>
              <a:t> invertendo duas vezes as entradas das portas dos níveis ímpares e as saídas das portas dos níveis pares.</a:t>
            </a:r>
          </a:p>
        </p:txBody>
      </p:sp>
    </p:spTree>
    <p:extLst>
      <p:ext uri="{BB962C8B-B14F-4D97-AF65-F5344CB8AC3E}">
        <p14:creationId xmlns:p14="http://schemas.microsoft.com/office/powerpoint/2010/main" val="87209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/>
      <p:bldP spid="125956" grpId="0"/>
      <p:bldP spid="125957" grpId="0"/>
      <p:bldP spid="12595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8424862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Conversão de circuitos multi-nível (cont.)</a:t>
            </a:r>
          </a:p>
        </p:txBody>
      </p:sp>
      <p:pic>
        <p:nvPicPr>
          <p:cNvPr id="12697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2255838"/>
            <a:ext cx="3576637" cy="160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6980" name="Text Box 4"/>
          <p:cNvSpPr txBox="1">
            <a:spLocks noChangeArrowheads="1"/>
          </p:cNvSpPr>
          <p:nvPr/>
        </p:nvSpPr>
        <p:spPr bwMode="auto">
          <a:xfrm>
            <a:off x="611188" y="1016000"/>
            <a:ext cx="1138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26981" name="Text Box 5"/>
          <p:cNvSpPr txBox="1">
            <a:spLocks noChangeArrowheads="1"/>
          </p:cNvSpPr>
          <p:nvPr/>
        </p:nvSpPr>
        <p:spPr bwMode="auto">
          <a:xfrm>
            <a:off x="684213" y="1406525"/>
            <a:ext cx="75279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Converta o circuito seguinte em circuitos NAND-NAND e NOR-NOR.</a:t>
            </a:r>
            <a:endParaRPr lang="en-US" u="none">
              <a:latin typeface="Comic Sans MS" pitchFamily="66" charset="0"/>
            </a:endParaRPr>
          </a:p>
        </p:txBody>
      </p:sp>
      <p:pic>
        <p:nvPicPr>
          <p:cNvPr id="12698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35525" y="2255838"/>
            <a:ext cx="3624263" cy="160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983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79600" y="4297363"/>
            <a:ext cx="5383213" cy="179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128713" y="1828800"/>
            <a:ext cx="3141662" cy="2174875"/>
            <a:chOff x="711" y="1152"/>
            <a:chExt cx="1979" cy="1370"/>
          </a:xfrm>
        </p:grpSpPr>
        <p:sp>
          <p:nvSpPr>
            <p:cNvPr id="19466" name="Line 9"/>
            <p:cNvSpPr>
              <a:spLocks noChangeShapeType="1"/>
            </p:cNvSpPr>
            <p:nvPr/>
          </p:nvSpPr>
          <p:spPr bwMode="auto">
            <a:xfrm>
              <a:off x="1125" y="1297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Line 10"/>
            <p:cNvSpPr>
              <a:spLocks noChangeShapeType="1"/>
            </p:cNvSpPr>
            <p:nvPr/>
          </p:nvSpPr>
          <p:spPr bwMode="auto">
            <a:xfrm>
              <a:off x="1669" y="1297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8" name="Line 11"/>
            <p:cNvSpPr>
              <a:spLocks noChangeShapeType="1"/>
            </p:cNvSpPr>
            <p:nvPr/>
          </p:nvSpPr>
          <p:spPr bwMode="auto">
            <a:xfrm>
              <a:off x="2245" y="1297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9" name="Text Box 12"/>
            <p:cNvSpPr txBox="1">
              <a:spLocks noChangeArrowheads="1"/>
            </p:cNvSpPr>
            <p:nvPr/>
          </p:nvSpPr>
          <p:spPr bwMode="auto">
            <a:xfrm>
              <a:off x="711" y="1162"/>
              <a:ext cx="44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sz="1400" u="none">
                  <a:solidFill>
                    <a:srgbClr val="5F5F5F"/>
                  </a:solidFill>
                </a:rPr>
                <a:t>nível 1</a:t>
              </a:r>
              <a:endParaRPr lang="en-US" sz="1400" u="none">
                <a:solidFill>
                  <a:srgbClr val="5F5F5F"/>
                </a:solidFill>
              </a:endParaRPr>
            </a:p>
          </p:txBody>
        </p:sp>
        <p:sp>
          <p:nvSpPr>
            <p:cNvPr id="19470" name="Text Box 13"/>
            <p:cNvSpPr txBox="1">
              <a:spLocks noChangeArrowheads="1"/>
            </p:cNvSpPr>
            <p:nvPr/>
          </p:nvSpPr>
          <p:spPr bwMode="auto">
            <a:xfrm>
              <a:off x="1202" y="1152"/>
              <a:ext cx="44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sz="1400" u="none">
                  <a:solidFill>
                    <a:srgbClr val="5F5F5F"/>
                  </a:solidFill>
                </a:rPr>
                <a:t>nível 2</a:t>
              </a:r>
              <a:endParaRPr lang="en-US" sz="1400" u="none">
                <a:solidFill>
                  <a:srgbClr val="5F5F5F"/>
                </a:solidFill>
              </a:endParaRPr>
            </a:p>
          </p:txBody>
        </p:sp>
        <p:sp>
          <p:nvSpPr>
            <p:cNvPr id="19471" name="Text Box 14"/>
            <p:cNvSpPr txBox="1">
              <a:spLocks noChangeArrowheads="1"/>
            </p:cNvSpPr>
            <p:nvPr/>
          </p:nvSpPr>
          <p:spPr bwMode="auto">
            <a:xfrm>
              <a:off x="1755" y="1152"/>
              <a:ext cx="44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sz="1400" u="none">
                  <a:solidFill>
                    <a:srgbClr val="5F5F5F"/>
                  </a:solidFill>
                </a:rPr>
                <a:t>nível 3</a:t>
              </a:r>
              <a:endParaRPr lang="en-US" sz="1400" u="none">
                <a:solidFill>
                  <a:srgbClr val="5F5F5F"/>
                </a:solidFill>
              </a:endParaRPr>
            </a:p>
          </p:txBody>
        </p:sp>
        <p:sp>
          <p:nvSpPr>
            <p:cNvPr id="19472" name="Text Box 15"/>
            <p:cNvSpPr txBox="1">
              <a:spLocks noChangeArrowheads="1"/>
            </p:cNvSpPr>
            <p:nvPr/>
          </p:nvSpPr>
          <p:spPr bwMode="auto">
            <a:xfrm>
              <a:off x="2245" y="1152"/>
              <a:ext cx="44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sz="1400" u="none">
                  <a:solidFill>
                    <a:srgbClr val="5F5F5F"/>
                  </a:solidFill>
                </a:rPr>
                <a:t>nível 4</a:t>
              </a:r>
              <a:endParaRPr lang="en-US" sz="1400" u="none">
                <a:solidFill>
                  <a:srgbClr val="5F5F5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114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6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2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0" grpId="0"/>
      <p:bldP spid="12698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2519362" cy="3825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Exercícios</a:t>
            </a:r>
          </a:p>
        </p:txBody>
      </p:sp>
      <p:pic>
        <p:nvPicPr>
          <p:cNvPr id="31794" name="Picture 5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39752" y="1988840"/>
            <a:ext cx="4176464" cy="2204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95" name="Text Box 51"/>
          <p:cNvSpPr txBox="1">
            <a:spLocks noChangeArrowheads="1"/>
          </p:cNvSpPr>
          <p:nvPr/>
        </p:nvSpPr>
        <p:spPr bwMode="auto">
          <a:xfrm>
            <a:off x="612775" y="1124744"/>
            <a:ext cx="638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Represente o circuito nas formas NOR-NOR e NAND-NAND.</a:t>
            </a:r>
            <a:endParaRPr lang="en-US" u="none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75398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3280</Words>
  <Application>Microsoft Office PowerPoint</Application>
  <PresentationFormat>Apresentação no Ecrã (4:3)</PresentationFormat>
  <Paragraphs>561</Paragraphs>
  <Slides>61</Slides>
  <Notes>60</Notes>
  <HiddenSlides>0</HiddenSlides>
  <MMClips>0</MMClips>
  <ScaleCrop>false</ScaleCrop>
  <HeadingPairs>
    <vt:vector size="8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incorporados</vt:lpstr>
      </vt:variant>
      <vt:variant>
        <vt:i4>4</vt:i4>
      </vt:variant>
      <vt:variant>
        <vt:lpstr>Títulos dos diapositivos</vt:lpstr>
      </vt:variant>
      <vt:variant>
        <vt:i4>61</vt:i4>
      </vt:variant>
    </vt:vector>
  </HeadingPairs>
  <TitlesOfParts>
    <vt:vector size="73" baseType="lpstr">
      <vt:lpstr>Arial</vt:lpstr>
      <vt:lpstr>Arial Black</vt:lpstr>
      <vt:lpstr>Comic Sans MS</vt:lpstr>
      <vt:lpstr>Courier New</vt:lpstr>
      <vt:lpstr>Symbol</vt:lpstr>
      <vt:lpstr>Times</vt:lpstr>
      <vt:lpstr>Times New Roman</vt:lpstr>
      <vt:lpstr>Default Design</vt:lpstr>
      <vt:lpstr>Equation</vt:lpstr>
      <vt:lpstr>Document</vt:lpstr>
      <vt:lpstr>Equação</vt:lpstr>
      <vt:lpstr>Presentation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DETUA-IEETA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Iouliia Skliarova</dc:creator>
  <cp:lastModifiedBy>leandro rito</cp:lastModifiedBy>
  <cp:revision>477</cp:revision>
  <dcterms:created xsi:type="dcterms:W3CDTF">2007-01-21T12:26:55Z</dcterms:created>
  <dcterms:modified xsi:type="dcterms:W3CDTF">2018-11-09T00:05:33Z</dcterms:modified>
</cp:coreProperties>
</file>